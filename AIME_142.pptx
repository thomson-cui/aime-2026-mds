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1"/>
  </p:notesMasterIdLst>
  <p:sldIdLst>
    <p:sldId id="256" r:id="rId3"/>
    <p:sldId id="27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/>
    <p:restoredTop sz="94751"/>
  </p:normalViewPr>
  <p:slideViewPr>
    <p:cSldViewPr snapToGrid="0">
      <p:cViewPr varScale="1">
        <p:scale>
          <a:sx n="119" d="100"/>
          <a:sy n="119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OS</c:v>
          </c:tx>
          <c:spPr>
            <a:ln w="28575">
              <a:solidFill>
                <a:srgbClr val="0B4D63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4"/>
              <c:pt idx="0">
                <c:v>Clin</c:v>
              </c:pt>
              <c:pt idx="1">
                <c:v>Clin+Cyt</c:v>
              </c:pt>
              <c:pt idx="2">
                <c:v>Clin+MG</c:v>
              </c:pt>
              <c:pt idx="3">
                <c:v>All</c:v>
              </c:pt>
            </c:strLit>
          </c:cat>
          <c:val>
            <c:numLit>
              <c:formatCode>0.000</c:formatCode>
              <c:ptCount val="4"/>
              <c:pt idx="0">
                <c:v>0.71499999999999997</c:v>
              </c:pt>
              <c:pt idx="1">
                <c:v>0.75900000000000001</c:v>
              </c:pt>
              <c:pt idx="2">
                <c:v>0.73699999999999999</c:v>
              </c:pt>
              <c:pt idx="3">
                <c:v>0.77700000000000002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470B-8141-81F6-4C292AD1ABB7}"/>
            </c:ext>
          </c:extLst>
        </c:ser>
        <c:ser>
          <c:idx val="1"/>
          <c:order val="1"/>
          <c:tx>
            <c:v>LFS</c:v>
          </c:tx>
          <c:spPr>
            <a:ln w="28575">
              <a:solidFill>
                <a:srgbClr val="B45F2A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4"/>
              <c:pt idx="0">
                <c:v>Clin</c:v>
              </c:pt>
              <c:pt idx="1">
                <c:v>Clin+Cyt</c:v>
              </c:pt>
              <c:pt idx="2">
                <c:v>Clin+MG</c:v>
              </c:pt>
              <c:pt idx="3">
                <c:v>All</c:v>
              </c:pt>
            </c:strLit>
          </c:cat>
          <c:val>
            <c:numLit>
              <c:formatCode>0.000</c:formatCode>
              <c:ptCount val="4"/>
              <c:pt idx="0">
                <c:v>0.70599999999999996</c:v>
              </c:pt>
              <c:pt idx="1">
                <c:v>0.73399999999999999</c:v>
              </c:pt>
              <c:pt idx="2">
                <c:v>0.79300000000000004</c:v>
              </c:pt>
              <c:pt idx="3">
                <c:v>0.75800000000000001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470B-8141-81F6-4C292AD1ABB7}"/>
            </c:ext>
          </c:extLst>
        </c:ser>
        <c:ser>
          <c:idx val="2"/>
          <c:order val="2"/>
          <c:tx>
            <c:v>AMLt</c:v>
          </c:tx>
          <c:spPr>
            <a:ln w="28575">
              <a:solidFill>
                <a:srgbClr val="276F90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4"/>
              <c:pt idx="0">
                <c:v>Clin</c:v>
              </c:pt>
              <c:pt idx="1">
                <c:v>Clin+Cyt</c:v>
              </c:pt>
              <c:pt idx="2">
                <c:v>Clin+MG</c:v>
              </c:pt>
              <c:pt idx="3">
                <c:v>All</c:v>
              </c:pt>
            </c:strLit>
          </c:cat>
          <c:val>
            <c:numLit>
              <c:formatCode>0.000</c:formatCode>
              <c:ptCount val="4"/>
              <c:pt idx="0">
                <c:v>0.79200000000000004</c:v>
              </c:pt>
              <c:pt idx="1">
                <c:v>0.86199999999999999</c:v>
              </c:pt>
              <c:pt idx="2">
                <c:v>0.874</c:v>
              </c:pt>
              <c:pt idx="3">
                <c:v>0.875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470B-8141-81F6-4C292AD1AB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BDCE3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314B59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9"/>
          <c:min val="0.5"/>
        </c:scaling>
        <c:delete val="0"/>
        <c:axPos val="l"/>
        <c:majorGridlines>
          <c:spPr>
            <a:ln w="9525">
              <a:solidFill>
                <a:srgbClr val="E2EBEF"/>
              </a:solidFill>
              <a:prstDash val="solid"/>
            </a:ln>
          </c:spPr>
        </c:majorGridlines>
        <c:numFmt formatCode="0.000" sourceLinked="1"/>
        <c:majorTickMark val="none"/>
        <c:minorTickMark val="none"/>
        <c:tickLblPos val="nextTo"/>
        <c:spPr>
          <a:ln w="9525">
            <a:solidFill>
              <a:srgbClr val="CBDCE3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314B59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314B59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BFCFD"/>
    </a:solidFill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Best linear</c:v>
          </c:tx>
          <c:spPr>
            <a:solidFill>
              <a:srgbClr val="8DA4AF"/>
            </a:solidFill>
          </c:spPr>
          <c:invertIfNegative val="1"/>
          <c:dLbls>
            <c:delete val="1"/>
          </c:dLbls>
          <c:cat>
            <c:strLit>
              <c:ptCount val="3"/>
              <c:pt idx="0">
                <c:v>OS</c:v>
              </c:pt>
              <c:pt idx="1">
                <c:v>LFS</c:v>
              </c:pt>
              <c:pt idx="2">
                <c:v>AMLt</c:v>
              </c:pt>
            </c:strLit>
          </c:cat>
          <c:val>
            <c:numLit>
              <c:formatCode>0.000</c:formatCode>
              <c:ptCount val="3"/>
              <c:pt idx="0">
                <c:v>0.72299999999999998</c:v>
              </c:pt>
              <c:pt idx="1">
                <c:v>0.72699999999999998</c:v>
              </c:pt>
              <c:pt idx="2">
                <c:v>0.82399999999999995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DD0-5147-A45B-FC5FCAE52BA5}"/>
            </c:ext>
          </c:extLst>
        </c:ser>
        <c:ser>
          <c:idx val="1"/>
          <c:order val="1"/>
          <c:tx>
            <c:v>Best deep</c:v>
          </c:tx>
          <c:spPr>
            <a:solidFill>
              <a:srgbClr val="0B4D63"/>
            </a:solidFill>
          </c:spPr>
          <c:invertIfNegative val="1"/>
          <c:dLbls>
            <c:delete val="1"/>
          </c:dLbls>
          <c:cat>
            <c:strLit>
              <c:ptCount val="3"/>
              <c:pt idx="0">
                <c:v>OS</c:v>
              </c:pt>
              <c:pt idx="1">
                <c:v>LFS</c:v>
              </c:pt>
              <c:pt idx="2">
                <c:v>AMLt</c:v>
              </c:pt>
            </c:strLit>
          </c:cat>
          <c:val>
            <c:numLit>
              <c:formatCode>0.000</c:formatCode>
              <c:ptCount val="3"/>
              <c:pt idx="0">
                <c:v>0.77700000000000002</c:v>
              </c:pt>
              <c:pt idx="1">
                <c:v>0.79300000000000004</c:v>
              </c:pt>
              <c:pt idx="2">
                <c:v>0.875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DD0-5147-A45B-FC5FCAE52BA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BDCE3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314B59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9"/>
          <c:min val="0.5"/>
        </c:scaling>
        <c:delete val="0"/>
        <c:axPos val="l"/>
        <c:majorGridlines>
          <c:spPr>
            <a:ln w="9525">
              <a:solidFill>
                <a:srgbClr val="E2EBEF"/>
              </a:solidFill>
              <a:prstDash val="solid"/>
            </a:ln>
          </c:spPr>
        </c:majorGridlines>
        <c:numFmt formatCode="0.000" sourceLinked="1"/>
        <c:majorTickMark val="none"/>
        <c:minorTickMark val="none"/>
        <c:tickLblPos val="nextTo"/>
        <c:spPr>
          <a:ln w="9525">
            <a:solidFill>
              <a:srgbClr val="CBDCE3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314B59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314B59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BFCFD"/>
    </a:solidFill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IPSS-M</c:v>
          </c:tx>
          <c:spPr>
            <a:solidFill>
              <a:srgbClr val="8DA4AF"/>
            </a:solidFill>
          </c:spPr>
          <c:invertIfNegative val="1"/>
          <c:dLbls>
            <c:delete val="1"/>
          </c:dLbls>
          <c:cat>
            <c:strLit>
              <c:ptCount val="3"/>
              <c:pt idx="0">
                <c:v>OS</c:v>
              </c:pt>
              <c:pt idx="1">
                <c:v>LFS</c:v>
              </c:pt>
              <c:pt idx="2">
                <c:v>AMLt</c:v>
              </c:pt>
            </c:strLit>
          </c:cat>
          <c:val>
            <c:numLit>
              <c:formatCode>0.000</c:formatCode>
              <c:ptCount val="3"/>
              <c:pt idx="0">
                <c:v>0.73199999999999998</c:v>
              </c:pt>
              <c:pt idx="1">
                <c:v>0.746</c:v>
              </c:pt>
              <c:pt idx="2">
                <c:v>0.83699999999999997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CAB-184C-9CF5-702551A11A6B}"/>
            </c:ext>
          </c:extLst>
        </c:ser>
        <c:ser>
          <c:idx val="1"/>
          <c:order val="1"/>
          <c:tx>
            <c:v>Best ML</c:v>
          </c:tx>
          <c:spPr>
            <a:solidFill>
              <a:srgbClr val="0B4D63"/>
            </a:solidFill>
          </c:spPr>
          <c:invertIfNegative val="1"/>
          <c:dLbls>
            <c:delete val="1"/>
          </c:dLbls>
          <c:cat>
            <c:strLit>
              <c:ptCount val="3"/>
              <c:pt idx="0">
                <c:v>OS</c:v>
              </c:pt>
              <c:pt idx="1">
                <c:v>LFS</c:v>
              </c:pt>
              <c:pt idx="2">
                <c:v>AMLt</c:v>
              </c:pt>
            </c:strLit>
          </c:cat>
          <c:val>
            <c:numLit>
              <c:formatCode>0.000</c:formatCode>
              <c:ptCount val="3"/>
              <c:pt idx="0">
                <c:v>0.77700000000000002</c:v>
              </c:pt>
              <c:pt idx="1">
                <c:v>0.79300000000000004</c:v>
              </c:pt>
              <c:pt idx="2">
                <c:v>0.875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CAB-184C-9CF5-702551A11A6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BDCE3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314B59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9"/>
          <c:min val="0.5"/>
        </c:scaling>
        <c:delete val="0"/>
        <c:axPos val="l"/>
        <c:majorGridlines>
          <c:spPr>
            <a:ln w="9525">
              <a:solidFill>
                <a:srgbClr val="E2EBEF"/>
              </a:solidFill>
              <a:prstDash val="solid"/>
            </a:ln>
          </c:spPr>
        </c:majorGridlines>
        <c:numFmt formatCode="0.000" sourceLinked="1"/>
        <c:majorTickMark val="none"/>
        <c:minorTickMark val="none"/>
        <c:tickLblPos val="nextTo"/>
        <c:spPr>
          <a:ln w="9525">
            <a:solidFill>
              <a:srgbClr val="CBDCE3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314B59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 sz="900">
              <a:solidFill>
                <a:srgbClr val="314B59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BFCFD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Ziming</a:t>
            </a:r>
            <a:r>
              <a:rPr dirty="0"/>
              <a:t> Cui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EF09D-1ACA-5C4E-DDBC-41E3E85F0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9EC38-875E-84E7-CEAC-535657267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147EB-37D9-346B-82EB-5AD8FBC58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10D57-6FC4-21C9-94BD-60A5515A1C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269AC-4CE2-4026-8F24-09827B17A1F8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2447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I want to start with the clinical context for MDS.</a:t>
            </a:r>
          </a:p>
          <a:p>
            <a:r>
              <a:rPr dirty="0"/>
              <a:t>MDS is a group of rare bone marrow disorders where hematopoiesis is ineffective, meaning the marrow does not produce enough healthy mature blood cells.</a:t>
            </a:r>
          </a:p>
          <a:p>
            <a:r>
              <a:rPr dirty="0"/>
              <a:t>That creates </a:t>
            </a:r>
            <a:r>
              <a:rPr dirty="0" err="1"/>
              <a:t>cytopenias</a:t>
            </a:r>
            <a:r>
              <a:rPr dirty="0"/>
              <a:t>, which map directly to symptoms: anemia and fatigue, infections, and bleeding or bruising.</a:t>
            </a:r>
          </a:p>
          <a:p>
            <a:r>
              <a:rPr dirty="0"/>
              <a:t>A key reason MDS is clinically serious is that about one third of patients eventually progress to AML.</a:t>
            </a:r>
          </a:p>
          <a:p>
            <a:r>
              <a:rPr dirty="0"/>
              <a:t>So even before modeling, the clinical problem is heterogeneous: patients can have very different survival and progression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motivation is that MDS is clinically heterogeneous.</a:t>
            </a:r>
          </a:p>
          <a:p>
            <a:r>
              <a:rPr dirty="0"/>
              <a:t>Two patients can share the same diagnosis but have very different trajectories.</a:t>
            </a:r>
          </a:p>
          <a:p>
            <a:r>
              <a:rPr dirty="0"/>
              <a:t>For a more indolent course, the priority may be monitoring, supportive care, and avoiding unnecessary treatment burden.</a:t>
            </a:r>
          </a:p>
          <a:p>
            <a:r>
              <a:rPr dirty="0"/>
              <a:t>For a more aggressive course, clinicians may need to discuss disease-modifying therapy or transplant earlier.</a:t>
            </a:r>
          </a:p>
          <a:p>
            <a:r>
              <a:rPr dirty="0"/>
              <a:t>This is why patient-specific survival prediction is useful: it can support more individualized clinical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related work establishes strong baselines.</a:t>
            </a:r>
          </a:p>
          <a:p>
            <a:r>
              <a:t>IPSS and IPSS-R have been widely used for MDS risk stratification.</a:t>
            </a:r>
          </a:p>
          <a:p>
            <a:r>
              <a:t>IPSS-M is more recent and incorporates molecular features, which makes it a very important benchmark for this paper.</a:t>
            </a:r>
          </a:p>
          <a:p>
            <a:r>
              <a:t>Machine learning work in MDS is more limited. A prior random survival forest study achieved accuracy comparable to IPSS-M using routine clinical variables.</a:t>
            </a:r>
          </a:p>
          <a:p>
            <a:r>
              <a:t>Our study asks whether a broader set of survival models and feature sources can improve prediction across MDS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gives the whole study design.</a:t>
            </a:r>
          </a:p>
          <a:p>
            <a:r>
              <a:t>The input is the Bernard et al. MDS cohort, which is cleaned and transformed into several feature sets.</a:t>
            </a:r>
          </a:p>
          <a:p>
            <a:r>
              <a:t>The feature sets separate clinical, cytogenetic, and molecular genetic information.</a:t>
            </a:r>
          </a:p>
          <a:p>
            <a:r>
              <a:t>The modeling stage compares both linear and deep learning-based survival models.</a:t>
            </a:r>
          </a:p>
          <a:p>
            <a:r>
              <a:t>Finally, the models are evaluated across three endpoints using C-index and benchmarked against IPSS-M.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study is organized around three research questions.</a:t>
            </a:r>
          </a:p>
          <a:p>
            <a:r>
              <a:t>The first is about features: which sources of information are most useful, and does that depend on the endpoint?</a:t>
            </a:r>
          </a:p>
          <a:p>
            <a:r>
              <a:t>The second is about models: do deep survival models outperform linear survival models?</a:t>
            </a:r>
          </a:p>
          <a:p>
            <a:r>
              <a:t>The third is about the clinical benchmark: can these models outperform IPSS-M?</a:t>
            </a:r>
          </a:p>
          <a:p>
            <a:r>
              <a:t>This roadmap helps the audience understand why the next slides cover data, feature sets, models, and then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dataset comes from Bernard and colleagues and initially contains 3,323 patients.</a:t>
            </a:r>
          </a:p>
          <a:p>
            <a:r>
              <a:t>Patients with missing endpoints or missing cytogenetic values are removed, leaving 2,496 patients for analysis.</a:t>
            </a:r>
          </a:p>
          <a:p>
            <a:r>
              <a:t>The preprocessing steps are standard: categorical variables are one-hot encoded, missing feature values are mean-imputed, and non-binary features are standardized.</a:t>
            </a:r>
          </a:p>
          <a:p>
            <a:r>
              <a:t>This is important because the study compares many models and feature sets, so the input pipeline needs to be consistent across experiments.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study predicts three endpoints.</a:t>
            </a:r>
          </a:p>
          <a:p>
            <a:r>
              <a:t>Overall survival measures time to death after MDS diagnosis.</a:t>
            </a:r>
          </a:p>
          <a:p>
            <a:r>
              <a:t>Leukemia-free survival measures time alive and free of leukemia.</a:t>
            </a:r>
          </a:p>
          <a:p>
            <a:r>
              <a:t>AML transformation measures time from MDS diagnosis to transformation into acute myeloid leukemia.</a:t>
            </a:r>
          </a:p>
          <a:p>
            <a:r>
              <a:t>The reason to model them separately is that these endpoints represent different clinical risks, and model performance can vary across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feature sets are one of the most important parts of the study design.</a:t>
            </a:r>
          </a:p>
          <a:p>
            <a:r>
              <a:t>The clinical feature set gives a baseline using routine clinical information.</a:t>
            </a:r>
          </a:p>
          <a:p>
            <a:r>
              <a:t>Clin+Cyt adds cytogenetic information using IPSS-R cytogenetic risk categories.</a:t>
            </a:r>
          </a:p>
          <a:p>
            <a:r>
              <a:t>Clin+MG adds molecular genetic mutation information.</a:t>
            </a:r>
          </a:p>
          <a:p>
            <a:r>
              <a:t>The All feature set combines all available sources, allowing us to test whether the richest representation is best across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paper compares five survival prediction models.</a:t>
            </a:r>
          </a:p>
          <a:p>
            <a:r>
              <a:t>Coxnet and L-MTLR are the linear models.</a:t>
            </a:r>
          </a:p>
          <a:p>
            <a:r>
              <a:t>DeepSurv, N-MTLR, and PC Hazard are neural network-based survival models.</a:t>
            </a:r>
          </a:p>
          <a:p>
            <a:r>
              <a:t>These models differ not only in linear versus nonlinear capacity, but also in the way they formulate survival prediction.</a:t>
            </a:r>
          </a:p>
          <a:p>
            <a:r>
              <a:t>This slide gives the audience enough detail to understand what is being compared before we move into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evaluation pipeline uses a 60, 20, 20 split for training, validation, and test.</a:t>
            </a:r>
          </a:p>
          <a:p>
            <a:r>
              <a:t>Hyperparameters are tuned using validation performance, then the selected configuration is retrained on training plus validation data.</a:t>
            </a:r>
          </a:p>
          <a:p>
            <a:r>
              <a:t>The main metric is C-index, which measures discrimination.</a:t>
            </a:r>
          </a:p>
          <a:p>
            <a:r>
              <a:t>A higher C-index means the model better orders patients by risk, but it does not guarantee calibration.</a:t>
            </a:r>
          </a:p>
          <a:p>
            <a:r>
              <a:t>This caveat is important because survival models used clinically would also need calibrated probability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answers the feature-set question.</a:t>
            </a:r>
          </a:p>
          <a:p>
            <a:r>
              <a:t>For each endpoint and feature set, the line chart shows the best C-index achieved by any model.</a:t>
            </a:r>
          </a:p>
          <a:p>
            <a:r>
              <a:t>Adding cytogenetic information generally improves over clinical variables alone.</a:t>
            </a:r>
          </a:p>
          <a:p>
            <a:r>
              <a:t>The stronger conclusion is that molecular genetic features are central to the best performance.</a:t>
            </a:r>
          </a:p>
          <a:p>
            <a:r>
              <a:t>The best OS and AML transformation results use all feature sources, while the best LFS result uses clinical plus molecular genetic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answers the model comparison question.</a:t>
            </a:r>
          </a:p>
          <a:p>
            <a:r>
              <a:t>The bar chart compares the best linear model and best deep model for each endpoint.</a:t>
            </a:r>
          </a:p>
          <a:p>
            <a:r>
              <a:t>For all three endpoints, the best deep model has the higher C-index.</a:t>
            </a:r>
          </a:p>
          <a:p>
            <a:r>
              <a:t>The best OS result is N-MTLR with all features. The best LFS result is DeepSurv with clinical and molecular genetic features. The best AML transformation result is N-MTLR with all features.</a:t>
            </a:r>
          </a:p>
          <a:p>
            <a:r>
              <a:t>This supports the conclusion that deep learning-based survival models perform strongest in this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compares the best ML results against IPSS-M.</a:t>
            </a:r>
          </a:p>
          <a:p>
            <a:r>
              <a:t>IPSS-M is a strong molecular prognostic baseline, so this is the key clinical benchmark.</a:t>
            </a:r>
          </a:p>
          <a:p>
            <a:r>
              <a:t>The best ML model improves C-index by 0.045 for OS, 0.047 for LFS, and 0.038 for AML transformation.</a:t>
            </a:r>
          </a:p>
          <a:p>
            <a:r>
              <a:t>The improvement should be interpreted as better discrimination, meaning the model better orders patients by risk.</a:t>
            </a:r>
          </a:p>
          <a:p>
            <a:r>
              <a:t>This answers RQ3: yes, the best ML survival models outperform IPSS-M across all three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conclusion has three main findings.</a:t>
            </a:r>
          </a:p>
          <a:p>
            <a:r>
              <a:t>First, molecular genetic information is important for the strongest predictive performance.</a:t>
            </a:r>
          </a:p>
          <a:p>
            <a:r>
              <a:t>Second, deep learning-based survival models, especially DeepSurv and N-MTLR, produce the strongest results.</a:t>
            </a:r>
          </a:p>
          <a:p>
            <a:r>
              <a:t>Third, the best ML models outperform IPSS-M across all three endpoints.</a:t>
            </a:r>
          </a:p>
          <a:p>
            <a:r>
              <a:t>The main limitation is that C-index measures discrimination rather than calibration, so future work should include calibration analysis, external validation, and clinical workflow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lists the original paper references.</a:t>
            </a:r>
          </a:p>
          <a:p>
            <a:r>
              <a:t>The numbering follows the paper bibliography.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the audience for listening.</a:t>
            </a:r>
          </a:p>
          <a:p>
            <a:r>
              <a:t>Invite questions from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246EE-CB02-26E4-BE3A-3639E49EA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F7CE8-DED7-63CF-F978-8CF78BED9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A9CBC-A3B5-43D4-35E6-C996A29273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F07B6AB-3029-4A25-8C94-0F9086289D5C}" type="datetimeFigureOut">
              <a:t>7/9/26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572D8-1F15-9973-5799-5F22336241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9AAF9-5DDE-9FFB-9A3C-33C8FA45D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9F10A00-6445-4704-8749-67E3607A698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D7509-C89E-B435-059C-C547C82F8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5E0E0-BC5B-1C0A-B607-391ADC0FF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6D9F0-65DA-71A0-7D75-D3B3D6C5D33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F07B6AB-3029-4A25-8C94-0F9086289D5C}" type="datetimeFigureOut">
              <a:t>7/9/26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A3DC5-EC18-2B63-9AEA-E27AEF8238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F0DDE-2B49-8142-A212-3153A1E2FA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9F10A00-6445-4704-8749-67E3607A698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2F523-98BE-7320-7F15-0C2D0E52F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F71DD-75C3-BED7-4246-DB0F2A66A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0C4A3-8046-CF25-474B-3D5764E1A89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F07B6AB-3029-4A25-8C94-0F9086289D5C}" type="datetimeFigureOut">
              <a:t>7/9/26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4C6BE-586F-BFF3-1C40-859350C48FE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E72BE-47BA-2CCA-9495-E5B5678567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9F10A00-6445-4704-8749-67E3607A698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8013A-EEF7-D5D2-DF34-9857E417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FEDAC-5F07-80B7-2831-202F8680A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A0BDD8-5269-62BA-CF7D-BF2149C1822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4EE34-CC76-ADEE-24EE-3F8291A62A2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F07B6AB-3029-4A25-8C94-0F9086289D5C}" type="datetimeFigureOut">
              <a:t>7/9/26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92ABA6-DE13-FC32-45F4-8E21BDCBEC1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BE83B-31D8-04B9-47D1-1DE54F9D15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9F10A00-6445-4704-8749-67E3607A698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F295F-2CDC-D941-9346-509B0BD8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2BD1C-9921-3F0C-656B-1048FC6AE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0AE04-53CA-424C-037B-7C543CE5756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768540-81B0-5038-52BF-10CF2441D01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EBE7C-12CA-E044-AF73-A2FAACFFF1CE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1BA084-B8E7-346C-10BF-60D11DF408A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F07B6AB-3029-4A25-8C94-0F9086289D5C}" type="datetimeFigureOut">
              <a:t>7/9/26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8A134E-8056-913D-5EC7-CF317620AA9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5615FB-0DCD-C6F5-710C-6C2EAAEBFA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9F10A00-6445-4704-8749-67E3607A698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D908B-BCF2-FDBC-4C8D-9FCD680C6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2EADE1-56B3-74A6-7AEA-DE552871AD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F07B6AB-3029-4A25-8C94-0F9086289D5C}" type="datetimeFigureOut">
              <a:t>7/9/26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4956D-DAFE-5CBD-2E40-23ED11CDBE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12691-417E-6C39-77DF-219A6BD38B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9F10A00-6445-4704-8749-67E3607A698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763A37-1D72-5BA1-0F37-233D4DDD797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F07B6AB-3029-4A25-8C94-0F9086289D5C}" type="datetimeFigureOut">
              <a:t>7/9/26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DE2E5F-9061-2176-E65C-2DD2AA6B8F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5D9C9-F116-DA93-C0D6-5B990F2661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9F10A00-6445-4704-8749-67E3607A698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297B1-374C-8FB5-04A7-8C4E861DB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88B21-A59F-1B71-990E-262E464D0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E1ED4-ECC4-2BD4-D234-4CECEA0E11A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AE519-EAC3-A2D6-A1B9-B00D84BD5F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F07B6AB-3029-4A25-8C94-0F9086289D5C}" type="datetimeFigureOut">
              <a:t>7/9/26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641BD8-59B2-CC00-CEF0-94286714A6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563CF-9DCA-CF98-C5D5-3EF00A218C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9F10A00-6445-4704-8749-67E3607A698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19322-D0E5-FA6E-CCDD-129E91CD6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435D76-1077-C2E0-D62D-F432ABAC35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6A2B87-B10A-F9FC-869C-78325C6DCD4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98C43-2085-DDF2-D406-D14929EC658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F07B6AB-3029-4A25-8C94-0F9086289D5C}" type="datetimeFigureOut">
              <a:t>7/9/26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74686-5158-0C97-8AFF-EFF60B927FD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745AF-B783-0A26-E1B0-6C7CE0526F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9F10A00-6445-4704-8749-67E3607A698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6CA5D-4827-3980-6F8B-8CFB739B1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97C4DB-15E3-85B0-C24E-7A330B95E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44838-6CAA-2D7E-7DBB-7E74AEDC630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F07B6AB-3029-4A25-8C94-0F9086289D5C}" type="datetimeFigureOut">
              <a:t>7/9/26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0F924-94EF-DBA4-C2D3-11A354192C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5C3DB-3AAD-3BD7-EB86-67ECB1E6C0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9F10A00-6445-4704-8749-67E3607A698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2EC462-CEB8-6F92-A808-EB84A44D3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425DCF-5035-C828-A79A-AE144281B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17CD0-313A-50BE-F0FD-C1F28519109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F07B6AB-3029-4A25-8C94-0F9086289D5C}" type="datetimeFigureOut">
              <a:t>7/9/26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0B279-4F35-D4D1-417C-6E43BBA1ACD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08E83-4774-C492-48A4-6EC9F02DD7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9F10A00-6445-4704-8749-67E3607A698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8C3422B-1F8C-5459-6326-B4FB2E6320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35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4FCEE1C-28B2-7E8C-1AE4-E788F8050A66}"/>
              </a:ext>
            </a:extLst>
          </p:cNvPr>
          <p:cNvSpPr/>
          <p:nvPr userDrawn="1"/>
        </p:nvSpPr>
        <p:spPr>
          <a:xfrm>
            <a:off x="0" y="195728"/>
            <a:ext cx="12192000" cy="879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6AB64-0AEA-239C-0131-DD40B15C3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9344" y="1702974"/>
            <a:ext cx="9144000" cy="1208723"/>
          </a:xfrm>
        </p:spPr>
        <p:txBody>
          <a:bodyPr anchor="b"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2FD48-8905-684E-B12A-6C08BE93C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9344" y="3072384"/>
            <a:ext cx="9144000" cy="1063752"/>
          </a:xfrm>
        </p:spPr>
        <p:txBody>
          <a:bodyPr/>
          <a:lstStyle>
            <a:lvl1pPr marL="0" indent="0" algn="l">
              <a:buNone/>
              <a:defRPr sz="32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0AB015-1428-616C-B907-7E80EB56EE3C}"/>
              </a:ext>
            </a:extLst>
          </p:cNvPr>
          <p:cNvSpPr/>
          <p:nvPr userDrawn="1"/>
        </p:nvSpPr>
        <p:spPr>
          <a:xfrm>
            <a:off x="0" y="-51815"/>
            <a:ext cx="12192000" cy="87912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EACD7-613F-8C3A-1D9C-A617BD6E512B}"/>
              </a:ext>
            </a:extLst>
          </p:cNvPr>
          <p:cNvSpPr txBox="1"/>
          <p:nvPr userDrawn="1"/>
        </p:nvSpPr>
        <p:spPr>
          <a:xfrm>
            <a:off x="9575791" y="227422"/>
            <a:ext cx="22209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b="0" dirty="0">
                <a:solidFill>
                  <a:schemeClr val="bg1"/>
                </a:solidFill>
              </a:rPr>
              <a:t>Ottawa, July 7-10, 2026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6087E6-4827-BF9C-5819-81B7BA418D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5280" y="-6579"/>
            <a:ext cx="1543266" cy="80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353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FC9D2D-8BD7-6C5F-C32F-4A0F44B02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2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9D702D-542A-FC5F-B08B-337C32220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69834"/>
            <a:ext cx="10515600" cy="745586"/>
          </a:xfrm>
        </p:spPr>
        <p:txBody>
          <a:bodyPr/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967CD-923A-3937-BFE0-3B9DE1EFA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5420"/>
            <a:ext cx="10515600" cy="393191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A18DE1-9FFD-1504-8268-369544EEC1B2}"/>
              </a:ext>
            </a:extLst>
          </p:cNvPr>
          <p:cNvSpPr/>
          <p:nvPr userDrawn="1"/>
        </p:nvSpPr>
        <p:spPr>
          <a:xfrm>
            <a:off x="0" y="195728"/>
            <a:ext cx="12192000" cy="879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A5EF197-7011-BAE5-AAC4-05493F486518}"/>
              </a:ext>
            </a:extLst>
          </p:cNvPr>
          <p:cNvGrpSpPr/>
          <p:nvPr userDrawn="1"/>
        </p:nvGrpSpPr>
        <p:grpSpPr>
          <a:xfrm>
            <a:off x="0" y="-51815"/>
            <a:ext cx="12192000" cy="879129"/>
            <a:chOff x="0" y="-51815"/>
            <a:chExt cx="12192000" cy="87912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68E0C85-2E6B-FEF9-7BDA-F93953324FF6}"/>
                </a:ext>
              </a:extLst>
            </p:cNvPr>
            <p:cNvSpPr/>
            <p:nvPr userDrawn="1"/>
          </p:nvSpPr>
          <p:spPr>
            <a:xfrm>
              <a:off x="0" y="-51815"/>
              <a:ext cx="12192000" cy="87912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B191670-F2A7-3244-2A88-0DC17215DDD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95280" y="-6579"/>
              <a:ext cx="1543266" cy="806556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5188C80-DE41-CE92-899C-E4DCEBFE957A}"/>
                </a:ext>
              </a:extLst>
            </p:cNvPr>
            <p:cNvSpPr txBox="1"/>
            <p:nvPr userDrawn="1"/>
          </p:nvSpPr>
          <p:spPr>
            <a:xfrm>
              <a:off x="9575791" y="227422"/>
              <a:ext cx="22209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600" b="0" dirty="0">
                  <a:solidFill>
                    <a:schemeClr val="bg1"/>
                  </a:solidFill>
                </a:rPr>
                <a:t>Ottawa, July 7-10, 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5062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F8EB06-260F-AB0D-9264-47DB802BC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D6C1C-765E-8B49-6004-AF9A74F00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4057B-D687-630C-C574-15D5E5024A6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07B6AB-3029-4A25-8C94-0F9086289D5C}" type="datetimeFigureOut">
              <a:t>7/9/26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4D7DF-BC4B-B0EF-381F-E7463540593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FA368-8F9C-29B7-74D7-38F76EACF3B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F10A00-6445-4704-8749-67E3607A6980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635F1B-0CF9-6E71-82AC-65A3B4240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08094-C8F4-CB85-8444-46E6ACBBB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5A14D-D92F-D459-ABD6-7FDD11D981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E99FE9-0E08-48EC-BCED-9193299CC542}" type="datetimeFigureOut">
              <a:rPr lang="en-CA" smtClean="0"/>
              <a:t>2026-07-09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F7F86-95E0-9D39-E560-C650603242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A6F06-B7A0-6015-7D2A-7B8C7C3501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BDE0CC-2657-4C23-8432-9E55B52838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7542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</a:extLst>
          </p:cNvPr>
          <p:cNvSpPr>
            <a:spLocks noGrp="1"/>
          </p:cNvSpPr>
          <p:nvPr/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</a:extLst>
          </p:cNvPr>
          <p:cNvSpPr>
            <a:spLocks noGrp="1"/>
          </p:cNvSpPr>
          <p:nvPr/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</a:extLst>
          </p:cNvPr>
          <p:cNvSpPr>
            <a:spLocks noGrp="1"/>
          </p:cNvSpPr>
          <p:nvPr/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</a:extLst>
          </p:cNvPr>
          <p:cNvSpPr>
            <a:spLocks noGrp="1"/>
          </p:cNvSpPr>
          <p:nvPr/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56DCCD-96E6-755D-03BA-CD9D14599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1333500"/>
            <a:ext cx="11652285" cy="1619250"/>
          </a:xfrm>
        </p:spPr>
        <p:txBody>
          <a:bodyPr wrap="square" anchor="ctr">
            <a:normAutofit/>
          </a:bodyPr>
          <a:lstStyle/>
          <a:p>
            <a:pPr algn="l">
              <a:buNone/>
              <a:defRPr sz="3225">
                <a:solidFill>
                  <a:srgbClr val="FFFFFF"/>
                </a:solidFill>
              </a:defRPr>
            </a:pPr>
            <a:r>
              <a:rPr sz="4400" dirty="0">
                <a:solidFill>
                  <a:srgbClr val="FFFFFF"/>
                </a:solidFill>
              </a:rPr>
              <a:t>Machine Learning-Based Survival Prediction of Outcomes in Myelodysplastic Syndromes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</a:extLst>
          </p:cNvPr>
          <p:cNvSpPr>
            <a:spLocks noGrp="1"/>
          </p:cNvSpPr>
          <p:nvPr/>
        </p:nvSpPr>
        <p:spPr>
          <a:xfrm rot="10800000" flipH="1">
            <a:off x="-22233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54736-6350-606B-5BA7-553D78E62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333750"/>
            <a:ext cx="6191250" cy="838200"/>
          </a:xfrm>
        </p:spPr>
        <p:txBody>
          <a:bodyPr wrap="square" anchor="ctr">
            <a:noAutofit/>
          </a:bodyPr>
          <a:lstStyle/>
          <a:p>
            <a:pPr algn="l">
              <a:buNone/>
              <a:defRPr sz="2025" b="1">
                <a:solidFill>
                  <a:srgbClr val="F2F7FA"/>
                </a:solidFill>
              </a:defRPr>
            </a:pPr>
            <a:r>
              <a:rPr sz="2000" b="1" dirty="0" err="1">
                <a:solidFill>
                  <a:srgbClr val="F2F7FA"/>
                </a:solidFill>
              </a:rPr>
              <a:t>Ziming</a:t>
            </a:r>
            <a:r>
              <a:rPr sz="2000" b="1" dirty="0">
                <a:solidFill>
                  <a:srgbClr val="F2F7FA"/>
                </a:solidFill>
              </a:rPr>
              <a:t> Cui</a:t>
            </a:r>
            <a:r>
              <a:rPr lang="en-US" sz="2000" b="1" dirty="0">
                <a:solidFill>
                  <a:srgbClr val="F2F7FA"/>
                </a:solidFill>
              </a:rPr>
              <a:t>           </a:t>
            </a:r>
            <a:r>
              <a:rPr sz="2000" b="1" dirty="0">
                <a:solidFill>
                  <a:srgbClr val="F2F7FA"/>
                </a:solidFill>
              </a:rPr>
              <a:t>Case Western Reserve University</a:t>
            </a:r>
            <a:endParaRPr lang="en-US" sz="2000" b="1" dirty="0">
              <a:solidFill>
                <a:srgbClr val="F2F7FA"/>
              </a:solidFill>
            </a:endParaRPr>
          </a:p>
          <a:p>
            <a:pPr algn="l">
              <a:buNone/>
              <a:defRPr sz="2025" b="1">
                <a:solidFill>
                  <a:srgbClr val="F2F7FA"/>
                </a:solidFill>
              </a:defRPr>
            </a:pPr>
            <a:endParaRPr lang="en-US" sz="2000" b="1" dirty="0">
              <a:solidFill>
                <a:srgbClr val="F2F7FA"/>
              </a:solidFill>
            </a:endParaRPr>
          </a:p>
          <a:p>
            <a:pPr algn="l">
              <a:buNone/>
              <a:defRPr sz="2025" b="1">
                <a:solidFill>
                  <a:srgbClr val="F2F7FA"/>
                </a:solidFill>
              </a:defRPr>
            </a:pPr>
            <a:r>
              <a:rPr lang="en-US" sz="2000" b="1" dirty="0">
                <a:solidFill>
                  <a:srgbClr val="F2F7FA"/>
                </a:solidFill>
              </a:rPr>
              <a:t>Email: </a:t>
            </a:r>
            <a:r>
              <a:rPr lang="en-US" sz="2000" b="1" dirty="0" err="1">
                <a:solidFill>
                  <a:srgbClr val="F2F7FA"/>
                </a:solidFill>
              </a:rPr>
              <a:t>ziming.cui@case.edu</a:t>
            </a:r>
            <a:endParaRPr sz="2000" b="1" dirty="0">
              <a:solidFill>
                <a:srgbClr val="F2F7FA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</a:extLst>
          </p:cNvPr>
          <p:cNvSpPr>
            <a:spLocks noGrp="1"/>
          </p:cNvSpPr>
          <p:nvPr/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6FA6E7-9D53-81F4-C036-3E8BACE600F1}"/>
              </a:ext>
            </a:extLst>
          </p:cNvPr>
          <p:cNvSpPr>
            <a:spLocks noGrp="1"/>
          </p:cNvSpPr>
          <p:nvPr/>
        </p:nvSpPr>
        <p:spPr>
          <a:xfrm>
            <a:off x="533400" y="5967483"/>
            <a:ext cx="3982052" cy="3462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buNone/>
              <a:defRPr sz="1650">
                <a:solidFill>
                  <a:srgbClr val="FFFFFF"/>
                </a:solidFill>
              </a:defRPr>
            </a:pPr>
            <a:r>
              <a:rPr sz="1650" dirty="0">
                <a:solidFill>
                  <a:srgbClr val="FFFFFF"/>
                </a:solidFill>
              </a:rPr>
              <a:t>AIME 2026 | Ottawa, Canada | July </a:t>
            </a:r>
            <a:r>
              <a:rPr lang="en-US" altLang="zh-CN" sz="1650" dirty="0">
                <a:solidFill>
                  <a:srgbClr val="FFFFFF"/>
                </a:solidFill>
              </a:rPr>
              <a:t>9</a:t>
            </a:r>
            <a:r>
              <a:rPr sz="1650" dirty="0">
                <a:solidFill>
                  <a:srgbClr val="FFFFFF"/>
                </a:solidFill>
              </a:rPr>
              <a:t>, 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D80C49-AC77-A049-FBEB-85A9DD5E23C4}"/>
              </a:ext>
            </a:extLst>
          </p:cNvPr>
          <p:cNvSpPr>
            <a:spLocks noGrp="1"/>
          </p:cNvSpPr>
          <p:nvPr/>
        </p:nvSpPr>
        <p:spPr>
          <a:xfrm>
            <a:off x="576432" y="4942789"/>
            <a:ext cx="97155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425">
                <a:solidFill>
                  <a:srgbClr val="D9E6EC"/>
                </a:solidFill>
              </a:defRPr>
            </a:pPr>
            <a:r>
              <a:rPr sz="1600" b="1" dirty="0">
                <a:solidFill>
                  <a:srgbClr val="D9E6EC"/>
                </a:solidFill>
              </a:rPr>
              <a:t>Authors: </a:t>
            </a:r>
            <a:r>
              <a:rPr sz="1600" b="1" dirty="0" err="1">
                <a:solidFill>
                  <a:srgbClr val="D9E6EC"/>
                </a:solidFill>
              </a:rPr>
              <a:t>Fayeq</a:t>
            </a:r>
            <a:r>
              <a:rPr sz="1600" b="1" dirty="0">
                <a:solidFill>
                  <a:srgbClr val="D9E6EC"/>
                </a:solidFill>
              </a:rPr>
              <a:t> Jeelani Syed*, </a:t>
            </a:r>
            <a:r>
              <a:rPr sz="1600" b="1" dirty="0" err="1">
                <a:solidFill>
                  <a:srgbClr val="D9E6EC"/>
                </a:solidFill>
              </a:rPr>
              <a:t>Ziming</a:t>
            </a:r>
            <a:r>
              <a:rPr sz="1600" b="1" dirty="0">
                <a:solidFill>
                  <a:srgbClr val="D9E6EC"/>
                </a:solidFill>
              </a:rPr>
              <a:t> Cui*, </a:t>
            </a:r>
            <a:r>
              <a:rPr sz="1600" b="1" dirty="0" err="1">
                <a:solidFill>
                  <a:srgbClr val="D9E6EC"/>
                </a:solidFill>
              </a:rPr>
              <a:t>Dulat</a:t>
            </a:r>
            <a:r>
              <a:rPr sz="1600" b="1" dirty="0">
                <a:solidFill>
                  <a:srgbClr val="D9E6EC"/>
                </a:solidFill>
              </a:rPr>
              <a:t> </a:t>
            </a:r>
            <a:r>
              <a:rPr sz="1600" b="1" dirty="0" err="1">
                <a:solidFill>
                  <a:srgbClr val="D9E6EC"/>
                </a:solidFill>
              </a:rPr>
              <a:t>Bekbolsynov</a:t>
            </a:r>
            <a:r>
              <a:rPr sz="1600" b="1" dirty="0">
                <a:solidFill>
                  <a:srgbClr val="D9E6EC"/>
                </a:solidFill>
              </a:rPr>
              <a:t>, Michael S. </a:t>
            </a:r>
            <a:r>
              <a:rPr sz="1600" b="1" dirty="0" err="1">
                <a:solidFill>
                  <a:srgbClr val="D9E6EC"/>
                </a:solidFill>
              </a:rPr>
              <a:t>Sloma</a:t>
            </a:r>
            <a:r>
              <a:rPr sz="1600" b="1" dirty="0">
                <a:solidFill>
                  <a:srgbClr val="D9E6EC"/>
                </a:solidFill>
              </a:rPr>
              <a:t>,</a:t>
            </a:r>
          </a:p>
          <a:p>
            <a:pPr algn="l">
              <a:buNone/>
              <a:defRPr sz="1425">
                <a:solidFill>
                  <a:srgbClr val="D9E6EC"/>
                </a:solidFill>
              </a:defRPr>
            </a:pPr>
            <a:r>
              <a:rPr sz="1600" b="1" dirty="0">
                <a:solidFill>
                  <a:srgbClr val="D9E6EC"/>
                </a:solidFill>
              </a:rPr>
              <a:t>Stanislaw </a:t>
            </a:r>
            <a:r>
              <a:rPr sz="1600" b="1" dirty="0" err="1">
                <a:solidFill>
                  <a:srgbClr val="D9E6EC"/>
                </a:solidFill>
              </a:rPr>
              <a:t>Stepkowski</a:t>
            </a:r>
            <a:r>
              <a:rPr sz="1600" b="1" dirty="0">
                <a:solidFill>
                  <a:srgbClr val="D9E6EC"/>
                </a:solidFill>
              </a:rPr>
              <a:t>, and Kevin S. Xu</a:t>
            </a:r>
          </a:p>
        </p:txBody>
      </p:sp>
    </p:spTree>
    <p:extLst>
      <p:ext uri="{BB962C8B-B14F-4D97-AF65-F5344CB8AC3E}">
        <p14:creationId xmlns:p14="http://schemas.microsoft.com/office/powerpoint/2010/main" val="3815088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08C1F-172C-7286-45EB-D3BFAC600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7018FDE-CC72-25DC-847C-36338EC48B34}"/>
              </a:ext>
            </a:extLst>
          </p:cNvPr>
          <p:cNvSpPr txBox="1">
            <a:spLocks/>
          </p:cNvSpPr>
          <p:nvPr/>
        </p:nvSpPr>
        <p:spPr>
          <a:xfrm>
            <a:off x="1213898" y="1687723"/>
            <a:ext cx="10349055" cy="121403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Speaker Declaration of Conflict of Interest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82D2717-6D54-AD2C-82A3-93A212EE3C4B}"/>
              </a:ext>
            </a:extLst>
          </p:cNvPr>
          <p:cNvSpPr txBox="1">
            <a:spLocks/>
          </p:cNvSpPr>
          <p:nvPr/>
        </p:nvSpPr>
        <p:spPr>
          <a:xfrm>
            <a:off x="1213898" y="3185691"/>
            <a:ext cx="10349055" cy="12140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 do not have any relevant financial or professional affiliations with for-profit or not-for-profit organizations to disclose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7148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left-accent-bar">
            <a:extLst>
              <a:ext uri="{FF2B5EF4-FFF2-40B4-BE49-F238E27FC236}">
                <a16:creationId xmlns:a16="http://schemas.microsoft.com/office/drawing/2014/main" id="{C378819B-7A46-477E-983F-1C2D2BCB5F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op-rule">
            <a:extLst>
              <a:ext uri="{FF2B5EF4-FFF2-40B4-BE49-F238E27FC236}">
                <a16:creationId xmlns:a16="http://schemas.microsoft.com/office/drawing/2014/main" id="{8558F1B6-31BC-4A52-89A5-3B272906473F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19050"/>
          </a:xfrm>
          <a:prstGeom prst="rect">
            <a:avLst/>
          </a:prstGeom>
          <a:solidFill>
            <a:srgbClr val="DDE8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847EFCA2-DF00-4D40-9843-16CEB642CABB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200" b="1">
                <a:solidFill>
                  <a:srgbClr val="0B4D63"/>
                </a:solidFill>
              </a:defRPr>
            </a:pPr>
            <a:r>
              <a:rPr sz="1200" b="1">
                <a:solidFill>
                  <a:srgbClr val="0B4D63"/>
                </a:solidFill>
              </a:rPr>
              <a:t>BACKGROUND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EE896131-0296-47CC-BC1C-5EA8DA18C3D0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2925" b="1">
                <a:solidFill>
                  <a:srgbClr val="0B2F3F"/>
                </a:solidFill>
              </a:defRPr>
            </a:pPr>
            <a:r>
              <a:rPr sz="2925" b="1">
                <a:solidFill>
                  <a:srgbClr val="0B2F3F"/>
                </a:solidFill>
              </a:rPr>
              <a:t>MDS: Bone Marrow Failure with Leukemia Risk</a:t>
            </a:r>
          </a:p>
        </p:txBody>
      </p:sp>
      <p:sp>
        <p:nvSpPr>
          <p:cNvPr id="5" name="setup-line">
            <a:extLst>
              <a:ext uri="{FF2B5EF4-FFF2-40B4-BE49-F238E27FC236}">
                <a16:creationId xmlns:a16="http://schemas.microsoft.com/office/drawing/2014/main" id="{F8737E00-E12F-4C8B-B8BB-D85242D42D3F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144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1650">
                <a:solidFill>
                  <a:srgbClr val="2F4653"/>
                </a:solidFill>
              </a:defRPr>
            </a:pPr>
            <a:r>
              <a:rPr sz="1650" dirty="0">
                <a:solidFill>
                  <a:srgbClr val="2F4653"/>
                </a:solidFill>
              </a:rPr>
              <a:t>Myelodysplastic syndromes are rare bone marrow disorders with ineffective production of healthy blood cells.</a:t>
            </a:r>
          </a:p>
        </p:txBody>
      </p:sp>
      <p:sp>
        <p:nvSpPr>
          <p:cNvPr id="6" name="section-rule-Definition">
            <a:extLst>
              <a:ext uri="{FF2B5EF4-FFF2-40B4-BE49-F238E27FC236}">
                <a16:creationId xmlns:a16="http://schemas.microsoft.com/office/drawing/2014/main" id="{34DB5709-CC31-4A81-AFEA-106110EDE560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3143250" cy="20955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ection-title-Definition">
            <a:extLst>
              <a:ext uri="{FF2B5EF4-FFF2-40B4-BE49-F238E27FC236}">
                <a16:creationId xmlns:a16="http://schemas.microsoft.com/office/drawing/2014/main" id="{88E239B7-042D-4B55-8FA7-421BC7AFF54C}"/>
              </a:ext>
            </a:extLst>
          </p:cNvPr>
          <p:cNvSpPr>
            <a:spLocks noGrp="1"/>
          </p:cNvSpPr>
          <p:nvPr/>
        </p:nvSpPr>
        <p:spPr>
          <a:xfrm>
            <a:off x="876300" y="23622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125" b="1">
                <a:solidFill>
                  <a:srgbClr val="0B4D63"/>
                </a:solidFill>
              </a:defRPr>
            </a:pPr>
            <a:r>
              <a:rPr sz="1125" b="1">
                <a:solidFill>
                  <a:srgbClr val="0B4D63"/>
                </a:solidFill>
              </a:rPr>
              <a:t>DEFINITION</a:t>
            </a:r>
          </a:p>
        </p:txBody>
      </p:sp>
      <p:sp>
        <p:nvSpPr>
          <p:cNvPr id="8" name="definition-body">
            <a:extLst>
              <a:ext uri="{FF2B5EF4-FFF2-40B4-BE49-F238E27FC236}">
                <a16:creationId xmlns:a16="http://schemas.microsoft.com/office/drawing/2014/main" id="{5576689A-3AC3-4FA3-A271-0142FF8CB6F1}"/>
              </a:ext>
            </a:extLst>
          </p:cNvPr>
          <p:cNvSpPr>
            <a:spLocks noGrp="1"/>
          </p:cNvSpPr>
          <p:nvPr/>
        </p:nvSpPr>
        <p:spPr>
          <a:xfrm>
            <a:off x="876300" y="2781300"/>
            <a:ext cx="3333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350">
                <a:solidFill>
                  <a:srgbClr val="314B59"/>
                </a:solidFill>
              </a:defRPr>
            </a:pPr>
            <a:r>
              <a:rPr sz="1350" dirty="0">
                <a:solidFill>
                  <a:srgbClr val="314B59"/>
                </a:solidFill>
              </a:rPr>
              <a:t>MDS is characterized by abnormal hematopoiesis: the bone marrow produces </a:t>
            </a:r>
            <a:r>
              <a:rPr sz="1350" b="1" dirty="0">
                <a:solidFill>
                  <a:srgbClr val="314B59"/>
                </a:solidFill>
              </a:rPr>
              <a:t>too few healthy mature blood cells. The result is cytopenia, clinical symptoms, and highly variable survival.</a:t>
            </a:r>
          </a:p>
        </p:txBody>
      </p:sp>
      <p:sp>
        <p:nvSpPr>
          <p:cNvPr id="9" name="symptom-table-bg">
            <a:extLst>
              <a:ext uri="{FF2B5EF4-FFF2-40B4-BE49-F238E27FC236}">
                <a16:creationId xmlns:a16="http://schemas.microsoft.com/office/drawing/2014/main" id="{93636DAA-EC28-49D0-98F6-0068CC4942F1}"/>
              </a:ext>
            </a:extLst>
          </p:cNvPr>
          <p:cNvSpPr>
            <a:spLocks noGrp="1"/>
          </p:cNvSpPr>
          <p:nvPr/>
        </p:nvSpPr>
        <p:spPr>
          <a:xfrm>
            <a:off x="4648200" y="2266950"/>
            <a:ext cx="4057650" cy="2000250"/>
          </a:xfrm>
          <a:prstGeom prst="rect">
            <a:avLst/>
          </a:prstGeom>
          <a:noFill/>
          <a:ln w="9525">
            <a:solidFill>
              <a:srgbClr val="CBDCE3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0" name="symptom-table-header-bg">
            <a:extLst>
              <a:ext uri="{FF2B5EF4-FFF2-40B4-BE49-F238E27FC236}">
                <a16:creationId xmlns:a16="http://schemas.microsoft.com/office/drawing/2014/main" id="{BEF30F7D-510A-4E1C-BCE8-0D7576549A60}"/>
              </a:ext>
            </a:extLst>
          </p:cNvPr>
          <p:cNvSpPr>
            <a:spLocks noGrp="1"/>
          </p:cNvSpPr>
          <p:nvPr/>
        </p:nvSpPr>
        <p:spPr>
          <a:xfrm>
            <a:off x="4648200" y="2266950"/>
            <a:ext cx="4057650" cy="34290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1" name="symptom-table-hline-0">
            <a:extLst>
              <a:ext uri="{FF2B5EF4-FFF2-40B4-BE49-F238E27FC236}">
                <a16:creationId xmlns:a16="http://schemas.microsoft.com/office/drawing/2014/main" id="{025F1F1D-0059-4211-8FEB-4EB1C14C986A}"/>
              </a:ext>
            </a:extLst>
          </p:cNvPr>
          <p:cNvSpPr>
            <a:spLocks noGrp="1"/>
          </p:cNvSpPr>
          <p:nvPr/>
        </p:nvSpPr>
        <p:spPr>
          <a:xfrm>
            <a:off x="4648200" y="2609850"/>
            <a:ext cx="40576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2" name="symptom-table-cell-0-0">
            <a:extLst>
              <a:ext uri="{FF2B5EF4-FFF2-40B4-BE49-F238E27FC236}">
                <a16:creationId xmlns:a16="http://schemas.microsoft.com/office/drawing/2014/main" id="{17B8B1B7-741B-4EF3-B5FA-1AC87F6E1D9E}"/>
              </a:ext>
            </a:extLst>
          </p:cNvPr>
          <p:cNvSpPr>
            <a:spLocks noGrp="1"/>
          </p:cNvSpPr>
          <p:nvPr/>
        </p:nvSpPr>
        <p:spPr>
          <a:xfrm>
            <a:off x="4743450" y="233362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Low count</a:t>
            </a:r>
          </a:p>
        </p:txBody>
      </p:sp>
      <p:sp>
        <p:nvSpPr>
          <p:cNvPr id="13" name="symptom-table-vline-0-1">
            <a:extLst>
              <a:ext uri="{FF2B5EF4-FFF2-40B4-BE49-F238E27FC236}">
                <a16:creationId xmlns:a16="http://schemas.microsoft.com/office/drawing/2014/main" id="{FBC68662-FA73-4949-9B0A-22BF9CB762FE}"/>
              </a:ext>
            </a:extLst>
          </p:cNvPr>
          <p:cNvSpPr>
            <a:spLocks noGrp="1"/>
          </p:cNvSpPr>
          <p:nvPr/>
        </p:nvSpPr>
        <p:spPr>
          <a:xfrm>
            <a:off x="6248400" y="2266950"/>
            <a:ext cx="9525" cy="3429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4" name="symptom-table-cell-0-1">
            <a:extLst>
              <a:ext uri="{FF2B5EF4-FFF2-40B4-BE49-F238E27FC236}">
                <a16:creationId xmlns:a16="http://schemas.microsoft.com/office/drawing/2014/main" id="{532A0032-8DDE-4146-8D60-FC3151F4F12F}"/>
              </a:ext>
            </a:extLst>
          </p:cNvPr>
          <p:cNvSpPr>
            <a:spLocks noGrp="1"/>
          </p:cNvSpPr>
          <p:nvPr/>
        </p:nvSpPr>
        <p:spPr>
          <a:xfrm>
            <a:off x="6343650" y="2333625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Common clinical picture</a:t>
            </a:r>
          </a:p>
        </p:txBody>
      </p:sp>
      <p:sp>
        <p:nvSpPr>
          <p:cNvPr id="15" name="symptom-table-hline-1">
            <a:extLst>
              <a:ext uri="{FF2B5EF4-FFF2-40B4-BE49-F238E27FC236}">
                <a16:creationId xmlns:a16="http://schemas.microsoft.com/office/drawing/2014/main" id="{26CF6925-BC77-48E8-8DD6-8ABB031C8A7B}"/>
              </a:ext>
            </a:extLst>
          </p:cNvPr>
          <p:cNvSpPr>
            <a:spLocks noGrp="1"/>
          </p:cNvSpPr>
          <p:nvPr/>
        </p:nvSpPr>
        <p:spPr>
          <a:xfrm>
            <a:off x="4648200" y="3162300"/>
            <a:ext cx="40576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6" name="symptom-table-cell-1-0">
            <a:extLst>
              <a:ext uri="{FF2B5EF4-FFF2-40B4-BE49-F238E27FC236}">
                <a16:creationId xmlns:a16="http://schemas.microsoft.com/office/drawing/2014/main" id="{B91243F0-E908-4530-9C4C-3E3CFDD0905B}"/>
              </a:ext>
            </a:extLst>
          </p:cNvPr>
          <p:cNvSpPr>
            <a:spLocks noGrp="1"/>
          </p:cNvSpPr>
          <p:nvPr/>
        </p:nvSpPr>
        <p:spPr>
          <a:xfrm>
            <a:off x="4743450" y="2676525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1">
                <a:solidFill>
                  <a:srgbClr val="314B59"/>
                </a:solidFill>
              </a:defRPr>
            </a:pPr>
            <a:r>
              <a:rPr sz="1200" b="1">
                <a:solidFill>
                  <a:srgbClr val="314B59"/>
                </a:solidFill>
              </a:rPr>
              <a:t>Red blood cells</a:t>
            </a:r>
          </a:p>
        </p:txBody>
      </p:sp>
      <p:sp>
        <p:nvSpPr>
          <p:cNvPr id="17" name="symptom-table-vline-1-1">
            <a:extLst>
              <a:ext uri="{FF2B5EF4-FFF2-40B4-BE49-F238E27FC236}">
                <a16:creationId xmlns:a16="http://schemas.microsoft.com/office/drawing/2014/main" id="{535E97C9-3FD6-4062-833D-3C538085A89E}"/>
              </a:ext>
            </a:extLst>
          </p:cNvPr>
          <p:cNvSpPr>
            <a:spLocks noGrp="1"/>
          </p:cNvSpPr>
          <p:nvPr/>
        </p:nvSpPr>
        <p:spPr>
          <a:xfrm>
            <a:off x="6248400" y="2609850"/>
            <a:ext cx="9525" cy="5524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8" name="symptom-table-cell-1-1">
            <a:extLst>
              <a:ext uri="{FF2B5EF4-FFF2-40B4-BE49-F238E27FC236}">
                <a16:creationId xmlns:a16="http://schemas.microsoft.com/office/drawing/2014/main" id="{19F225A5-5F6F-4A08-AB58-399A2BCE246A}"/>
              </a:ext>
            </a:extLst>
          </p:cNvPr>
          <p:cNvSpPr>
            <a:spLocks noGrp="1"/>
          </p:cNvSpPr>
          <p:nvPr/>
        </p:nvSpPr>
        <p:spPr>
          <a:xfrm>
            <a:off x="6343650" y="2676525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Anemia, fatigue, shortness of breath</a:t>
            </a:r>
          </a:p>
        </p:txBody>
      </p:sp>
      <p:sp>
        <p:nvSpPr>
          <p:cNvPr id="19" name="symptom-table-stripe-2">
            <a:extLst>
              <a:ext uri="{FF2B5EF4-FFF2-40B4-BE49-F238E27FC236}">
                <a16:creationId xmlns:a16="http://schemas.microsoft.com/office/drawing/2014/main" id="{F8EFBF79-7514-4135-ADBF-82D49B9EEDC7}"/>
              </a:ext>
            </a:extLst>
          </p:cNvPr>
          <p:cNvSpPr>
            <a:spLocks noGrp="1"/>
          </p:cNvSpPr>
          <p:nvPr/>
        </p:nvSpPr>
        <p:spPr>
          <a:xfrm>
            <a:off x="4648200" y="3162300"/>
            <a:ext cx="4057650" cy="552450"/>
          </a:xfrm>
          <a:prstGeom prst="rect">
            <a:avLst/>
          </a:prstGeom>
          <a:solidFill>
            <a:srgbClr val="F1F6F8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0" name="symptom-table-hline-2">
            <a:extLst>
              <a:ext uri="{FF2B5EF4-FFF2-40B4-BE49-F238E27FC236}">
                <a16:creationId xmlns:a16="http://schemas.microsoft.com/office/drawing/2014/main" id="{D230D872-6A2A-40BC-B9F6-3D1BCEF0130C}"/>
              </a:ext>
            </a:extLst>
          </p:cNvPr>
          <p:cNvSpPr>
            <a:spLocks noGrp="1"/>
          </p:cNvSpPr>
          <p:nvPr/>
        </p:nvSpPr>
        <p:spPr>
          <a:xfrm>
            <a:off x="4648200" y="3714750"/>
            <a:ext cx="40576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1" name="symptom-table-cell-2-0">
            <a:extLst>
              <a:ext uri="{FF2B5EF4-FFF2-40B4-BE49-F238E27FC236}">
                <a16:creationId xmlns:a16="http://schemas.microsoft.com/office/drawing/2014/main" id="{F696636B-4E18-4C71-A1AC-E68312952EB6}"/>
              </a:ext>
            </a:extLst>
          </p:cNvPr>
          <p:cNvSpPr>
            <a:spLocks noGrp="1"/>
          </p:cNvSpPr>
          <p:nvPr/>
        </p:nvSpPr>
        <p:spPr>
          <a:xfrm>
            <a:off x="4743450" y="3228975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1">
                <a:solidFill>
                  <a:srgbClr val="314B59"/>
                </a:solidFill>
              </a:defRPr>
            </a:pPr>
            <a:r>
              <a:rPr sz="1200" b="1">
                <a:solidFill>
                  <a:srgbClr val="314B59"/>
                </a:solidFill>
              </a:rPr>
              <a:t>White blood cells</a:t>
            </a:r>
          </a:p>
        </p:txBody>
      </p:sp>
      <p:sp>
        <p:nvSpPr>
          <p:cNvPr id="22" name="symptom-table-vline-2-1">
            <a:extLst>
              <a:ext uri="{FF2B5EF4-FFF2-40B4-BE49-F238E27FC236}">
                <a16:creationId xmlns:a16="http://schemas.microsoft.com/office/drawing/2014/main" id="{7FA75BC1-FB66-4346-BF8D-4925FA9AB413}"/>
              </a:ext>
            </a:extLst>
          </p:cNvPr>
          <p:cNvSpPr>
            <a:spLocks noGrp="1"/>
          </p:cNvSpPr>
          <p:nvPr/>
        </p:nvSpPr>
        <p:spPr>
          <a:xfrm>
            <a:off x="6248400" y="3162300"/>
            <a:ext cx="9525" cy="5524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3" name="symptom-table-cell-2-1">
            <a:extLst>
              <a:ext uri="{FF2B5EF4-FFF2-40B4-BE49-F238E27FC236}">
                <a16:creationId xmlns:a16="http://schemas.microsoft.com/office/drawing/2014/main" id="{D5867A5E-2644-49B3-A2A6-9CEA984C7353}"/>
              </a:ext>
            </a:extLst>
          </p:cNvPr>
          <p:cNvSpPr>
            <a:spLocks noGrp="1"/>
          </p:cNvSpPr>
          <p:nvPr/>
        </p:nvSpPr>
        <p:spPr>
          <a:xfrm>
            <a:off x="6343650" y="3228975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Infections and impaired immune defense</a:t>
            </a:r>
          </a:p>
        </p:txBody>
      </p:sp>
      <p:sp>
        <p:nvSpPr>
          <p:cNvPr id="24" name="symptom-table-hline-3">
            <a:extLst>
              <a:ext uri="{FF2B5EF4-FFF2-40B4-BE49-F238E27FC236}">
                <a16:creationId xmlns:a16="http://schemas.microsoft.com/office/drawing/2014/main" id="{ADFA45BA-D464-488C-8BE3-F550725F8BF3}"/>
              </a:ext>
            </a:extLst>
          </p:cNvPr>
          <p:cNvSpPr>
            <a:spLocks noGrp="1"/>
          </p:cNvSpPr>
          <p:nvPr/>
        </p:nvSpPr>
        <p:spPr>
          <a:xfrm>
            <a:off x="4648200" y="4267200"/>
            <a:ext cx="40576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5" name="symptom-table-cell-3-0">
            <a:extLst>
              <a:ext uri="{FF2B5EF4-FFF2-40B4-BE49-F238E27FC236}">
                <a16:creationId xmlns:a16="http://schemas.microsoft.com/office/drawing/2014/main" id="{4A4A003E-731D-4A6B-9B82-CD55BEA47ED8}"/>
              </a:ext>
            </a:extLst>
          </p:cNvPr>
          <p:cNvSpPr>
            <a:spLocks noGrp="1"/>
          </p:cNvSpPr>
          <p:nvPr/>
        </p:nvSpPr>
        <p:spPr>
          <a:xfrm>
            <a:off x="4743450" y="3781425"/>
            <a:ext cx="142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1">
                <a:solidFill>
                  <a:srgbClr val="314B59"/>
                </a:solidFill>
              </a:defRPr>
            </a:pPr>
            <a:r>
              <a:rPr sz="1200" b="1">
                <a:solidFill>
                  <a:srgbClr val="314B59"/>
                </a:solidFill>
              </a:rPr>
              <a:t>Platelets</a:t>
            </a:r>
          </a:p>
        </p:txBody>
      </p:sp>
      <p:sp>
        <p:nvSpPr>
          <p:cNvPr id="26" name="symptom-table-vline-3-1">
            <a:extLst>
              <a:ext uri="{FF2B5EF4-FFF2-40B4-BE49-F238E27FC236}">
                <a16:creationId xmlns:a16="http://schemas.microsoft.com/office/drawing/2014/main" id="{301F23D5-9981-443B-A2DD-B40ADBD18D47}"/>
              </a:ext>
            </a:extLst>
          </p:cNvPr>
          <p:cNvSpPr>
            <a:spLocks noGrp="1"/>
          </p:cNvSpPr>
          <p:nvPr/>
        </p:nvSpPr>
        <p:spPr>
          <a:xfrm>
            <a:off x="6248400" y="3714750"/>
            <a:ext cx="9525" cy="5524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7" name="symptom-table-cell-3-1">
            <a:extLst>
              <a:ext uri="{FF2B5EF4-FFF2-40B4-BE49-F238E27FC236}">
                <a16:creationId xmlns:a16="http://schemas.microsoft.com/office/drawing/2014/main" id="{9433AEA8-08C2-4CBC-9961-2627B18C6A7E}"/>
              </a:ext>
            </a:extLst>
          </p:cNvPr>
          <p:cNvSpPr>
            <a:spLocks noGrp="1"/>
          </p:cNvSpPr>
          <p:nvPr/>
        </p:nvSpPr>
        <p:spPr>
          <a:xfrm>
            <a:off x="6343650" y="3781425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Bruising, bleeding, petechiae</a:t>
            </a:r>
          </a:p>
        </p:txBody>
      </p:sp>
      <p:sp>
        <p:nvSpPr>
          <p:cNvPr id="28" name="section-rule-Disease course">
            <a:extLst>
              <a:ext uri="{FF2B5EF4-FFF2-40B4-BE49-F238E27FC236}">
                <a16:creationId xmlns:a16="http://schemas.microsoft.com/office/drawing/2014/main" id="{ED8FC645-78CA-47C5-A91F-B9FF1A3D56CA}"/>
              </a:ext>
            </a:extLst>
          </p:cNvPr>
          <p:cNvSpPr>
            <a:spLocks noGrp="1"/>
          </p:cNvSpPr>
          <p:nvPr/>
        </p:nvSpPr>
        <p:spPr>
          <a:xfrm>
            <a:off x="9220200" y="2266950"/>
            <a:ext cx="1809750" cy="20955"/>
          </a:xfrm>
          <a:prstGeom prst="rect">
            <a:avLst/>
          </a:prstGeom>
          <a:solidFill>
            <a:srgbClr val="B45F2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ection-title-Disease course">
            <a:extLst>
              <a:ext uri="{FF2B5EF4-FFF2-40B4-BE49-F238E27FC236}">
                <a16:creationId xmlns:a16="http://schemas.microsoft.com/office/drawing/2014/main" id="{1BD225FA-2EB8-4948-BA9F-43BA47F6C5D4}"/>
              </a:ext>
            </a:extLst>
          </p:cNvPr>
          <p:cNvSpPr>
            <a:spLocks noGrp="1"/>
          </p:cNvSpPr>
          <p:nvPr/>
        </p:nvSpPr>
        <p:spPr>
          <a:xfrm>
            <a:off x="9220200" y="23622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125" b="1">
                <a:solidFill>
                  <a:srgbClr val="B45F2A"/>
                </a:solidFill>
              </a:defRPr>
            </a:pPr>
            <a:r>
              <a:rPr sz="1125" b="1">
                <a:solidFill>
                  <a:srgbClr val="B45F2A"/>
                </a:solidFill>
              </a:rPr>
              <a:t>DISEASE COURSE</a:t>
            </a:r>
          </a:p>
        </p:txBody>
      </p:sp>
      <p:sp>
        <p:nvSpPr>
          <p:cNvPr id="30" name="course-stat-1">
            <a:extLst>
              <a:ext uri="{FF2B5EF4-FFF2-40B4-BE49-F238E27FC236}">
                <a16:creationId xmlns:a16="http://schemas.microsoft.com/office/drawing/2014/main" id="{E1D2B957-7C7D-42C9-BA5B-F9E16B28A4BF}"/>
              </a:ext>
            </a:extLst>
          </p:cNvPr>
          <p:cNvSpPr>
            <a:spLocks noGrp="1"/>
          </p:cNvSpPr>
          <p:nvPr/>
        </p:nvSpPr>
        <p:spPr>
          <a:xfrm>
            <a:off x="9220200" y="278130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buNone/>
              <a:defRPr sz="2250" b="1">
                <a:solidFill>
                  <a:srgbClr val="0B2F3F"/>
                </a:solidFill>
              </a:defRPr>
            </a:pPr>
            <a:r>
              <a:rPr sz="2250" b="1">
                <a:solidFill>
                  <a:srgbClr val="0B2F3F"/>
                </a:solidFill>
              </a:rPr>
              <a:t>10k-15k</a:t>
            </a:r>
          </a:p>
        </p:txBody>
      </p:sp>
      <p:sp>
        <p:nvSpPr>
          <p:cNvPr id="31" name="course-stat-1-body">
            <a:extLst>
              <a:ext uri="{FF2B5EF4-FFF2-40B4-BE49-F238E27FC236}">
                <a16:creationId xmlns:a16="http://schemas.microsoft.com/office/drawing/2014/main" id="{50FADB5B-AA9D-4AA3-A878-0FF315175E83}"/>
              </a:ext>
            </a:extLst>
          </p:cNvPr>
          <p:cNvSpPr>
            <a:spLocks noGrp="1"/>
          </p:cNvSpPr>
          <p:nvPr/>
        </p:nvSpPr>
        <p:spPr>
          <a:xfrm>
            <a:off x="9220200" y="318135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>
                <a:solidFill>
                  <a:srgbClr val="314B59"/>
                </a:solidFill>
              </a:defRPr>
            </a:pPr>
            <a:r>
              <a:rPr sz="1125" dirty="0">
                <a:solidFill>
                  <a:srgbClr val="314B59"/>
                </a:solidFill>
              </a:rPr>
              <a:t>new U.S. cases diagnosed each year</a:t>
            </a:r>
          </a:p>
        </p:txBody>
      </p:sp>
      <p:sp>
        <p:nvSpPr>
          <p:cNvPr id="32" name="course-stat-2">
            <a:extLst>
              <a:ext uri="{FF2B5EF4-FFF2-40B4-BE49-F238E27FC236}">
                <a16:creationId xmlns:a16="http://schemas.microsoft.com/office/drawing/2014/main" id="{9F371401-FCE5-4FBE-8540-CD110AAB5A9F}"/>
              </a:ext>
            </a:extLst>
          </p:cNvPr>
          <p:cNvSpPr>
            <a:spLocks noGrp="1"/>
          </p:cNvSpPr>
          <p:nvPr/>
        </p:nvSpPr>
        <p:spPr>
          <a:xfrm>
            <a:off x="9220200" y="3829050"/>
            <a:ext cx="1809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buNone/>
              <a:defRPr sz="2250" b="1">
                <a:solidFill>
                  <a:srgbClr val="B45F2A"/>
                </a:solidFill>
              </a:defRPr>
            </a:pPr>
            <a:r>
              <a:rPr sz="2250" b="1">
                <a:solidFill>
                  <a:srgbClr val="B45F2A"/>
                </a:solidFill>
              </a:rPr>
              <a:t>about 1/3</a:t>
            </a:r>
          </a:p>
        </p:txBody>
      </p:sp>
      <p:sp>
        <p:nvSpPr>
          <p:cNvPr id="33" name="course-stat-2-body">
            <a:extLst>
              <a:ext uri="{FF2B5EF4-FFF2-40B4-BE49-F238E27FC236}">
                <a16:creationId xmlns:a16="http://schemas.microsoft.com/office/drawing/2014/main" id="{FE16C807-10EC-4F85-BC61-9DEEC7A14D4C}"/>
              </a:ext>
            </a:extLst>
          </p:cNvPr>
          <p:cNvSpPr>
            <a:spLocks noGrp="1"/>
          </p:cNvSpPr>
          <p:nvPr/>
        </p:nvSpPr>
        <p:spPr>
          <a:xfrm>
            <a:off x="9220200" y="422910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>
                <a:solidFill>
                  <a:srgbClr val="314B59"/>
                </a:solidFill>
              </a:defRPr>
            </a:pPr>
            <a:r>
              <a:rPr sz="1125" dirty="0">
                <a:solidFill>
                  <a:srgbClr val="314B59"/>
                </a:solidFill>
              </a:rPr>
              <a:t>eventually progress to AML</a:t>
            </a:r>
          </a:p>
        </p:txBody>
      </p:sp>
      <p:sp>
        <p:nvSpPr>
          <p:cNvPr id="34" name="course-bottom-rule">
            <a:extLst>
              <a:ext uri="{FF2B5EF4-FFF2-40B4-BE49-F238E27FC236}">
                <a16:creationId xmlns:a16="http://schemas.microsoft.com/office/drawing/2014/main" id="{58B83696-4E94-4D71-A08B-A1C8B8D98FC6}"/>
              </a:ext>
            </a:extLst>
          </p:cNvPr>
          <p:cNvSpPr>
            <a:spLocks noGrp="1"/>
          </p:cNvSpPr>
          <p:nvPr/>
        </p:nvSpPr>
        <p:spPr>
          <a:xfrm>
            <a:off x="876300" y="4953000"/>
            <a:ext cx="10144125" cy="1333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course-strip">
            <a:extLst>
              <a:ext uri="{FF2B5EF4-FFF2-40B4-BE49-F238E27FC236}">
                <a16:creationId xmlns:a16="http://schemas.microsoft.com/office/drawing/2014/main" id="{DB8F7BA8-67AB-4838-B082-BA1E613AC3DD}"/>
              </a:ext>
            </a:extLst>
          </p:cNvPr>
          <p:cNvSpPr>
            <a:spLocks noGrp="1"/>
          </p:cNvSpPr>
          <p:nvPr/>
        </p:nvSpPr>
        <p:spPr>
          <a:xfrm>
            <a:off x="685800" y="5130165"/>
            <a:ext cx="11217579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1350" b="1">
                <a:solidFill>
                  <a:srgbClr val="0B2F3F"/>
                </a:solidFill>
              </a:defRPr>
            </a:pPr>
            <a:r>
              <a:rPr lang="en-US" sz="1350" b="1" dirty="0">
                <a:solidFill>
                  <a:srgbClr val="0B2F3F"/>
                </a:solidFill>
              </a:rPr>
              <a:t>Ineffective hematopoiesis  →  </a:t>
            </a:r>
            <a:r>
              <a:rPr lang="en-US" sz="1350" b="1" dirty="0" err="1">
                <a:solidFill>
                  <a:srgbClr val="0B2F3F"/>
                </a:solidFill>
              </a:rPr>
              <a:t>cytopenias</a:t>
            </a:r>
            <a:r>
              <a:rPr lang="en-US" sz="1350" b="1" dirty="0">
                <a:solidFill>
                  <a:srgbClr val="0B2F3F"/>
                </a:solidFill>
              </a:rPr>
              <a:t> and symptoms  →  heterogeneous survival  →  possible Acute Myeloid Leukemia (AML) transformation</a:t>
            </a:r>
          </a:p>
        </p:txBody>
      </p:sp>
      <p:sp>
        <p:nvSpPr>
          <p:cNvPr id="36" name="takeaway-band">
            <a:extLst>
              <a:ext uri="{FF2B5EF4-FFF2-40B4-BE49-F238E27FC236}">
                <a16:creationId xmlns:a16="http://schemas.microsoft.com/office/drawing/2014/main" id="{7B5422DC-1751-4E57-98CC-B8EC77336F59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820400" cy="55245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7" name="takeaway-label">
            <a:extLst>
              <a:ext uri="{FF2B5EF4-FFF2-40B4-BE49-F238E27FC236}">
                <a16:creationId xmlns:a16="http://schemas.microsoft.com/office/drawing/2014/main" id="{2E3581BB-61E9-4EDA-94A0-49613235691A}"/>
              </a:ext>
            </a:extLst>
          </p:cNvPr>
          <p:cNvSpPr>
            <a:spLocks noGrp="1"/>
          </p:cNvSpPr>
          <p:nvPr/>
        </p:nvSpPr>
        <p:spPr>
          <a:xfrm>
            <a:off x="952500" y="5953125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050" b="1">
                <a:solidFill>
                  <a:srgbClr val="C7E8F2"/>
                </a:solidFill>
              </a:defRPr>
            </a:pPr>
            <a:r>
              <a:rPr sz="1050" b="1">
                <a:solidFill>
                  <a:srgbClr val="C7E8F2"/>
                </a:solidFill>
              </a:rPr>
              <a:t>Clinical context</a:t>
            </a:r>
          </a:p>
        </p:txBody>
      </p:sp>
      <p:sp>
        <p:nvSpPr>
          <p:cNvPr id="38" name="takeaway-text">
            <a:extLst>
              <a:ext uri="{FF2B5EF4-FFF2-40B4-BE49-F238E27FC236}">
                <a16:creationId xmlns:a16="http://schemas.microsoft.com/office/drawing/2014/main" id="{FE632746-5639-4464-9A09-DC5F60FB3756}"/>
              </a:ext>
            </a:extLst>
          </p:cNvPr>
          <p:cNvSpPr>
            <a:spLocks noGrp="1"/>
          </p:cNvSpPr>
          <p:nvPr/>
        </p:nvSpPr>
        <p:spPr>
          <a:xfrm>
            <a:off x="952500" y="6143625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MDS combines marrow failure, symptom burden, and malignant transformation risk.</a:t>
            </a:r>
          </a:p>
        </p:txBody>
      </p:sp>
      <p:sp>
        <p:nvSpPr>
          <p:cNvPr id="39" name="footer">
            <a:extLst>
              <a:ext uri="{FF2B5EF4-FFF2-40B4-BE49-F238E27FC236}">
                <a16:creationId xmlns:a16="http://schemas.microsoft.com/office/drawing/2014/main" id="{FA32222F-E36F-4C0F-A0F2-0E5AFBFB652D}"/>
              </a:ext>
            </a:extLst>
          </p:cNvPr>
          <p:cNvSpPr>
            <a:spLocks noGrp="1"/>
          </p:cNvSpPr>
          <p:nvPr/>
        </p:nvSpPr>
        <p:spPr>
          <a:xfrm>
            <a:off x="8858250" y="65722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r">
              <a:buNone/>
              <a:defRPr sz="750">
                <a:solidFill>
                  <a:srgbClr val="7A8D97"/>
                </a:solidFill>
              </a:defRPr>
            </a:pPr>
            <a:r>
              <a:rPr sz="750">
                <a:solidFill>
                  <a:srgbClr val="7A8D97"/>
                </a:solidFill>
              </a:rPr>
              <a:t>Machine Learning-Based Survival Prediction of Outcomes in MDS</a:t>
            </a:r>
          </a:p>
        </p:txBody>
      </p:sp>
      <p:sp>
        <p:nvSpPr>
          <p:cNvPr id="40" name="source-line-2">
            <a:extLst>
              <a:ext uri="{FF2B5EF4-FFF2-40B4-BE49-F238E27FC236}">
                <a16:creationId xmlns:a16="http://schemas.microsoft.com/office/drawing/2014/main" id="{860BC153-1264-4DB4-A891-C716D15C4B21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42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defRPr sz="788">
                <a:solidFill>
                  <a:srgbClr val="7A8D97"/>
                </a:solidFill>
              </a:defRPr>
            </a:pPr>
            <a:r>
              <a:rPr sz="788">
                <a:solidFill>
                  <a:srgbClr val="7A8D97"/>
                </a:solidFill>
              </a:rPr>
              <a:t>Sources: [15]</a:t>
            </a:r>
          </a:p>
        </p:txBody>
      </p:sp>
    </p:spTree>
    <p:extLst>
      <p:ext uri="{BB962C8B-B14F-4D97-AF65-F5344CB8AC3E}">
        <p14:creationId xmlns:p14="http://schemas.microsoft.com/office/powerpoint/2010/main" val="946737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left-accent-bar">
            <a:extLst>
              <a:ext uri="{FF2B5EF4-FFF2-40B4-BE49-F238E27FC236}">
                <a16:creationId xmlns:a16="http://schemas.microsoft.com/office/drawing/2014/main" id="{1956D6B8-3F7C-4A90-B45F-4953C94067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op-rule">
            <a:extLst>
              <a:ext uri="{FF2B5EF4-FFF2-40B4-BE49-F238E27FC236}">
                <a16:creationId xmlns:a16="http://schemas.microsoft.com/office/drawing/2014/main" id="{76370C9B-87A5-4FAE-A255-88BB20A7B229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19050"/>
          </a:xfrm>
          <a:prstGeom prst="rect">
            <a:avLst/>
          </a:prstGeom>
          <a:solidFill>
            <a:srgbClr val="DDE8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274AFA36-13C7-4B08-B888-E8097B4DCEF5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200" b="1">
                <a:solidFill>
                  <a:srgbClr val="0B4D63"/>
                </a:solidFill>
              </a:defRPr>
            </a:pPr>
            <a:r>
              <a:rPr sz="1200" b="1">
                <a:solidFill>
                  <a:srgbClr val="0B4D63"/>
                </a:solidFill>
              </a:rPr>
              <a:t>MOTIVATION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0A2B8A81-185E-47AE-B769-D6E2949C7ED6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2925" b="1">
                <a:solidFill>
                  <a:srgbClr val="0B2F3F"/>
                </a:solidFill>
              </a:defRPr>
            </a:pPr>
            <a:r>
              <a:rPr sz="2925" b="1">
                <a:solidFill>
                  <a:srgbClr val="0B2F3F"/>
                </a:solidFill>
              </a:rPr>
              <a:t>The Same Diagnosis Can Mean Different Trajectories</a:t>
            </a:r>
          </a:p>
        </p:txBody>
      </p:sp>
      <p:sp>
        <p:nvSpPr>
          <p:cNvPr id="5" name="setup-line">
            <a:extLst>
              <a:ext uri="{FF2B5EF4-FFF2-40B4-BE49-F238E27FC236}">
                <a16:creationId xmlns:a16="http://schemas.microsoft.com/office/drawing/2014/main" id="{B9D3F367-4036-4405-83BF-0DF4C347786B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144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1650">
                <a:solidFill>
                  <a:srgbClr val="2F4653"/>
                </a:solidFill>
              </a:defRPr>
            </a:pPr>
            <a:r>
              <a:rPr sz="1650">
                <a:solidFill>
                  <a:srgbClr val="2F4653"/>
                </a:solidFill>
              </a:rPr>
              <a:t>Risk prediction matters because MDS patients differ widely in survival, progression, and treatment needs.</a:t>
            </a:r>
          </a:p>
        </p:txBody>
      </p:sp>
      <p:sp>
        <p:nvSpPr>
          <p:cNvPr id="6" name="section-rule-Indolent course">
            <a:extLst>
              <a:ext uri="{FF2B5EF4-FFF2-40B4-BE49-F238E27FC236}">
                <a16:creationId xmlns:a16="http://schemas.microsoft.com/office/drawing/2014/main" id="{D71AAC3E-7160-4CB6-8C38-98F8C067C232}"/>
              </a:ext>
            </a:extLst>
          </p:cNvPr>
          <p:cNvSpPr>
            <a:spLocks noGrp="1"/>
          </p:cNvSpPr>
          <p:nvPr/>
        </p:nvSpPr>
        <p:spPr>
          <a:xfrm>
            <a:off x="876300" y="2286000"/>
            <a:ext cx="2857500" cy="20955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ection-title-Indolent course">
            <a:extLst>
              <a:ext uri="{FF2B5EF4-FFF2-40B4-BE49-F238E27FC236}">
                <a16:creationId xmlns:a16="http://schemas.microsoft.com/office/drawing/2014/main" id="{DAB8848C-8685-46B3-930B-DC0BF168A2FC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125" b="1">
                <a:solidFill>
                  <a:srgbClr val="0B4D63"/>
                </a:solidFill>
              </a:defRPr>
            </a:pPr>
            <a:r>
              <a:rPr sz="1125" b="1">
                <a:solidFill>
                  <a:srgbClr val="0B4D63"/>
                </a:solidFill>
              </a:rPr>
              <a:t>INDOLENT COURSE</a:t>
            </a:r>
          </a:p>
        </p:txBody>
      </p:sp>
      <p:sp>
        <p:nvSpPr>
          <p:cNvPr id="8" name="indolent-dot-0">
            <a:extLst>
              <a:ext uri="{FF2B5EF4-FFF2-40B4-BE49-F238E27FC236}">
                <a16:creationId xmlns:a16="http://schemas.microsoft.com/office/drawing/2014/main" id="{E86F58FE-D91B-4730-8045-F08435DE0B6F}"/>
              </a:ext>
            </a:extLst>
          </p:cNvPr>
          <p:cNvSpPr>
            <a:spLocks noGrp="1"/>
          </p:cNvSpPr>
          <p:nvPr/>
        </p:nvSpPr>
        <p:spPr>
          <a:xfrm>
            <a:off x="876300" y="28194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buNone/>
              <a:defRPr sz="1500" b="1">
                <a:solidFill>
                  <a:srgbClr val="0B4D63"/>
                </a:solidFill>
              </a:defRPr>
            </a:pPr>
            <a:r>
              <a:rPr sz="1500" b="1">
                <a:solidFill>
                  <a:srgbClr val="0B4D63"/>
                </a:solidFill>
              </a:rPr>
              <a:t>•</a:t>
            </a:r>
          </a:p>
        </p:txBody>
      </p:sp>
      <p:sp>
        <p:nvSpPr>
          <p:cNvPr id="9" name="indolent-title-0">
            <a:extLst>
              <a:ext uri="{FF2B5EF4-FFF2-40B4-BE49-F238E27FC236}">
                <a16:creationId xmlns:a16="http://schemas.microsoft.com/office/drawing/2014/main" id="{4C3487E5-A6F0-49B0-8FA7-202E9100F842}"/>
              </a:ext>
            </a:extLst>
          </p:cNvPr>
          <p:cNvSpPr>
            <a:spLocks noGrp="1"/>
          </p:cNvSpPr>
          <p:nvPr/>
        </p:nvSpPr>
        <p:spPr>
          <a:xfrm>
            <a:off x="1104900" y="28194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350" b="1">
                <a:solidFill>
                  <a:srgbClr val="0B2F3F"/>
                </a:solidFill>
              </a:defRPr>
            </a:pPr>
            <a:r>
              <a:rPr sz="1350" b="1">
                <a:solidFill>
                  <a:srgbClr val="0B2F3F"/>
                </a:solidFill>
              </a:rPr>
              <a:t>Longer survival horizon</a:t>
            </a:r>
          </a:p>
        </p:txBody>
      </p:sp>
      <p:sp>
        <p:nvSpPr>
          <p:cNvPr id="10" name="indolent-body-0">
            <a:extLst>
              <a:ext uri="{FF2B5EF4-FFF2-40B4-BE49-F238E27FC236}">
                <a16:creationId xmlns:a16="http://schemas.microsoft.com/office/drawing/2014/main" id="{EC8B9328-148F-4FD4-B5EF-A50858BDA96B}"/>
              </a:ext>
            </a:extLst>
          </p:cNvPr>
          <p:cNvSpPr>
            <a:spLocks noGrp="1"/>
          </p:cNvSpPr>
          <p:nvPr/>
        </p:nvSpPr>
        <p:spPr>
          <a:xfrm>
            <a:off x="1104900" y="30480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238">
                <a:solidFill>
                  <a:srgbClr val="314B59"/>
                </a:solidFill>
              </a:defRPr>
            </a:pPr>
            <a:r>
              <a:rPr sz="1238" b="1" dirty="0">
                <a:solidFill>
                  <a:srgbClr val="314B59"/>
                </a:solidFill>
              </a:rPr>
              <a:t>Disease may remain stable for years </a:t>
            </a:r>
            <a:r>
              <a:rPr sz="1238" dirty="0">
                <a:solidFill>
                  <a:srgbClr val="314B59"/>
                </a:solidFill>
              </a:rPr>
              <a:t>with supportive care.</a:t>
            </a:r>
          </a:p>
        </p:txBody>
      </p:sp>
      <p:sp>
        <p:nvSpPr>
          <p:cNvPr id="11" name="indolent-dot-1">
            <a:extLst>
              <a:ext uri="{FF2B5EF4-FFF2-40B4-BE49-F238E27FC236}">
                <a16:creationId xmlns:a16="http://schemas.microsoft.com/office/drawing/2014/main" id="{2EB83BF9-91F8-4208-AE35-E1ED0A86A54B}"/>
              </a:ext>
            </a:extLst>
          </p:cNvPr>
          <p:cNvSpPr>
            <a:spLocks noGrp="1"/>
          </p:cNvSpPr>
          <p:nvPr/>
        </p:nvSpPr>
        <p:spPr>
          <a:xfrm>
            <a:off x="876300" y="36576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buNone/>
              <a:defRPr sz="1500" b="1">
                <a:solidFill>
                  <a:srgbClr val="0B4D63"/>
                </a:solidFill>
              </a:defRPr>
            </a:pPr>
            <a:r>
              <a:rPr sz="1500" b="1">
                <a:solidFill>
                  <a:srgbClr val="0B4D63"/>
                </a:solidFill>
              </a:rPr>
              <a:t>•</a:t>
            </a:r>
          </a:p>
        </p:txBody>
      </p:sp>
      <p:sp>
        <p:nvSpPr>
          <p:cNvPr id="12" name="indolent-title-1">
            <a:extLst>
              <a:ext uri="{FF2B5EF4-FFF2-40B4-BE49-F238E27FC236}">
                <a16:creationId xmlns:a16="http://schemas.microsoft.com/office/drawing/2014/main" id="{3F75BB32-E440-4CDA-B13D-AD3C2FD99CE8}"/>
              </a:ext>
            </a:extLst>
          </p:cNvPr>
          <p:cNvSpPr>
            <a:spLocks noGrp="1"/>
          </p:cNvSpPr>
          <p:nvPr/>
        </p:nvSpPr>
        <p:spPr>
          <a:xfrm>
            <a:off x="1104900" y="36576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350" b="1">
                <a:solidFill>
                  <a:srgbClr val="0B2F3F"/>
                </a:solidFill>
              </a:defRPr>
            </a:pPr>
            <a:r>
              <a:rPr sz="1350" b="1">
                <a:solidFill>
                  <a:srgbClr val="0B2F3F"/>
                </a:solidFill>
              </a:rPr>
              <a:t>Lower immediate AML risk</a:t>
            </a:r>
          </a:p>
        </p:txBody>
      </p:sp>
      <p:sp>
        <p:nvSpPr>
          <p:cNvPr id="13" name="indolent-body-1">
            <a:extLst>
              <a:ext uri="{FF2B5EF4-FFF2-40B4-BE49-F238E27FC236}">
                <a16:creationId xmlns:a16="http://schemas.microsoft.com/office/drawing/2014/main" id="{097BA49D-3E97-4FF9-9BA1-ADC54EB52585}"/>
              </a:ext>
            </a:extLst>
          </p:cNvPr>
          <p:cNvSpPr>
            <a:spLocks noGrp="1"/>
          </p:cNvSpPr>
          <p:nvPr/>
        </p:nvSpPr>
        <p:spPr>
          <a:xfrm>
            <a:off x="1104900" y="38862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238">
                <a:solidFill>
                  <a:srgbClr val="314B59"/>
                </a:solidFill>
              </a:defRPr>
            </a:pPr>
            <a:r>
              <a:rPr sz="1238">
                <a:solidFill>
                  <a:srgbClr val="314B59"/>
                </a:solidFill>
              </a:rPr>
              <a:t>Monitoring and symptom management may dominate early decisions.</a:t>
            </a:r>
          </a:p>
        </p:txBody>
      </p:sp>
      <p:sp>
        <p:nvSpPr>
          <p:cNvPr id="14" name="indolent-dot-2">
            <a:extLst>
              <a:ext uri="{FF2B5EF4-FFF2-40B4-BE49-F238E27FC236}">
                <a16:creationId xmlns:a16="http://schemas.microsoft.com/office/drawing/2014/main" id="{0E4C83C5-DBAD-4F85-83D0-A7965CA01CD9}"/>
              </a:ext>
            </a:extLst>
          </p:cNvPr>
          <p:cNvSpPr>
            <a:spLocks noGrp="1"/>
          </p:cNvSpPr>
          <p:nvPr/>
        </p:nvSpPr>
        <p:spPr>
          <a:xfrm>
            <a:off x="876300" y="44958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buNone/>
              <a:defRPr sz="1500" b="1">
                <a:solidFill>
                  <a:srgbClr val="0B4D63"/>
                </a:solidFill>
              </a:defRPr>
            </a:pPr>
            <a:r>
              <a:rPr sz="1500" b="1">
                <a:solidFill>
                  <a:srgbClr val="0B4D63"/>
                </a:solidFill>
              </a:rPr>
              <a:t>•</a:t>
            </a:r>
          </a:p>
        </p:txBody>
      </p:sp>
      <p:sp>
        <p:nvSpPr>
          <p:cNvPr id="15" name="indolent-title-2">
            <a:extLst>
              <a:ext uri="{FF2B5EF4-FFF2-40B4-BE49-F238E27FC236}">
                <a16:creationId xmlns:a16="http://schemas.microsoft.com/office/drawing/2014/main" id="{A8E99A10-F569-43E8-A316-D17564C8D983}"/>
              </a:ext>
            </a:extLst>
          </p:cNvPr>
          <p:cNvSpPr>
            <a:spLocks noGrp="1"/>
          </p:cNvSpPr>
          <p:nvPr/>
        </p:nvSpPr>
        <p:spPr>
          <a:xfrm>
            <a:off x="1104900" y="44958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350" b="1">
                <a:solidFill>
                  <a:srgbClr val="0B2F3F"/>
                </a:solidFill>
              </a:defRPr>
            </a:pPr>
            <a:r>
              <a:rPr sz="1350" b="1">
                <a:solidFill>
                  <a:srgbClr val="0B2F3F"/>
                </a:solidFill>
              </a:rPr>
              <a:t>Avoid overtreatment</a:t>
            </a:r>
          </a:p>
        </p:txBody>
      </p:sp>
      <p:sp>
        <p:nvSpPr>
          <p:cNvPr id="16" name="indolent-body-2">
            <a:extLst>
              <a:ext uri="{FF2B5EF4-FFF2-40B4-BE49-F238E27FC236}">
                <a16:creationId xmlns:a16="http://schemas.microsoft.com/office/drawing/2014/main" id="{3822D2DD-6F98-4E14-998D-21F9C68E143E}"/>
              </a:ext>
            </a:extLst>
          </p:cNvPr>
          <p:cNvSpPr>
            <a:spLocks noGrp="1"/>
          </p:cNvSpPr>
          <p:nvPr/>
        </p:nvSpPr>
        <p:spPr>
          <a:xfrm>
            <a:off x="1104900" y="47244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238">
                <a:solidFill>
                  <a:srgbClr val="314B59"/>
                </a:solidFill>
              </a:defRPr>
            </a:pPr>
            <a:r>
              <a:rPr sz="1238" dirty="0">
                <a:solidFill>
                  <a:srgbClr val="314B59"/>
                </a:solidFill>
              </a:rPr>
              <a:t>Treatment burden matters when disease is less aggressive.</a:t>
            </a:r>
          </a:p>
        </p:txBody>
      </p:sp>
      <p:sp>
        <p:nvSpPr>
          <p:cNvPr id="17" name="section-rule-Aggressive course">
            <a:extLst>
              <a:ext uri="{FF2B5EF4-FFF2-40B4-BE49-F238E27FC236}">
                <a16:creationId xmlns:a16="http://schemas.microsoft.com/office/drawing/2014/main" id="{71E8EAB7-5901-4DD5-9C34-5B746138CF54}"/>
              </a:ext>
            </a:extLst>
          </p:cNvPr>
          <p:cNvSpPr>
            <a:spLocks noGrp="1"/>
          </p:cNvSpPr>
          <p:nvPr/>
        </p:nvSpPr>
        <p:spPr>
          <a:xfrm>
            <a:off x="4457700" y="2286000"/>
            <a:ext cx="2857500" cy="20955"/>
          </a:xfrm>
          <a:prstGeom prst="rect">
            <a:avLst/>
          </a:prstGeom>
          <a:solidFill>
            <a:srgbClr val="B45F2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ection-title-Aggressive course">
            <a:extLst>
              <a:ext uri="{FF2B5EF4-FFF2-40B4-BE49-F238E27FC236}">
                <a16:creationId xmlns:a16="http://schemas.microsoft.com/office/drawing/2014/main" id="{FC5CD4E6-DB0D-4E48-B63E-102D991E9126}"/>
              </a:ext>
            </a:extLst>
          </p:cNvPr>
          <p:cNvSpPr>
            <a:spLocks noGrp="1"/>
          </p:cNvSpPr>
          <p:nvPr/>
        </p:nvSpPr>
        <p:spPr>
          <a:xfrm>
            <a:off x="4457700" y="23812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125" b="1">
                <a:solidFill>
                  <a:srgbClr val="B45F2A"/>
                </a:solidFill>
              </a:defRPr>
            </a:pPr>
            <a:r>
              <a:rPr sz="1125" b="1">
                <a:solidFill>
                  <a:srgbClr val="B45F2A"/>
                </a:solidFill>
              </a:rPr>
              <a:t>AGGRESSIVE COURSE</a:t>
            </a:r>
          </a:p>
        </p:txBody>
      </p:sp>
      <p:sp>
        <p:nvSpPr>
          <p:cNvPr id="19" name="aggressive-dot-0">
            <a:extLst>
              <a:ext uri="{FF2B5EF4-FFF2-40B4-BE49-F238E27FC236}">
                <a16:creationId xmlns:a16="http://schemas.microsoft.com/office/drawing/2014/main" id="{2763FC3D-D1A5-41E4-855B-12CA8BB1E148}"/>
              </a:ext>
            </a:extLst>
          </p:cNvPr>
          <p:cNvSpPr>
            <a:spLocks noGrp="1"/>
          </p:cNvSpPr>
          <p:nvPr/>
        </p:nvSpPr>
        <p:spPr>
          <a:xfrm>
            <a:off x="4457700" y="28194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buNone/>
              <a:defRPr sz="1500" b="1">
                <a:solidFill>
                  <a:srgbClr val="B45F2A"/>
                </a:solidFill>
              </a:defRPr>
            </a:pPr>
            <a:r>
              <a:rPr sz="1500" b="1">
                <a:solidFill>
                  <a:srgbClr val="B45F2A"/>
                </a:solidFill>
              </a:rPr>
              <a:t>•</a:t>
            </a:r>
          </a:p>
        </p:txBody>
      </p:sp>
      <p:sp>
        <p:nvSpPr>
          <p:cNvPr id="20" name="aggressive-title-0">
            <a:extLst>
              <a:ext uri="{FF2B5EF4-FFF2-40B4-BE49-F238E27FC236}">
                <a16:creationId xmlns:a16="http://schemas.microsoft.com/office/drawing/2014/main" id="{281E59B7-3810-430A-83C1-4AE5D6AF4D85}"/>
              </a:ext>
            </a:extLst>
          </p:cNvPr>
          <p:cNvSpPr>
            <a:spLocks noGrp="1"/>
          </p:cNvSpPr>
          <p:nvPr/>
        </p:nvSpPr>
        <p:spPr>
          <a:xfrm>
            <a:off x="4686300" y="28194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350" b="1">
                <a:solidFill>
                  <a:srgbClr val="0B2F3F"/>
                </a:solidFill>
              </a:defRPr>
            </a:pPr>
            <a:r>
              <a:rPr sz="1350" b="1">
                <a:solidFill>
                  <a:srgbClr val="0B2F3F"/>
                </a:solidFill>
              </a:rPr>
              <a:t>Rapid progression</a:t>
            </a:r>
          </a:p>
        </p:txBody>
      </p:sp>
      <p:sp>
        <p:nvSpPr>
          <p:cNvPr id="21" name="aggressive-body-0">
            <a:extLst>
              <a:ext uri="{FF2B5EF4-FFF2-40B4-BE49-F238E27FC236}">
                <a16:creationId xmlns:a16="http://schemas.microsoft.com/office/drawing/2014/main" id="{FEFA23C8-6B0A-484F-BB80-65E0F8EAFAC1}"/>
              </a:ext>
            </a:extLst>
          </p:cNvPr>
          <p:cNvSpPr>
            <a:spLocks noGrp="1"/>
          </p:cNvSpPr>
          <p:nvPr/>
        </p:nvSpPr>
        <p:spPr>
          <a:xfrm>
            <a:off x="4686300" y="30480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238">
                <a:solidFill>
                  <a:srgbClr val="314B59"/>
                </a:solidFill>
              </a:defRPr>
            </a:pPr>
            <a:r>
              <a:rPr sz="1238">
                <a:solidFill>
                  <a:srgbClr val="314B59"/>
                </a:solidFill>
              </a:rPr>
              <a:t>Some patients deteriorate quickly or transform to AML.</a:t>
            </a:r>
          </a:p>
        </p:txBody>
      </p:sp>
      <p:sp>
        <p:nvSpPr>
          <p:cNvPr id="22" name="aggressive-dot-1">
            <a:extLst>
              <a:ext uri="{FF2B5EF4-FFF2-40B4-BE49-F238E27FC236}">
                <a16:creationId xmlns:a16="http://schemas.microsoft.com/office/drawing/2014/main" id="{4D54BD45-1CCB-454D-9E83-7F10A43D2D20}"/>
              </a:ext>
            </a:extLst>
          </p:cNvPr>
          <p:cNvSpPr>
            <a:spLocks noGrp="1"/>
          </p:cNvSpPr>
          <p:nvPr/>
        </p:nvSpPr>
        <p:spPr>
          <a:xfrm>
            <a:off x="4457700" y="36576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buNone/>
              <a:defRPr sz="1500" b="1">
                <a:solidFill>
                  <a:srgbClr val="B45F2A"/>
                </a:solidFill>
              </a:defRPr>
            </a:pPr>
            <a:r>
              <a:rPr sz="1500" b="1">
                <a:solidFill>
                  <a:srgbClr val="B45F2A"/>
                </a:solidFill>
              </a:rPr>
              <a:t>•</a:t>
            </a:r>
          </a:p>
        </p:txBody>
      </p:sp>
      <p:sp>
        <p:nvSpPr>
          <p:cNvPr id="23" name="aggressive-title-1">
            <a:extLst>
              <a:ext uri="{FF2B5EF4-FFF2-40B4-BE49-F238E27FC236}">
                <a16:creationId xmlns:a16="http://schemas.microsoft.com/office/drawing/2014/main" id="{8DCA08AC-F256-4617-A3A2-E0E7500A990E}"/>
              </a:ext>
            </a:extLst>
          </p:cNvPr>
          <p:cNvSpPr>
            <a:spLocks noGrp="1"/>
          </p:cNvSpPr>
          <p:nvPr/>
        </p:nvSpPr>
        <p:spPr>
          <a:xfrm>
            <a:off x="4686300" y="36576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350" b="1">
                <a:solidFill>
                  <a:srgbClr val="0B2F3F"/>
                </a:solidFill>
              </a:defRPr>
            </a:pPr>
            <a:r>
              <a:rPr sz="1350" b="1" dirty="0">
                <a:solidFill>
                  <a:srgbClr val="0B2F3F"/>
                </a:solidFill>
              </a:rPr>
              <a:t>Earlier intervention</a:t>
            </a:r>
          </a:p>
        </p:txBody>
      </p:sp>
      <p:sp>
        <p:nvSpPr>
          <p:cNvPr id="24" name="aggressive-body-1">
            <a:extLst>
              <a:ext uri="{FF2B5EF4-FFF2-40B4-BE49-F238E27FC236}">
                <a16:creationId xmlns:a16="http://schemas.microsoft.com/office/drawing/2014/main" id="{B157C505-17F9-4B38-A1A6-CE3427931974}"/>
              </a:ext>
            </a:extLst>
          </p:cNvPr>
          <p:cNvSpPr>
            <a:spLocks noGrp="1"/>
          </p:cNvSpPr>
          <p:nvPr/>
        </p:nvSpPr>
        <p:spPr>
          <a:xfrm>
            <a:off x="4686300" y="38862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238">
                <a:solidFill>
                  <a:srgbClr val="314B59"/>
                </a:solidFill>
              </a:defRPr>
            </a:pPr>
            <a:r>
              <a:rPr sz="1238">
                <a:solidFill>
                  <a:srgbClr val="314B59"/>
                </a:solidFill>
              </a:rPr>
              <a:t>Therapy and transplant discussions may become time-sensitive.</a:t>
            </a:r>
          </a:p>
        </p:txBody>
      </p:sp>
      <p:sp>
        <p:nvSpPr>
          <p:cNvPr id="25" name="aggressive-dot-2">
            <a:extLst>
              <a:ext uri="{FF2B5EF4-FFF2-40B4-BE49-F238E27FC236}">
                <a16:creationId xmlns:a16="http://schemas.microsoft.com/office/drawing/2014/main" id="{4B576C2B-71A0-46B6-95E5-4258C8A2DDBD}"/>
              </a:ext>
            </a:extLst>
          </p:cNvPr>
          <p:cNvSpPr>
            <a:spLocks noGrp="1"/>
          </p:cNvSpPr>
          <p:nvPr/>
        </p:nvSpPr>
        <p:spPr>
          <a:xfrm>
            <a:off x="4457700" y="44958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buNone/>
              <a:defRPr sz="1500" b="1">
                <a:solidFill>
                  <a:srgbClr val="B45F2A"/>
                </a:solidFill>
              </a:defRPr>
            </a:pPr>
            <a:r>
              <a:rPr sz="1500" b="1">
                <a:solidFill>
                  <a:srgbClr val="B45F2A"/>
                </a:solidFill>
              </a:rPr>
              <a:t>•</a:t>
            </a:r>
          </a:p>
        </p:txBody>
      </p:sp>
      <p:sp>
        <p:nvSpPr>
          <p:cNvPr id="26" name="aggressive-title-2">
            <a:extLst>
              <a:ext uri="{FF2B5EF4-FFF2-40B4-BE49-F238E27FC236}">
                <a16:creationId xmlns:a16="http://schemas.microsoft.com/office/drawing/2014/main" id="{23CC8400-A6E9-4536-9943-6DCA6B073FCB}"/>
              </a:ext>
            </a:extLst>
          </p:cNvPr>
          <p:cNvSpPr>
            <a:spLocks noGrp="1"/>
          </p:cNvSpPr>
          <p:nvPr/>
        </p:nvSpPr>
        <p:spPr>
          <a:xfrm>
            <a:off x="4686300" y="44958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350" b="1">
                <a:solidFill>
                  <a:srgbClr val="0B2F3F"/>
                </a:solidFill>
              </a:defRPr>
            </a:pPr>
            <a:r>
              <a:rPr sz="1350" b="1">
                <a:solidFill>
                  <a:srgbClr val="0B2F3F"/>
                </a:solidFill>
              </a:rPr>
              <a:t>Higher clinical uncertainty</a:t>
            </a:r>
          </a:p>
        </p:txBody>
      </p:sp>
      <p:sp>
        <p:nvSpPr>
          <p:cNvPr id="27" name="aggressive-body-2">
            <a:extLst>
              <a:ext uri="{FF2B5EF4-FFF2-40B4-BE49-F238E27FC236}">
                <a16:creationId xmlns:a16="http://schemas.microsoft.com/office/drawing/2014/main" id="{472C7DE5-DEC4-49E8-8831-00883F8DA9DC}"/>
              </a:ext>
            </a:extLst>
          </p:cNvPr>
          <p:cNvSpPr>
            <a:spLocks noGrp="1"/>
          </p:cNvSpPr>
          <p:nvPr/>
        </p:nvSpPr>
        <p:spPr>
          <a:xfrm>
            <a:off x="4686300" y="47244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238">
                <a:solidFill>
                  <a:srgbClr val="314B59"/>
                </a:solidFill>
              </a:defRPr>
            </a:pPr>
            <a:r>
              <a:rPr sz="1238" b="1" dirty="0">
                <a:solidFill>
                  <a:srgbClr val="314B59"/>
                </a:solidFill>
              </a:rPr>
              <a:t>Risk estimates need to be individualized, not only group-based.</a:t>
            </a:r>
          </a:p>
        </p:txBody>
      </p:sp>
      <p:sp>
        <p:nvSpPr>
          <p:cNvPr id="28" name="section-rule-Decisions informed by prognosis">
            <a:extLst>
              <a:ext uri="{FF2B5EF4-FFF2-40B4-BE49-F238E27FC236}">
                <a16:creationId xmlns:a16="http://schemas.microsoft.com/office/drawing/2014/main" id="{7FD74C9C-5CE2-46C7-B65D-487F4551ECC7}"/>
              </a:ext>
            </a:extLst>
          </p:cNvPr>
          <p:cNvSpPr>
            <a:spLocks noGrp="1"/>
          </p:cNvSpPr>
          <p:nvPr/>
        </p:nvSpPr>
        <p:spPr>
          <a:xfrm>
            <a:off x="8039100" y="2286000"/>
            <a:ext cx="2905125" cy="20955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ection-title-Decisions informed by prognosis">
            <a:extLst>
              <a:ext uri="{FF2B5EF4-FFF2-40B4-BE49-F238E27FC236}">
                <a16:creationId xmlns:a16="http://schemas.microsoft.com/office/drawing/2014/main" id="{41FD5745-633B-443E-99BE-D9AD99F64CC1}"/>
              </a:ext>
            </a:extLst>
          </p:cNvPr>
          <p:cNvSpPr>
            <a:spLocks noGrp="1"/>
          </p:cNvSpPr>
          <p:nvPr/>
        </p:nvSpPr>
        <p:spPr>
          <a:xfrm>
            <a:off x="8039100" y="2381250"/>
            <a:ext cx="2905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125" b="1">
                <a:solidFill>
                  <a:srgbClr val="0B4D63"/>
                </a:solidFill>
              </a:defRPr>
            </a:pPr>
            <a:r>
              <a:rPr sz="1125" b="1">
                <a:solidFill>
                  <a:srgbClr val="0B4D63"/>
                </a:solidFill>
              </a:rPr>
              <a:t>DECISIONS INFORMED BY PROGNOSIS</a:t>
            </a:r>
          </a:p>
        </p:txBody>
      </p:sp>
      <p:sp>
        <p:nvSpPr>
          <p:cNvPr id="30" name="decision-table-bg">
            <a:extLst>
              <a:ext uri="{FF2B5EF4-FFF2-40B4-BE49-F238E27FC236}">
                <a16:creationId xmlns:a16="http://schemas.microsoft.com/office/drawing/2014/main" id="{3834EA58-FE5B-4AE4-9C10-391003FCE8A5}"/>
              </a:ext>
            </a:extLst>
          </p:cNvPr>
          <p:cNvSpPr>
            <a:spLocks noGrp="1"/>
          </p:cNvSpPr>
          <p:nvPr/>
        </p:nvSpPr>
        <p:spPr>
          <a:xfrm>
            <a:off x="8039100" y="2800350"/>
            <a:ext cx="2971800" cy="1885950"/>
          </a:xfrm>
          <a:prstGeom prst="rect">
            <a:avLst/>
          </a:prstGeom>
          <a:noFill/>
          <a:ln w="9525">
            <a:solidFill>
              <a:srgbClr val="CBDCE3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1" name="decision-table-header-bg">
            <a:extLst>
              <a:ext uri="{FF2B5EF4-FFF2-40B4-BE49-F238E27FC236}">
                <a16:creationId xmlns:a16="http://schemas.microsoft.com/office/drawing/2014/main" id="{0DD104EA-49E3-494D-939E-2FDF423A008B}"/>
              </a:ext>
            </a:extLst>
          </p:cNvPr>
          <p:cNvSpPr>
            <a:spLocks noGrp="1"/>
          </p:cNvSpPr>
          <p:nvPr/>
        </p:nvSpPr>
        <p:spPr>
          <a:xfrm>
            <a:off x="8039100" y="2800350"/>
            <a:ext cx="2971800" cy="34290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2" name="decision-table-hline-0">
            <a:extLst>
              <a:ext uri="{FF2B5EF4-FFF2-40B4-BE49-F238E27FC236}">
                <a16:creationId xmlns:a16="http://schemas.microsoft.com/office/drawing/2014/main" id="{3B4A4284-CFA3-4EF9-A1A7-9051C5F31AB9}"/>
              </a:ext>
            </a:extLst>
          </p:cNvPr>
          <p:cNvSpPr>
            <a:spLocks noGrp="1"/>
          </p:cNvSpPr>
          <p:nvPr/>
        </p:nvSpPr>
        <p:spPr>
          <a:xfrm>
            <a:off x="8039100" y="3143250"/>
            <a:ext cx="297180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3" name="decision-table-cell-0-0">
            <a:extLst>
              <a:ext uri="{FF2B5EF4-FFF2-40B4-BE49-F238E27FC236}">
                <a16:creationId xmlns:a16="http://schemas.microsoft.com/office/drawing/2014/main" id="{353603FD-FFA3-4902-84E2-D50717DB993A}"/>
              </a:ext>
            </a:extLst>
          </p:cNvPr>
          <p:cNvSpPr>
            <a:spLocks noGrp="1"/>
          </p:cNvSpPr>
          <p:nvPr/>
        </p:nvSpPr>
        <p:spPr>
          <a:xfrm>
            <a:off x="8134350" y="286702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Decision area</a:t>
            </a:r>
          </a:p>
        </p:txBody>
      </p:sp>
      <p:sp>
        <p:nvSpPr>
          <p:cNvPr id="34" name="decision-table-vline-0-1">
            <a:extLst>
              <a:ext uri="{FF2B5EF4-FFF2-40B4-BE49-F238E27FC236}">
                <a16:creationId xmlns:a16="http://schemas.microsoft.com/office/drawing/2014/main" id="{BF5B5D41-C575-474F-91B6-2C35E27901D0}"/>
              </a:ext>
            </a:extLst>
          </p:cNvPr>
          <p:cNvSpPr>
            <a:spLocks noGrp="1"/>
          </p:cNvSpPr>
          <p:nvPr/>
        </p:nvSpPr>
        <p:spPr>
          <a:xfrm>
            <a:off x="9467850" y="2800350"/>
            <a:ext cx="9525" cy="3429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5" name="decision-table-cell-0-1">
            <a:extLst>
              <a:ext uri="{FF2B5EF4-FFF2-40B4-BE49-F238E27FC236}">
                <a16:creationId xmlns:a16="http://schemas.microsoft.com/office/drawing/2014/main" id="{5568AADE-CDB0-42EA-8E2C-33B5DB68269B}"/>
              </a:ext>
            </a:extLst>
          </p:cNvPr>
          <p:cNvSpPr>
            <a:spLocks noGrp="1"/>
          </p:cNvSpPr>
          <p:nvPr/>
        </p:nvSpPr>
        <p:spPr>
          <a:xfrm>
            <a:off x="9563100" y="2867025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How risk helps</a:t>
            </a:r>
          </a:p>
        </p:txBody>
      </p:sp>
      <p:sp>
        <p:nvSpPr>
          <p:cNvPr id="36" name="decision-table-hline-1">
            <a:extLst>
              <a:ext uri="{FF2B5EF4-FFF2-40B4-BE49-F238E27FC236}">
                <a16:creationId xmlns:a16="http://schemas.microsoft.com/office/drawing/2014/main" id="{9CE69557-9B03-4B0D-8830-ACA01063D38E}"/>
              </a:ext>
            </a:extLst>
          </p:cNvPr>
          <p:cNvSpPr>
            <a:spLocks noGrp="1"/>
          </p:cNvSpPr>
          <p:nvPr/>
        </p:nvSpPr>
        <p:spPr>
          <a:xfrm>
            <a:off x="8039100" y="3657600"/>
            <a:ext cx="297180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7" name="decision-table-cell-1-0">
            <a:extLst>
              <a:ext uri="{FF2B5EF4-FFF2-40B4-BE49-F238E27FC236}">
                <a16:creationId xmlns:a16="http://schemas.microsoft.com/office/drawing/2014/main" id="{0C66CCD5-7A5B-463E-B404-E612C4149FE8}"/>
              </a:ext>
            </a:extLst>
          </p:cNvPr>
          <p:cNvSpPr>
            <a:spLocks noGrp="1"/>
          </p:cNvSpPr>
          <p:nvPr/>
        </p:nvSpPr>
        <p:spPr>
          <a:xfrm>
            <a:off x="8134350" y="3209925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314B59"/>
                </a:solidFill>
              </a:defRPr>
            </a:pPr>
            <a:r>
              <a:rPr sz="1200" b="1">
                <a:solidFill>
                  <a:srgbClr val="314B59"/>
                </a:solidFill>
              </a:rPr>
              <a:t>Monitoring</a:t>
            </a:r>
          </a:p>
        </p:txBody>
      </p:sp>
      <p:sp>
        <p:nvSpPr>
          <p:cNvPr id="38" name="decision-table-vline-1-1">
            <a:extLst>
              <a:ext uri="{FF2B5EF4-FFF2-40B4-BE49-F238E27FC236}">
                <a16:creationId xmlns:a16="http://schemas.microsoft.com/office/drawing/2014/main" id="{0AB6E2B8-0BA5-4DDD-8A05-56BAE335E49F}"/>
              </a:ext>
            </a:extLst>
          </p:cNvPr>
          <p:cNvSpPr>
            <a:spLocks noGrp="1"/>
          </p:cNvSpPr>
          <p:nvPr/>
        </p:nvSpPr>
        <p:spPr>
          <a:xfrm>
            <a:off x="9467850" y="3143250"/>
            <a:ext cx="9525" cy="5143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9" name="decision-table-cell-1-1">
            <a:extLst>
              <a:ext uri="{FF2B5EF4-FFF2-40B4-BE49-F238E27FC236}">
                <a16:creationId xmlns:a16="http://schemas.microsoft.com/office/drawing/2014/main" id="{0F199C7C-46BA-4782-9014-0591C8C2A844}"/>
              </a:ext>
            </a:extLst>
          </p:cNvPr>
          <p:cNvSpPr>
            <a:spLocks noGrp="1"/>
          </p:cNvSpPr>
          <p:nvPr/>
        </p:nvSpPr>
        <p:spPr>
          <a:xfrm>
            <a:off x="9563100" y="3209925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How often to follow patients</a:t>
            </a:r>
          </a:p>
        </p:txBody>
      </p:sp>
      <p:sp>
        <p:nvSpPr>
          <p:cNvPr id="40" name="decision-table-stripe-2">
            <a:extLst>
              <a:ext uri="{FF2B5EF4-FFF2-40B4-BE49-F238E27FC236}">
                <a16:creationId xmlns:a16="http://schemas.microsoft.com/office/drawing/2014/main" id="{8344B67C-5204-4E5A-B768-500AF2E58043}"/>
              </a:ext>
            </a:extLst>
          </p:cNvPr>
          <p:cNvSpPr>
            <a:spLocks noGrp="1"/>
          </p:cNvSpPr>
          <p:nvPr/>
        </p:nvSpPr>
        <p:spPr>
          <a:xfrm>
            <a:off x="8039100" y="3657600"/>
            <a:ext cx="2971800" cy="514350"/>
          </a:xfrm>
          <a:prstGeom prst="rect">
            <a:avLst/>
          </a:prstGeom>
          <a:solidFill>
            <a:srgbClr val="F1F6F8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1" name="decision-table-hline-2">
            <a:extLst>
              <a:ext uri="{FF2B5EF4-FFF2-40B4-BE49-F238E27FC236}">
                <a16:creationId xmlns:a16="http://schemas.microsoft.com/office/drawing/2014/main" id="{C7969475-BD26-489E-BF0C-BAAEEEE480C3}"/>
              </a:ext>
            </a:extLst>
          </p:cNvPr>
          <p:cNvSpPr>
            <a:spLocks noGrp="1"/>
          </p:cNvSpPr>
          <p:nvPr/>
        </p:nvSpPr>
        <p:spPr>
          <a:xfrm>
            <a:off x="8039100" y="4171950"/>
            <a:ext cx="297180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2" name="decision-table-cell-2-0">
            <a:extLst>
              <a:ext uri="{FF2B5EF4-FFF2-40B4-BE49-F238E27FC236}">
                <a16:creationId xmlns:a16="http://schemas.microsoft.com/office/drawing/2014/main" id="{E848242A-CB4E-430D-A0D5-35797155FCFF}"/>
              </a:ext>
            </a:extLst>
          </p:cNvPr>
          <p:cNvSpPr>
            <a:spLocks noGrp="1"/>
          </p:cNvSpPr>
          <p:nvPr/>
        </p:nvSpPr>
        <p:spPr>
          <a:xfrm>
            <a:off x="8134350" y="3724275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314B59"/>
                </a:solidFill>
              </a:defRPr>
            </a:pPr>
            <a:r>
              <a:rPr sz="1200" b="1">
                <a:solidFill>
                  <a:srgbClr val="314B59"/>
                </a:solidFill>
              </a:rPr>
              <a:t>Therapy</a:t>
            </a:r>
          </a:p>
        </p:txBody>
      </p:sp>
      <p:sp>
        <p:nvSpPr>
          <p:cNvPr id="43" name="decision-table-vline-2-1">
            <a:extLst>
              <a:ext uri="{FF2B5EF4-FFF2-40B4-BE49-F238E27FC236}">
                <a16:creationId xmlns:a16="http://schemas.microsoft.com/office/drawing/2014/main" id="{C0BE9893-D68B-4C0E-BCAF-7B0F4E3C526D}"/>
              </a:ext>
            </a:extLst>
          </p:cNvPr>
          <p:cNvSpPr>
            <a:spLocks noGrp="1"/>
          </p:cNvSpPr>
          <p:nvPr/>
        </p:nvSpPr>
        <p:spPr>
          <a:xfrm>
            <a:off x="9467850" y="3657600"/>
            <a:ext cx="9525" cy="5143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4" name="decision-table-cell-2-1">
            <a:extLst>
              <a:ext uri="{FF2B5EF4-FFF2-40B4-BE49-F238E27FC236}">
                <a16:creationId xmlns:a16="http://schemas.microsoft.com/office/drawing/2014/main" id="{D0BB8A23-7D8B-4111-8320-22FD4A982083}"/>
              </a:ext>
            </a:extLst>
          </p:cNvPr>
          <p:cNvSpPr>
            <a:spLocks noGrp="1"/>
          </p:cNvSpPr>
          <p:nvPr/>
        </p:nvSpPr>
        <p:spPr>
          <a:xfrm>
            <a:off x="9563100" y="3724275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When to escalate treatment</a:t>
            </a:r>
          </a:p>
        </p:txBody>
      </p:sp>
      <p:sp>
        <p:nvSpPr>
          <p:cNvPr id="45" name="decision-table-hline-3">
            <a:extLst>
              <a:ext uri="{FF2B5EF4-FFF2-40B4-BE49-F238E27FC236}">
                <a16:creationId xmlns:a16="http://schemas.microsoft.com/office/drawing/2014/main" id="{A5C6883C-A626-427A-8F3A-B34F58185241}"/>
              </a:ext>
            </a:extLst>
          </p:cNvPr>
          <p:cNvSpPr>
            <a:spLocks noGrp="1"/>
          </p:cNvSpPr>
          <p:nvPr/>
        </p:nvSpPr>
        <p:spPr>
          <a:xfrm>
            <a:off x="8039100" y="4686300"/>
            <a:ext cx="297180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6" name="decision-table-cell-3-0">
            <a:extLst>
              <a:ext uri="{FF2B5EF4-FFF2-40B4-BE49-F238E27FC236}">
                <a16:creationId xmlns:a16="http://schemas.microsoft.com/office/drawing/2014/main" id="{B27FF130-6203-4EBE-BA93-08694372E5D3}"/>
              </a:ext>
            </a:extLst>
          </p:cNvPr>
          <p:cNvSpPr>
            <a:spLocks noGrp="1"/>
          </p:cNvSpPr>
          <p:nvPr/>
        </p:nvSpPr>
        <p:spPr>
          <a:xfrm>
            <a:off x="8134350" y="4238625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314B59"/>
                </a:solidFill>
              </a:defRPr>
            </a:pPr>
            <a:r>
              <a:rPr sz="1200" b="1">
                <a:solidFill>
                  <a:srgbClr val="314B59"/>
                </a:solidFill>
              </a:rPr>
              <a:t>Transplant</a:t>
            </a:r>
          </a:p>
        </p:txBody>
      </p:sp>
      <p:sp>
        <p:nvSpPr>
          <p:cNvPr id="47" name="decision-table-vline-3-1">
            <a:extLst>
              <a:ext uri="{FF2B5EF4-FFF2-40B4-BE49-F238E27FC236}">
                <a16:creationId xmlns:a16="http://schemas.microsoft.com/office/drawing/2014/main" id="{B594A5CB-BF98-4021-9D59-4E69B5570DCE}"/>
              </a:ext>
            </a:extLst>
          </p:cNvPr>
          <p:cNvSpPr>
            <a:spLocks noGrp="1"/>
          </p:cNvSpPr>
          <p:nvPr/>
        </p:nvSpPr>
        <p:spPr>
          <a:xfrm>
            <a:off x="9467850" y="4171950"/>
            <a:ext cx="9525" cy="5143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8" name="decision-table-cell-3-1">
            <a:extLst>
              <a:ext uri="{FF2B5EF4-FFF2-40B4-BE49-F238E27FC236}">
                <a16:creationId xmlns:a16="http://schemas.microsoft.com/office/drawing/2014/main" id="{2F086C64-8FFF-4F4C-B1AC-3A5366BC7051}"/>
              </a:ext>
            </a:extLst>
          </p:cNvPr>
          <p:cNvSpPr>
            <a:spLocks noGrp="1"/>
          </p:cNvSpPr>
          <p:nvPr/>
        </p:nvSpPr>
        <p:spPr>
          <a:xfrm>
            <a:off x="9563100" y="4238625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Who may benefit from allo-HCT</a:t>
            </a:r>
          </a:p>
        </p:txBody>
      </p:sp>
      <p:sp>
        <p:nvSpPr>
          <p:cNvPr id="49" name="takeaway-band">
            <a:extLst>
              <a:ext uri="{FF2B5EF4-FFF2-40B4-BE49-F238E27FC236}">
                <a16:creationId xmlns:a16="http://schemas.microsoft.com/office/drawing/2014/main" id="{75B7D3B0-2962-4D60-90C5-1F12B80575FB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820400" cy="55245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0" name="takeaway-label">
            <a:extLst>
              <a:ext uri="{FF2B5EF4-FFF2-40B4-BE49-F238E27FC236}">
                <a16:creationId xmlns:a16="http://schemas.microsoft.com/office/drawing/2014/main" id="{8F655AAA-39ED-4BF0-BE88-87162CB83C00}"/>
              </a:ext>
            </a:extLst>
          </p:cNvPr>
          <p:cNvSpPr>
            <a:spLocks noGrp="1"/>
          </p:cNvSpPr>
          <p:nvPr/>
        </p:nvSpPr>
        <p:spPr>
          <a:xfrm>
            <a:off x="952500" y="5953125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050" b="1">
                <a:solidFill>
                  <a:srgbClr val="C7E8F2"/>
                </a:solidFill>
              </a:defRPr>
            </a:pPr>
            <a:r>
              <a:rPr sz="1050" b="1">
                <a:solidFill>
                  <a:srgbClr val="C7E8F2"/>
                </a:solidFill>
              </a:rPr>
              <a:t>Motivation</a:t>
            </a:r>
          </a:p>
        </p:txBody>
      </p:sp>
      <p:sp>
        <p:nvSpPr>
          <p:cNvPr id="51" name="takeaway-text">
            <a:extLst>
              <a:ext uri="{FF2B5EF4-FFF2-40B4-BE49-F238E27FC236}">
                <a16:creationId xmlns:a16="http://schemas.microsoft.com/office/drawing/2014/main" id="{76A639A3-FFCE-4061-8121-5E40F9DF84E9}"/>
              </a:ext>
            </a:extLst>
          </p:cNvPr>
          <p:cNvSpPr>
            <a:spLocks noGrp="1"/>
          </p:cNvSpPr>
          <p:nvPr/>
        </p:nvSpPr>
        <p:spPr>
          <a:xfrm>
            <a:off x="952500" y="6143625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The modeling goal is patient-specific survival prediction, not just broad risk grouping.</a:t>
            </a:r>
          </a:p>
        </p:txBody>
      </p:sp>
      <p:sp>
        <p:nvSpPr>
          <p:cNvPr id="52" name="footer">
            <a:extLst>
              <a:ext uri="{FF2B5EF4-FFF2-40B4-BE49-F238E27FC236}">
                <a16:creationId xmlns:a16="http://schemas.microsoft.com/office/drawing/2014/main" id="{B3F106DB-2E5F-4B80-BDE6-4DFE82597C61}"/>
              </a:ext>
            </a:extLst>
          </p:cNvPr>
          <p:cNvSpPr>
            <a:spLocks noGrp="1"/>
          </p:cNvSpPr>
          <p:nvPr/>
        </p:nvSpPr>
        <p:spPr>
          <a:xfrm>
            <a:off x="8858250" y="65722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r">
              <a:buNone/>
              <a:defRPr sz="750">
                <a:solidFill>
                  <a:srgbClr val="7A8D97"/>
                </a:solidFill>
              </a:defRPr>
            </a:pPr>
            <a:r>
              <a:rPr sz="750">
                <a:solidFill>
                  <a:srgbClr val="7A8D97"/>
                </a:solidFill>
              </a:rPr>
              <a:t>Machine Learning-Based Survival Prediction of Outcomes in MDS</a:t>
            </a:r>
          </a:p>
        </p:txBody>
      </p:sp>
      <p:sp>
        <p:nvSpPr>
          <p:cNvPr id="53" name="source-line-3">
            <a:extLst>
              <a:ext uri="{FF2B5EF4-FFF2-40B4-BE49-F238E27FC236}">
                <a16:creationId xmlns:a16="http://schemas.microsoft.com/office/drawing/2014/main" id="{9331AE91-CE9B-4438-A92C-A9FEFBC9C61D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42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defRPr sz="788">
                <a:solidFill>
                  <a:srgbClr val="7A8D97"/>
                </a:solidFill>
              </a:defRPr>
            </a:pPr>
            <a:r>
              <a:rPr sz="788">
                <a:solidFill>
                  <a:srgbClr val="7A8D97"/>
                </a:solidFill>
              </a:rPr>
              <a:t>Sources: [2], [6], [11], [15]</a:t>
            </a:r>
          </a:p>
        </p:txBody>
      </p:sp>
    </p:spTree>
    <p:extLst>
      <p:ext uri="{BB962C8B-B14F-4D97-AF65-F5344CB8AC3E}">
        <p14:creationId xmlns:p14="http://schemas.microsoft.com/office/powerpoint/2010/main" val="946737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left-accent-bar">
            <a:extLst>
              <a:ext uri="{FF2B5EF4-FFF2-40B4-BE49-F238E27FC236}">
                <a16:creationId xmlns:a16="http://schemas.microsoft.com/office/drawing/2014/main" id="{0EB0A7CC-2F0D-4493-AC6B-8FF52A61EE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op-rule">
            <a:extLst>
              <a:ext uri="{FF2B5EF4-FFF2-40B4-BE49-F238E27FC236}">
                <a16:creationId xmlns:a16="http://schemas.microsoft.com/office/drawing/2014/main" id="{A60FA323-BB43-4F42-ACF3-2C821F558D06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19050"/>
          </a:xfrm>
          <a:prstGeom prst="rect">
            <a:avLst/>
          </a:prstGeom>
          <a:solidFill>
            <a:srgbClr val="DDE8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5CC55B44-DE99-4013-9D11-1DEAFCA08DEA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200" b="1">
                <a:solidFill>
                  <a:srgbClr val="0B4D63"/>
                </a:solidFill>
              </a:defRPr>
            </a:pPr>
            <a:r>
              <a:rPr sz="1200" b="1">
                <a:solidFill>
                  <a:srgbClr val="0B4D63"/>
                </a:solidFill>
              </a:rPr>
              <a:t>RELATED WORK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0961B547-A637-4C1B-B29A-63619A7BFFD4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2925" b="1">
                <a:solidFill>
                  <a:srgbClr val="0B2F3F"/>
                </a:solidFill>
              </a:defRPr>
            </a:pPr>
            <a:r>
              <a:rPr sz="2925" b="1">
                <a:solidFill>
                  <a:srgbClr val="0B2F3F"/>
                </a:solidFill>
              </a:rPr>
              <a:t>Strong Clinical Baselines, Open ML Questions</a:t>
            </a:r>
          </a:p>
        </p:txBody>
      </p:sp>
      <p:sp>
        <p:nvSpPr>
          <p:cNvPr id="5" name="setup-line">
            <a:extLst>
              <a:ext uri="{FF2B5EF4-FFF2-40B4-BE49-F238E27FC236}">
                <a16:creationId xmlns:a16="http://schemas.microsoft.com/office/drawing/2014/main" id="{41F05B46-920B-4126-AE9D-F02DE943DEE3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144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1650">
                <a:solidFill>
                  <a:srgbClr val="2F4653"/>
                </a:solidFill>
              </a:defRPr>
            </a:pPr>
            <a:r>
              <a:rPr sz="1650">
                <a:solidFill>
                  <a:srgbClr val="2F4653"/>
                </a:solidFill>
              </a:rPr>
              <a:t>MDS prognosis has evolved from clinical scoring systems to molecularly informed models.</a:t>
            </a:r>
          </a:p>
        </p:txBody>
      </p:sp>
      <p:sp>
        <p:nvSpPr>
          <p:cNvPr id="6" name="related-table-bg">
            <a:extLst>
              <a:ext uri="{FF2B5EF4-FFF2-40B4-BE49-F238E27FC236}">
                <a16:creationId xmlns:a16="http://schemas.microsoft.com/office/drawing/2014/main" id="{043D5C70-CC05-4C30-950D-1C534145E3FB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10334625" cy="2533650"/>
          </a:xfrm>
          <a:prstGeom prst="rect">
            <a:avLst/>
          </a:prstGeom>
          <a:noFill/>
          <a:ln w="9525">
            <a:solidFill>
              <a:srgbClr val="CBDCE3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7" name="related-table-header-bg">
            <a:extLst>
              <a:ext uri="{FF2B5EF4-FFF2-40B4-BE49-F238E27FC236}">
                <a16:creationId xmlns:a16="http://schemas.microsoft.com/office/drawing/2014/main" id="{5D647CAF-C08E-4A47-979B-FD558A46D423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10334625" cy="36195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8" name="related-table-hline-0">
            <a:extLst>
              <a:ext uri="{FF2B5EF4-FFF2-40B4-BE49-F238E27FC236}">
                <a16:creationId xmlns:a16="http://schemas.microsoft.com/office/drawing/2014/main" id="{5F1D8F43-5772-4E04-9F7D-BD780E10D33F}"/>
              </a:ext>
            </a:extLst>
          </p:cNvPr>
          <p:cNvSpPr>
            <a:spLocks noGrp="1"/>
          </p:cNvSpPr>
          <p:nvPr/>
        </p:nvSpPr>
        <p:spPr>
          <a:xfrm>
            <a:off x="781050" y="2609850"/>
            <a:ext cx="10334625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9" name="related-table-cell-0-0">
            <a:extLst>
              <a:ext uri="{FF2B5EF4-FFF2-40B4-BE49-F238E27FC236}">
                <a16:creationId xmlns:a16="http://schemas.microsoft.com/office/drawing/2014/main" id="{BD687A38-B5FD-4524-A96B-0A0F92F5836D}"/>
              </a:ext>
            </a:extLst>
          </p:cNvPr>
          <p:cNvSpPr>
            <a:spLocks noGrp="1"/>
          </p:cNvSpPr>
          <p:nvPr/>
        </p:nvSpPr>
        <p:spPr>
          <a:xfrm>
            <a:off x="876300" y="2314575"/>
            <a:ext cx="1447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Approach</a:t>
            </a:r>
          </a:p>
        </p:txBody>
      </p:sp>
      <p:sp>
        <p:nvSpPr>
          <p:cNvPr id="10" name="related-table-vline-0-1">
            <a:extLst>
              <a:ext uri="{FF2B5EF4-FFF2-40B4-BE49-F238E27FC236}">
                <a16:creationId xmlns:a16="http://schemas.microsoft.com/office/drawing/2014/main" id="{5D61D58C-D898-4352-B61F-3B4D20B93EE7}"/>
              </a:ext>
            </a:extLst>
          </p:cNvPr>
          <p:cNvSpPr>
            <a:spLocks noGrp="1"/>
          </p:cNvSpPr>
          <p:nvPr/>
        </p:nvSpPr>
        <p:spPr>
          <a:xfrm>
            <a:off x="2400300" y="2247900"/>
            <a:ext cx="9525" cy="3619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1" name="related-table-cell-0-1">
            <a:extLst>
              <a:ext uri="{FF2B5EF4-FFF2-40B4-BE49-F238E27FC236}">
                <a16:creationId xmlns:a16="http://schemas.microsoft.com/office/drawing/2014/main" id="{BDC2F486-7AA2-49C3-B440-C8FB0F897CCC}"/>
              </a:ext>
            </a:extLst>
          </p:cNvPr>
          <p:cNvSpPr>
            <a:spLocks noGrp="1"/>
          </p:cNvSpPr>
          <p:nvPr/>
        </p:nvSpPr>
        <p:spPr>
          <a:xfrm>
            <a:off x="2495550" y="2314575"/>
            <a:ext cx="23526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Inputs</a:t>
            </a:r>
          </a:p>
        </p:txBody>
      </p:sp>
      <p:sp>
        <p:nvSpPr>
          <p:cNvPr id="12" name="related-table-vline-0-2">
            <a:extLst>
              <a:ext uri="{FF2B5EF4-FFF2-40B4-BE49-F238E27FC236}">
                <a16:creationId xmlns:a16="http://schemas.microsoft.com/office/drawing/2014/main" id="{90807850-9396-438C-AD26-11F7A5571D72}"/>
              </a:ext>
            </a:extLst>
          </p:cNvPr>
          <p:cNvSpPr>
            <a:spLocks noGrp="1"/>
          </p:cNvSpPr>
          <p:nvPr/>
        </p:nvSpPr>
        <p:spPr>
          <a:xfrm>
            <a:off x="4924425" y="2247900"/>
            <a:ext cx="9525" cy="3619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3" name="related-table-cell-0-2">
            <a:extLst>
              <a:ext uri="{FF2B5EF4-FFF2-40B4-BE49-F238E27FC236}">
                <a16:creationId xmlns:a16="http://schemas.microsoft.com/office/drawing/2014/main" id="{D43C2C29-76BC-40C3-BEC0-0A476B48C664}"/>
              </a:ext>
            </a:extLst>
          </p:cNvPr>
          <p:cNvSpPr>
            <a:spLocks noGrp="1"/>
          </p:cNvSpPr>
          <p:nvPr/>
        </p:nvSpPr>
        <p:spPr>
          <a:xfrm>
            <a:off x="5019675" y="2314575"/>
            <a:ext cx="27336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Main contribution</a:t>
            </a:r>
          </a:p>
        </p:txBody>
      </p:sp>
      <p:sp>
        <p:nvSpPr>
          <p:cNvPr id="14" name="related-table-vline-0-3">
            <a:extLst>
              <a:ext uri="{FF2B5EF4-FFF2-40B4-BE49-F238E27FC236}">
                <a16:creationId xmlns:a16="http://schemas.microsoft.com/office/drawing/2014/main" id="{48A4C201-A644-46CE-8B7A-E3F2E216FADB}"/>
              </a:ext>
            </a:extLst>
          </p:cNvPr>
          <p:cNvSpPr>
            <a:spLocks noGrp="1"/>
          </p:cNvSpPr>
          <p:nvPr/>
        </p:nvSpPr>
        <p:spPr>
          <a:xfrm>
            <a:off x="7829550" y="2247900"/>
            <a:ext cx="9525" cy="3619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5" name="related-table-cell-0-3">
            <a:extLst>
              <a:ext uri="{FF2B5EF4-FFF2-40B4-BE49-F238E27FC236}">
                <a16:creationId xmlns:a16="http://schemas.microsoft.com/office/drawing/2014/main" id="{5FB62248-20CC-4075-B7B5-9419E0A67E67}"/>
              </a:ext>
            </a:extLst>
          </p:cNvPr>
          <p:cNvSpPr>
            <a:spLocks noGrp="1"/>
          </p:cNvSpPr>
          <p:nvPr/>
        </p:nvSpPr>
        <p:spPr>
          <a:xfrm>
            <a:off x="7924800" y="2314575"/>
            <a:ext cx="31146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Remaining gap</a:t>
            </a:r>
          </a:p>
        </p:txBody>
      </p:sp>
      <p:sp>
        <p:nvSpPr>
          <p:cNvPr id="16" name="related-table-hline-1">
            <a:extLst>
              <a:ext uri="{FF2B5EF4-FFF2-40B4-BE49-F238E27FC236}">
                <a16:creationId xmlns:a16="http://schemas.microsoft.com/office/drawing/2014/main" id="{1C205D07-DD52-40B6-8CD9-647E53E45576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10334625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7" name="related-table-cell-1-0">
            <a:extLst>
              <a:ext uri="{FF2B5EF4-FFF2-40B4-BE49-F238E27FC236}">
                <a16:creationId xmlns:a16="http://schemas.microsoft.com/office/drawing/2014/main" id="{497BCCEC-7BA2-4BDE-A075-6B36539ADF05}"/>
              </a:ext>
            </a:extLst>
          </p:cNvPr>
          <p:cNvSpPr>
            <a:spLocks noGrp="1"/>
          </p:cNvSpPr>
          <p:nvPr/>
        </p:nvSpPr>
        <p:spPr>
          <a:xfrm>
            <a:off x="876300" y="2676525"/>
            <a:ext cx="1447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0B2F3F"/>
                </a:solidFill>
              </a:defRPr>
            </a:pPr>
            <a:r>
              <a:rPr sz="1200" b="1">
                <a:solidFill>
                  <a:srgbClr val="0B2F3F"/>
                </a:solidFill>
              </a:rPr>
              <a:t>IPSS / IPSS-R</a:t>
            </a:r>
          </a:p>
        </p:txBody>
      </p:sp>
      <p:sp>
        <p:nvSpPr>
          <p:cNvPr id="18" name="related-table-vline-1-1">
            <a:extLst>
              <a:ext uri="{FF2B5EF4-FFF2-40B4-BE49-F238E27FC236}">
                <a16:creationId xmlns:a16="http://schemas.microsoft.com/office/drawing/2014/main" id="{8B8D5C4B-757E-4194-BB98-1AC9034E9C5C}"/>
              </a:ext>
            </a:extLst>
          </p:cNvPr>
          <p:cNvSpPr>
            <a:spLocks noGrp="1"/>
          </p:cNvSpPr>
          <p:nvPr/>
        </p:nvSpPr>
        <p:spPr>
          <a:xfrm>
            <a:off x="2400300" y="2609850"/>
            <a:ext cx="9525" cy="7239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9" name="related-table-cell-1-1">
            <a:extLst>
              <a:ext uri="{FF2B5EF4-FFF2-40B4-BE49-F238E27FC236}">
                <a16:creationId xmlns:a16="http://schemas.microsoft.com/office/drawing/2014/main" id="{875F28F5-0564-40CB-8AA7-F5969F06A536}"/>
              </a:ext>
            </a:extLst>
          </p:cNvPr>
          <p:cNvSpPr>
            <a:spLocks noGrp="1"/>
          </p:cNvSpPr>
          <p:nvPr/>
        </p:nvSpPr>
        <p:spPr>
          <a:xfrm>
            <a:off x="2495550" y="2676525"/>
            <a:ext cx="23526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Clinical and cytogenetic variables</a:t>
            </a:r>
          </a:p>
        </p:txBody>
      </p:sp>
      <p:sp>
        <p:nvSpPr>
          <p:cNvPr id="20" name="related-table-vline-1-2">
            <a:extLst>
              <a:ext uri="{FF2B5EF4-FFF2-40B4-BE49-F238E27FC236}">
                <a16:creationId xmlns:a16="http://schemas.microsoft.com/office/drawing/2014/main" id="{F844A034-51A3-4B36-A80E-10F6E39F9F80}"/>
              </a:ext>
            </a:extLst>
          </p:cNvPr>
          <p:cNvSpPr>
            <a:spLocks noGrp="1"/>
          </p:cNvSpPr>
          <p:nvPr/>
        </p:nvSpPr>
        <p:spPr>
          <a:xfrm>
            <a:off x="4924425" y="2609850"/>
            <a:ext cx="9525" cy="7239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1" name="related-table-cell-1-2">
            <a:extLst>
              <a:ext uri="{FF2B5EF4-FFF2-40B4-BE49-F238E27FC236}">
                <a16:creationId xmlns:a16="http://schemas.microsoft.com/office/drawing/2014/main" id="{57B88AC7-1F1F-4F4B-AD47-A33F9B6E37FE}"/>
              </a:ext>
            </a:extLst>
          </p:cNvPr>
          <p:cNvSpPr>
            <a:spLocks noGrp="1"/>
          </p:cNvSpPr>
          <p:nvPr/>
        </p:nvSpPr>
        <p:spPr>
          <a:xfrm>
            <a:off x="5019675" y="2676525"/>
            <a:ext cx="27336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1" dirty="0">
                <a:solidFill>
                  <a:srgbClr val="314B59"/>
                </a:solidFill>
              </a:rPr>
              <a:t>Long-standing global standards for MDS risk stratification</a:t>
            </a:r>
          </a:p>
        </p:txBody>
      </p:sp>
      <p:sp>
        <p:nvSpPr>
          <p:cNvPr id="22" name="related-table-vline-1-3">
            <a:extLst>
              <a:ext uri="{FF2B5EF4-FFF2-40B4-BE49-F238E27FC236}">
                <a16:creationId xmlns:a16="http://schemas.microsoft.com/office/drawing/2014/main" id="{D60CD780-82CC-4CB3-9D04-05D68FE7486C}"/>
              </a:ext>
            </a:extLst>
          </p:cNvPr>
          <p:cNvSpPr>
            <a:spLocks noGrp="1"/>
          </p:cNvSpPr>
          <p:nvPr/>
        </p:nvSpPr>
        <p:spPr>
          <a:xfrm>
            <a:off x="7829550" y="2609850"/>
            <a:ext cx="9525" cy="7239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3" name="related-table-cell-1-3">
            <a:extLst>
              <a:ext uri="{FF2B5EF4-FFF2-40B4-BE49-F238E27FC236}">
                <a16:creationId xmlns:a16="http://schemas.microsoft.com/office/drawing/2014/main" id="{8C102929-CE9C-451D-993A-063DE6507073}"/>
              </a:ext>
            </a:extLst>
          </p:cNvPr>
          <p:cNvSpPr>
            <a:spLocks noGrp="1"/>
          </p:cNvSpPr>
          <p:nvPr/>
        </p:nvSpPr>
        <p:spPr>
          <a:xfrm>
            <a:off x="7924800" y="2676525"/>
            <a:ext cx="31146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Risk groups are useful but relatively coarse</a:t>
            </a:r>
          </a:p>
        </p:txBody>
      </p:sp>
      <p:sp>
        <p:nvSpPr>
          <p:cNvPr id="24" name="related-table-stripe-2">
            <a:extLst>
              <a:ext uri="{FF2B5EF4-FFF2-40B4-BE49-F238E27FC236}">
                <a16:creationId xmlns:a16="http://schemas.microsoft.com/office/drawing/2014/main" id="{3DCEA373-84D8-46DB-899D-7928105BA456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10334625" cy="723900"/>
          </a:xfrm>
          <a:prstGeom prst="rect">
            <a:avLst/>
          </a:prstGeom>
          <a:solidFill>
            <a:srgbClr val="F1F6F8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5" name="related-table-hline-2">
            <a:extLst>
              <a:ext uri="{FF2B5EF4-FFF2-40B4-BE49-F238E27FC236}">
                <a16:creationId xmlns:a16="http://schemas.microsoft.com/office/drawing/2014/main" id="{B13F4A5A-3A1C-4D7D-9880-E79A58C63FBE}"/>
              </a:ext>
            </a:extLst>
          </p:cNvPr>
          <p:cNvSpPr>
            <a:spLocks noGrp="1"/>
          </p:cNvSpPr>
          <p:nvPr/>
        </p:nvSpPr>
        <p:spPr>
          <a:xfrm>
            <a:off x="781050" y="4057650"/>
            <a:ext cx="10334625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6" name="related-table-cell-2-0">
            <a:extLst>
              <a:ext uri="{FF2B5EF4-FFF2-40B4-BE49-F238E27FC236}">
                <a16:creationId xmlns:a16="http://schemas.microsoft.com/office/drawing/2014/main" id="{5541CAC3-393C-4C69-A56C-008263005218}"/>
              </a:ext>
            </a:extLst>
          </p:cNvPr>
          <p:cNvSpPr>
            <a:spLocks noGrp="1"/>
          </p:cNvSpPr>
          <p:nvPr/>
        </p:nvSpPr>
        <p:spPr>
          <a:xfrm>
            <a:off x="876300" y="3400425"/>
            <a:ext cx="1447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0B2F3F"/>
                </a:solidFill>
              </a:defRPr>
            </a:pPr>
            <a:r>
              <a:rPr sz="1200" b="1">
                <a:solidFill>
                  <a:srgbClr val="0B2F3F"/>
                </a:solidFill>
              </a:rPr>
              <a:t>IPSS-M</a:t>
            </a:r>
          </a:p>
        </p:txBody>
      </p:sp>
      <p:sp>
        <p:nvSpPr>
          <p:cNvPr id="27" name="related-table-vline-2-1">
            <a:extLst>
              <a:ext uri="{FF2B5EF4-FFF2-40B4-BE49-F238E27FC236}">
                <a16:creationId xmlns:a16="http://schemas.microsoft.com/office/drawing/2014/main" id="{C380D737-DEE5-41C7-AC41-3EA98B6B1BB5}"/>
              </a:ext>
            </a:extLst>
          </p:cNvPr>
          <p:cNvSpPr>
            <a:spLocks noGrp="1"/>
          </p:cNvSpPr>
          <p:nvPr/>
        </p:nvSpPr>
        <p:spPr>
          <a:xfrm>
            <a:off x="2400300" y="3333750"/>
            <a:ext cx="9525" cy="7239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8" name="related-table-cell-2-1">
            <a:extLst>
              <a:ext uri="{FF2B5EF4-FFF2-40B4-BE49-F238E27FC236}">
                <a16:creationId xmlns:a16="http://schemas.microsoft.com/office/drawing/2014/main" id="{A235A480-9C1D-478F-978A-BF1B6DB1FDA3}"/>
              </a:ext>
            </a:extLst>
          </p:cNvPr>
          <p:cNvSpPr>
            <a:spLocks noGrp="1"/>
          </p:cNvSpPr>
          <p:nvPr/>
        </p:nvSpPr>
        <p:spPr>
          <a:xfrm>
            <a:off x="2495550" y="3400425"/>
            <a:ext cx="23526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Clinical, cytogenetic, and molecular features</a:t>
            </a:r>
          </a:p>
        </p:txBody>
      </p:sp>
      <p:sp>
        <p:nvSpPr>
          <p:cNvPr id="29" name="related-table-vline-2-2">
            <a:extLst>
              <a:ext uri="{FF2B5EF4-FFF2-40B4-BE49-F238E27FC236}">
                <a16:creationId xmlns:a16="http://schemas.microsoft.com/office/drawing/2014/main" id="{F216C32C-289E-4ED1-A1A8-B093FEE7219B}"/>
              </a:ext>
            </a:extLst>
          </p:cNvPr>
          <p:cNvSpPr>
            <a:spLocks noGrp="1"/>
          </p:cNvSpPr>
          <p:nvPr/>
        </p:nvSpPr>
        <p:spPr>
          <a:xfrm>
            <a:off x="4924425" y="3333750"/>
            <a:ext cx="9525" cy="7239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0" name="related-table-cell-2-2">
            <a:extLst>
              <a:ext uri="{FF2B5EF4-FFF2-40B4-BE49-F238E27FC236}">
                <a16:creationId xmlns:a16="http://schemas.microsoft.com/office/drawing/2014/main" id="{E2A561F3-AAFB-4E36-A03A-0610C2FE79C3}"/>
              </a:ext>
            </a:extLst>
          </p:cNvPr>
          <p:cNvSpPr>
            <a:spLocks noGrp="1"/>
          </p:cNvSpPr>
          <p:nvPr/>
        </p:nvSpPr>
        <p:spPr>
          <a:xfrm>
            <a:off x="5019675" y="3400425"/>
            <a:ext cx="27336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 dirty="0">
                <a:solidFill>
                  <a:srgbClr val="314B59"/>
                </a:solidFill>
              </a:rPr>
              <a:t>Improves genomic prognostication by incorporating mutations</a:t>
            </a:r>
          </a:p>
        </p:txBody>
      </p:sp>
      <p:sp>
        <p:nvSpPr>
          <p:cNvPr id="31" name="related-table-vline-2-3">
            <a:extLst>
              <a:ext uri="{FF2B5EF4-FFF2-40B4-BE49-F238E27FC236}">
                <a16:creationId xmlns:a16="http://schemas.microsoft.com/office/drawing/2014/main" id="{19BD3570-18D6-4097-8171-5E670F5033DB}"/>
              </a:ext>
            </a:extLst>
          </p:cNvPr>
          <p:cNvSpPr>
            <a:spLocks noGrp="1"/>
          </p:cNvSpPr>
          <p:nvPr/>
        </p:nvSpPr>
        <p:spPr>
          <a:xfrm>
            <a:off x="7829550" y="3333750"/>
            <a:ext cx="9525" cy="7239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2" name="related-table-cell-2-3">
            <a:extLst>
              <a:ext uri="{FF2B5EF4-FFF2-40B4-BE49-F238E27FC236}">
                <a16:creationId xmlns:a16="http://schemas.microsoft.com/office/drawing/2014/main" id="{1C24F96E-E618-4B43-B7CE-1D99CAD95BE5}"/>
              </a:ext>
            </a:extLst>
          </p:cNvPr>
          <p:cNvSpPr>
            <a:spLocks noGrp="1"/>
          </p:cNvSpPr>
          <p:nvPr/>
        </p:nvSpPr>
        <p:spPr>
          <a:xfrm>
            <a:off x="7924800" y="3400425"/>
            <a:ext cx="31146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Still a scoring system rather than a broad model comparison</a:t>
            </a:r>
          </a:p>
        </p:txBody>
      </p:sp>
      <p:sp>
        <p:nvSpPr>
          <p:cNvPr id="33" name="related-table-hline-3">
            <a:extLst>
              <a:ext uri="{FF2B5EF4-FFF2-40B4-BE49-F238E27FC236}">
                <a16:creationId xmlns:a16="http://schemas.microsoft.com/office/drawing/2014/main" id="{AD52B86E-0063-46B2-A3AE-2F86A406CD16}"/>
              </a:ext>
            </a:extLst>
          </p:cNvPr>
          <p:cNvSpPr>
            <a:spLocks noGrp="1"/>
          </p:cNvSpPr>
          <p:nvPr/>
        </p:nvSpPr>
        <p:spPr>
          <a:xfrm>
            <a:off x="781050" y="4781550"/>
            <a:ext cx="10334625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4" name="related-table-cell-3-0">
            <a:extLst>
              <a:ext uri="{FF2B5EF4-FFF2-40B4-BE49-F238E27FC236}">
                <a16:creationId xmlns:a16="http://schemas.microsoft.com/office/drawing/2014/main" id="{553EB397-AC2B-4EC2-911E-2BBFAE1A51B6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1447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0B2F3F"/>
                </a:solidFill>
              </a:defRPr>
            </a:pPr>
            <a:r>
              <a:rPr sz="1200" b="1">
                <a:solidFill>
                  <a:srgbClr val="0B2F3F"/>
                </a:solidFill>
              </a:rPr>
              <a:t>Prior ML work</a:t>
            </a:r>
          </a:p>
        </p:txBody>
      </p:sp>
      <p:sp>
        <p:nvSpPr>
          <p:cNvPr id="35" name="related-table-vline-3-1">
            <a:extLst>
              <a:ext uri="{FF2B5EF4-FFF2-40B4-BE49-F238E27FC236}">
                <a16:creationId xmlns:a16="http://schemas.microsoft.com/office/drawing/2014/main" id="{F09B895F-C99B-4957-B664-42BE933405C5}"/>
              </a:ext>
            </a:extLst>
          </p:cNvPr>
          <p:cNvSpPr>
            <a:spLocks noGrp="1"/>
          </p:cNvSpPr>
          <p:nvPr/>
        </p:nvSpPr>
        <p:spPr>
          <a:xfrm>
            <a:off x="2400300" y="4057650"/>
            <a:ext cx="9525" cy="7239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6" name="related-table-cell-3-1">
            <a:extLst>
              <a:ext uri="{FF2B5EF4-FFF2-40B4-BE49-F238E27FC236}">
                <a16:creationId xmlns:a16="http://schemas.microsoft.com/office/drawing/2014/main" id="{21C440CC-0BB9-46C6-8CFC-85C00ADAF01D}"/>
              </a:ext>
            </a:extLst>
          </p:cNvPr>
          <p:cNvSpPr>
            <a:spLocks noGrp="1"/>
          </p:cNvSpPr>
          <p:nvPr/>
        </p:nvSpPr>
        <p:spPr>
          <a:xfrm>
            <a:off x="2495550" y="4124325"/>
            <a:ext cx="23526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Routine clinical variables in random survival forests</a:t>
            </a:r>
          </a:p>
        </p:txBody>
      </p:sp>
      <p:sp>
        <p:nvSpPr>
          <p:cNvPr id="37" name="related-table-vline-3-2">
            <a:extLst>
              <a:ext uri="{FF2B5EF4-FFF2-40B4-BE49-F238E27FC236}">
                <a16:creationId xmlns:a16="http://schemas.microsoft.com/office/drawing/2014/main" id="{2A44A290-4B87-44B5-96D8-C103BBCADA9F}"/>
              </a:ext>
            </a:extLst>
          </p:cNvPr>
          <p:cNvSpPr>
            <a:spLocks noGrp="1"/>
          </p:cNvSpPr>
          <p:nvPr/>
        </p:nvSpPr>
        <p:spPr>
          <a:xfrm>
            <a:off x="4924425" y="4057650"/>
            <a:ext cx="9525" cy="7239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8" name="related-table-cell-3-2">
            <a:extLst>
              <a:ext uri="{FF2B5EF4-FFF2-40B4-BE49-F238E27FC236}">
                <a16:creationId xmlns:a16="http://schemas.microsoft.com/office/drawing/2014/main" id="{353C9FF6-D2A6-4067-8DA0-11B1C4F7343D}"/>
              </a:ext>
            </a:extLst>
          </p:cNvPr>
          <p:cNvSpPr>
            <a:spLocks noGrp="1"/>
          </p:cNvSpPr>
          <p:nvPr/>
        </p:nvSpPr>
        <p:spPr>
          <a:xfrm>
            <a:off x="5019675" y="4124325"/>
            <a:ext cx="27336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Achieved IPSS-M-comparable accuracy in a large cohort</a:t>
            </a:r>
          </a:p>
        </p:txBody>
      </p:sp>
      <p:sp>
        <p:nvSpPr>
          <p:cNvPr id="39" name="related-table-vline-3-3">
            <a:extLst>
              <a:ext uri="{FF2B5EF4-FFF2-40B4-BE49-F238E27FC236}">
                <a16:creationId xmlns:a16="http://schemas.microsoft.com/office/drawing/2014/main" id="{71914864-176A-4E9B-8FCF-1055C056A10F}"/>
              </a:ext>
            </a:extLst>
          </p:cNvPr>
          <p:cNvSpPr>
            <a:spLocks noGrp="1"/>
          </p:cNvSpPr>
          <p:nvPr/>
        </p:nvSpPr>
        <p:spPr>
          <a:xfrm>
            <a:off x="7829550" y="4057650"/>
            <a:ext cx="9525" cy="7239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0" name="related-table-cell-3-3">
            <a:extLst>
              <a:ext uri="{FF2B5EF4-FFF2-40B4-BE49-F238E27FC236}">
                <a16:creationId xmlns:a16="http://schemas.microsoft.com/office/drawing/2014/main" id="{4BE87631-713C-483B-9456-4F07F3A36214}"/>
              </a:ext>
            </a:extLst>
          </p:cNvPr>
          <p:cNvSpPr>
            <a:spLocks noGrp="1"/>
          </p:cNvSpPr>
          <p:nvPr/>
        </p:nvSpPr>
        <p:spPr>
          <a:xfrm>
            <a:off x="7924800" y="4124325"/>
            <a:ext cx="31146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Modern survival ML models remain less explored</a:t>
            </a:r>
          </a:p>
        </p:txBody>
      </p:sp>
      <p:sp>
        <p:nvSpPr>
          <p:cNvPr id="41" name="bridge">
            <a:extLst>
              <a:ext uri="{FF2B5EF4-FFF2-40B4-BE49-F238E27FC236}">
                <a16:creationId xmlns:a16="http://schemas.microsoft.com/office/drawing/2014/main" id="{CD233A95-4781-4086-83C1-B00D57DA0E7C}"/>
              </a:ext>
            </a:extLst>
          </p:cNvPr>
          <p:cNvSpPr>
            <a:spLocks noGrp="1"/>
          </p:cNvSpPr>
          <p:nvPr/>
        </p:nvSpPr>
        <p:spPr>
          <a:xfrm>
            <a:off x="1066800" y="4838700"/>
            <a:ext cx="952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1500" b="1">
                <a:solidFill>
                  <a:srgbClr val="0B2F3F"/>
                </a:solidFill>
              </a:defRPr>
            </a:pPr>
            <a:r>
              <a:rPr sz="1500" b="1">
                <a:solidFill>
                  <a:srgbClr val="0B2F3F"/>
                </a:solidFill>
              </a:rPr>
              <a:t>This study extends the comparison by evaluating five survival models, four feature sets, and three clinical endpoints.</a:t>
            </a:r>
          </a:p>
        </p:txBody>
      </p:sp>
      <p:sp>
        <p:nvSpPr>
          <p:cNvPr id="42" name="takeaway-band">
            <a:extLst>
              <a:ext uri="{FF2B5EF4-FFF2-40B4-BE49-F238E27FC236}">
                <a16:creationId xmlns:a16="http://schemas.microsoft.com/office/drawing/2014/main" id="{6DC7B9E0-3B3D-45D6-A859-6B4BC6E8B6C5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820400" cy="55245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3" name="takeaway-label">
            <a:extLst>
              <a:ext uri="{FF2B5EF4-FFF2-40B4-BE49-F238E27FC236}">
                <a16:creationId xmlns:a16="http://schemas.microsoft.com/office/drawing/2014/main" id="{55290A68-AF27-4A63-958F-A5B99E6A4CD9}"/>
              </a:ext>
            </a:extLst>
          </p:cNvPr>
          <p:cNvSpPr>
            <a:spLocks noGrp="1"/>
          </p:cNvSpPr>
          <p:nvPr/>
        </p:nvSpPr>
        <p:spPr>
          <a:xfrm>
            <a:off x="952500" y="5953125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050" b="1">
                <a:solidFill>
                  <a:srgbClr val="C7E8F2"/>
                </a:solidFill>
              </a:defRPr>
            </a:pPr>
            <a:r>
              <a:rPr sz="1050" b="1">
                <a:solidFill>
                  <a:srgbClr val="C7E8F2"/>
                </a:solidFill>
              </a:rPr>
              <a:t>Open question</a:t>
            </a:r>
          </a:p>
        </p:txBody>
      </p:sp>
      <p:sp>
        <p:nvSpPr>
          <p:cNvPr id="44" name="takeaway-text">
            <a:extLst>
              <a:ext uri="{FF2B5EF4-FFF2-40B4-BE49-F238E27FC236}">
                <a16:creationId xmlns:a16="http://schemas.microsoft.com/office/drawing/2014/main" id="{D2292D39-35F1-4927-BD4A-ED501D1DD7FC}"/>
              </a:ext>
            </a:extLst>
          </p:cNvPr>
          <p:cNvSpPr>
            <a:spLocks noGrp="1"/>
          </p:cNvSpPr>
          <p:nvPr/>
        </p:nvSpPr>
        <p:spPr>
          <a:xfrm>
            <a:off x="952500" y="6143625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Can ML survival models improve prediction beyond IPSS-M across MDS outcomes?</a:t>
            </a:r>
          </a:p>
        </p:txBody>
      </p:sp>
      <p:sp>
        <p:nvSpPr>
          <p:cNvPr id="45" name="footer">
            <a:extLst>
              <a:ext uri="{FF2B5EF4-FFF2-40B4-BE49-F238E27FC236}">
                <a16:creationId xmlns:a16="http://schemas.microsoft.com/office/drawing/2014/main" id="{7009C0E2-0889-48E9-9867-F74119729F6C}"/>
              </a:ext>
            </a:extLst>
          </p:cNvPr>
          <p:cNvSpPr>
            <a:spLocks noGrp="1"/>
          </p:cNvSpPr>
          <p:nvPr/>
        </p:nvSpPr>
        <p:spPr>
          <a:xfrm>
            <a:off x="8858250" y="65722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r">
              <a:buNone/>
              <a:defRPr sz="750">
                <a:solidFill>
                  <a:srgbClr val="7A8D97"/>
                </a:solidFill>
              </a:defRPr>
            </a:pPr>
            <a:r>
              <a:rPr sz="750">
                <a:solidFill>
                  <a:srgbClr val="7A8D97"/>
                </a:solidFill>
              </a:rPr>
              <a:t>Machine Learning-Based Survival Prediction of Outcomes in MDS</a:t>
            </a:r>
          </a:p>
        </p:txBody>
      </p:sp>
      <p:sp>
        <p:nvSpPr>
          <p:cNvPr id="46" name="source-line-4">
            <a:extLst>
              <a:ext uri="{FF2B5EF4-FFF2-40B4-BE49-F238E27FC236}">
                <a16:creationId xmlns:a16="http://schemas.microsoft.com/office/drawing/2014/main" id="{0C366184-A32C-419E-AFD8-0949958B01C6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42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defRPr sz="788">
                <a:solidFill>
                  <a:srgbClr val="7A8D97"/>
                </a:solidFill>
              </a:defRPr>
            </a:pPr>
            <a:r>
              <a:rPr sz="788">
                <a:solidFill>
                  <a:srgbClr val="7A8D97"/>
                </a:solidFill>
              </a:rPr>
              <a:t>Sources: [1], [2], [6], [11]</a:t>
            </a:r>
          </a:p>
        </p:txBody>
      </p:sp>
    </p:spTree>
    <p:extLst>
      <p:ext uri="{BB962C8B-B14F-4D97-AF65-F5344CB8AC3E}">
        <p14:creationId xmlns:p14="http://schemas.microsoft.com/office/powerpoint/2010/main" val="946737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left-accent-bar">
            <a:extLst>
              <a:ext uri="{FF2B5EF4-FFF2-40B4-BE49-F238E27FC236}">
                <a16:creationId xmlns:a16="http://schemas.microsoft.com/office/drawing/2014/main" id="{D18A964B-3F23-4160-AA3E-1467B5CBED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op-rule">
            <a:extLst>
              <a:ext uri="{FF2B5EF4-FFF2-40B4-BE49-F238E27FC236}">
                <a16:creationId xmlns:a16="http://schemas.microsoft.com/office/drawing/2014/main" id="{417BF51B-B8A5-4DEF-A08D-12CF44362551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19050"/>
          </a:xfrm>
          <a:prstGeom prst="rect">
            <a:avLst/>
          </a:prstGeom>
          <a:solidFill>
            <a:srgbClr val="DDE8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37FEDB63-D610-44BA-A515-1C7692D8CA43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200" b="1">
                <a:solidFill>
                  <a:srgbClr val="0B4D63"/>
                </a:solidFill>
              </a:defRPr>
            </a:pPr>
            <a:r>
              <a:rPr sz="1200" b="1">
                <a:solidFill>
                  <a:srgbClr val="0B4D63"/>
                </a:solidFill>
              </a:rPr>
              <a:t>OUR STUDY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CC3B39B5-CE63-411C-ADB1-222CEFB02844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2925" b="1">
                <a:solidFill>
                  <a:srgbClr val="0B2F3F"/>
                </a:solidFill>
              </a:defRPr>
            </a:pPr>
            <a:r>
              <a:rPr sz="2925" b="1">
                <a:solidFill>
                  <a:srgbClr val="0B2F3F"/>
                </a:solidFill>
              </a:rPr>
              <a:t>Study Design at a Glance</a:t>
            </a:r>
          </a:p>
        </p:txBody>
      </p:sp>
      <p:sp>
        <p:nvSpPr>
          <p:cNvPr id="5" name="setup-line">
            <a:extLst>
              <a:ext uri="{FF2B5EF4-FFF2-40B4-BE49-F238E27FC236}">
                <a16:creationId xmlns:a16="http://schemas.microsoft.com/office/drawing/2014/main" id="{6A697187-060A-4D45-9CAC-6917BEEDCAC6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144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1650">
                <a:solidFill>
                  <a:srgbClr val="2F4653"/>
                </a:solidFill>
              </a:defRPr>
            </a:pPr>
            <a:r>
              <a:rPr sz="1650">
                <a:solidFill>
                  <a:srgbClr val="2F4653"/>
                </a:solidFill>
              </a:rPr>
              <a:t>The project compares feature sources, survival models, and clinical scoring baselines under one evaluation pipeline.</a:t>
            </a:r>
          </a:p>
        </p:txBody>
      </p:sp>
      <p:sp>
        <p:nvSpPr>
          <p:cNvPr id="6" name="section-rule-Cohort">
            <a:extLst>
              <a:ext uri="{FF2B5EF4-FFF2-40B4-BE49-F238E27FC236}">
                <a16:creationId xmlns:a16="http://schemas.microsoft.com/office/drawing/2014/main" id="{1AD549DD-156B-4D3F-A750-49876A3710E3}"/>
              </a:ext>
            </a:extLst>
          </p:cNvPr>
          <p:cNvSpPr>
            <a:spLocks noGrp="1"/>
          </p:cNvSpPr>
          <p:nvPr/>
        </p:nvSpPr>
        <p:spPr>
          <a:xfrm>
            <a:off x="876300" y="2324100"/>
            <a:ext cx="2266950" cy="20955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7" name="section-title-Cohort">
            <a:extLst>
              <a:ext uri="{FF2B5EF4-FFF2-40B4-BE49-F238E27FC236}">
                <a16:creationId xmlns:a16="http://schemas.microsoft.com/office/drawing/2014/main" id="{987FB425-63D6-4706-8CCC-81A8F3BC4F4C}"/>
              </a:ext>
            </a:extLst>
          </p:cNvPr>
          <p:cNvSpPr>
            <a:spLocks noGrp="1"/>
          </p:cNvSpPr>
          <p:nvPr/>
        </p:nvSpPr>
        <p:spPr>
          <a:xfrm>
            <a:off x="876300" y="2419350"/>
            <a:ext cx="2266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125" b="1">
                <a:solidFill>
                  <a:srgbClr val="0B4D63"/>
                </a:solidFill>
              </a:defRPr>
            </a:pPr>
            <a:r>
              <a:rPr sz="1200" b="1">
                <a:solidFill>
                  <a:srgbClr val="0B4D63"/>
                </a:solidFill>
              </a:rPr>
              <a:t>COHORT</a:t>
            </a:r>
          </a:p>
        </p:txBody>
      </p:sp>
      <p:sp>
        <p:nvSpPr>
          <p:cNvPr id="8" name="cohort-body">
            <a:extLst>
              <a:ext uri="{FF2B5EF4-FFF2-40B4-BE49-F238E27FC236}">
                <a16:creationId xmlns:a16="http://schemas.microsoft.com/office/drawing/2014/main" id="{0EAF4710-D762-40B0-AF58-CF49D28CE48B}"/>
              </a:ext>
            </a:extLst>
          </p:cNvPr>
          <p:cNvSpPr>
            <a:spLocks noGrp="1"/>
          </p:cNvSpPr>
          <p:nvPr/>
        </p:nvSpPr>
        <p:spPr>
          <a:xfrm>
            <a:off x="876300" y="2733675"/>
            <a:ext cx="22669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200">
                <a:solidFill>
                  <a:srgbClr val="314B59"/>
                </a:solidFill>
              </a:defRPr>
            </a:pPr>
            <a:r>
              <a:rPr sz="1200">
                <a:solidFill>
                  <a:srgbClr val="314B59"/>
                </a:solidFill>
              </a:rPr>
              <a:t>Bernard et al. MDS dataset</a:t>
            </a:r>
          </a:p>
          <a:p>
            <a:pPr algn="l">
              <a:buNone/>
              <a:defRPr sz="1200">
                <a:solidFill>
                  <a:srgbClr val="314B59"/>
                </a:solidFill>
              </a:defRPr>
            </a:pPr>
            <a:r>
              <a:rPr sz="1200">
                <a:solidFill>
                  <a:srgbClr val="314B59"/>
                </a:solidFill>
              </a:rPr>
              <a:t>3,323 patients → 2,496 retained after preprocessing</a:t>
            </a:r>
          </a:p>
        </p:txBody>
      </p:sp>
      <p:sp>
        <p:nvSpPr>
          <p:cNvPr id="9" name="section-rule-Feature sets">
            <a:extLst>
              <a:ext uri="{FF2B5EF4-FFF2-40B4-BE49-F238E27FC236}">
                <a16:creationId xmlns:a16="http://schemas.microsoft.com/office/drawing/2014/main" id="{9F5D9644-5872-4883-9642-88E46109FEF1}"/>
              </a:ext>
            </a:extLst>
          </p:cNvPr>
          <p:cNvSpPr>
            <a:spLocks noGrp="1"/>
          </p:cNvSpPr>
          <p:nvPr/>
        </p:nvSpPr>
        <p:spPr>
          <a:xfrm>
            <a:off x="3524250" y="2324100"/>
            <a:ext cx="2266950" cy="20955"/>
          </a:xfrm>
          <a:prstGeom prst="rect">
            <a:avLst/>
          </a:prstGeom>
          <a:solidFill>
            <a:srgbClr val="B45F2A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0" name="section-title-Feature sets">
            <a:extLst>
              <a:ext uri="{FF2B5EF4-FFF2-40B4-BE49-F238E27FC236}">
                <a16:creationId xmlns:a16="http://schemas.microsoft.com/office/drawing/2014/main" id="{EC010056-FC42-49D1-9E45-C5C497906BFA}"/>
              </a:ext>
            </a:extLst>
          </p:cNvPr>
          <p:cNvSpPr>
            <a:spLocks noGrp="1"/>
          </p:cNvSpPr>
          <p:nvPr/>
        </p:nvSpPr>
        <p:spPr>
          <a:xfrm>
            <a:off x="3524250" y="2419350"/>
            <a:ext cx="2266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125" b="1">
                <a:solidFill>
                  <a:srgbClr val="B45F2A"/>
                </a:solidFill>
              </a:defRPr>
            </a:pPr>
            <a:r>
              <a:rPr sz="1200" b="1">
                <a:solidFill>
                  <a:srgbClr val="B45F2A"/>
                </a:solidFill>
              </a:rPr>
              <a:t>FEATURE SETS</a:t>
            </a:r>
          </a:p>
        </p:txBody>
      </p:sp>
      <p:sp>
        <p:nvSpPr>
          <p:cNvPr id="11" name="features-body">
            <a:extLst>
              <a:ext uri="{FF2B5EF4-FFF2-40B4-BE49-F238E27FC236}">
                <a16:creationId xmlns:a16="http://schemas.microsoft.com/office/drawing/2014/main" id="{7DCC0D41-03BA-4BA7-BCC2-495BC13828C2}"/>
              </a:ext>
            </a:extLst>
          </p:cNvPr>
          <p:cNvSpPr>
            <a:spLocks noGrp="1"/>
          </p:cNvSpPr>
          <p:nvPr/>
        </p:nvSpPr>
        <p:spPr>
          <a:xfrm>
            <a:off x="3524250" y="2733675"/>
            <a:ext cx="22669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200">
                <a:solidFill>
                  <a:srgbClr val="314B59"/>
                </a:solidFill>
              </a:defRPr>
            </a:pPr>
            <a:r>
              <a:rPr sz="1200">
                <a:solidFill>
                  <a:srgbClr val="314B59"/>
                </a:solidFill>
              </a:rPr>
              <a:t>Clin</a:t>
            </a:r>
          </a:p>
          <a:p>
            <a:pPr algn="l">
              <a:buNone/>
              <a:defRPr sz="1200">
                <a:solidFill>
                  <a:srgbClr val="314B59"/>
                </a:solidFill>
              </a:defRPr>
            </a:pPr>
            <a:r>
              <a:rPr sz="1200">
                <a:solidFill>
                  <a:srgbClr val="314B59"/>
                </a:solidFill>
              </a:rPr>
              <a:t>Clin+Cyt</a:t>
            </a:r>
          </a:p>
          <a:p>
            <a:pPr algn="l">
              <a:buNone/>
              <a:defRPr sz="1200">
                <a:solidFill>
                  <a:srgbClr val="314B59"/>
                </a:solidFill>
              </a:defRPr>
            </a:pPr>
            <a:r>
              <a:rPr sz="1200">
                <a:solidFill>
                  <a:srgbClr val="314B59"/>
                </a:solidFill>
              </a:rPr>
              <a:t>Clin+MG</a:t>
            </a:r>
          </a:p>
          <a:p>
            <a:pPr algn="l">
              <a:buNone/>
              <a:defRPr sz="1200">
                <a:solidFill>
                  <a:srgbClr val="314B59"/>
                </a:solidFill>
              </a:defRPr>
            </a:pPr>
            <a:r>
              <a:rPr sz="1200">
                <a:solidFill>
                  <a:srgbClr val="314B59"/>
                </a:solidFill>
              </a:rPr>
              <a:t>All feature sources</a:t>
            </a:r>
          </a:p>
        </p:txBody>
      </p:sp>
      <p:sp>
        <p:nvSpPr>
          <p:cNvPr id="12" name="section-rule-Models">
            <a:extLst>
              <a:ext uri="{FF2B5EF4-FFF2-40B4-BE49-F238E27FC236}">
                <a16:creationId xmlns:a16="http://schemas.microsoft.com/office/drawing/2014/main" id="{F52E88D5-1947-41F7-8E0D-4F9878DBEC82}"/>
              </a:ext>
            </a:extLst>
          </p:cNvPr>
          <p:cNvSpPr>
            <a:spLocks noGrp="1"/>
          </p:cNvSpPr>
          <p:nvPr/>
        </p:nvSpPr>
        <p:spPr>
          <a:xfrm>
            <a:off x="6172200" y="2324100"/>
            <a:ext cx="2266950" cy="20955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3" name="section-title-Models">
            <a:extLst>
              <a:ext uri="{FF2B5EF4-FFF2-40B4-BE49-F238E27FC236}">
                <a16:creationId xmlns:a16="http://schemas.microsoft.com/office/drawing/2014/main" id="{84B31509-4388-4CC1-A2D0-548630E8970F}"/>
              </a:ext>
            </a:extLst>
          </p:cNvPr>
          <p:cNvSpPr>
            <a:spLocks noGrp="1"/>
          </p:cNvSpPr>
          <p:nvPr/>
        </p:nvSpPr>
        <p:spPr>
          <a:xfrm>
            <a:off x="6172200" y="2419350"/>
            <a:ext cx="2266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125" b="1">
                <a:solidFill>
                  <a:srgbClr val="0B4D63"/>
                </a:solidFill>
              </a:defRPr>
            </a:pPr>
            <a:r>
              <a:rPr sz="1200" b="1">
                <a:solidFill>
                  <a:srgbClr val="0B4D63"/>
                </a:solidFill>
              </a:rPr>
              <a:t>MODELS</a:t>
            </a:r>
          </a:p>
        </p:txBody>
      </p:sp>
      <p:sp>
        <p:nvSpPr>
          <p:cNvPr id="14" name="models-body">
            <a:extLst>
              <a:ext uri="{FF2B5EF4-FFF2-40B4-BE49-F238E27FC236}">
                <a16:creationId xmlns:a16="http://schemas.microsoft.com/office/drawing/2014/main" id="{E40E2480-0A03-444D-BA2D-70649A682DC2}"/>
              </a:ext>
            </a:extLst>
          </p:cNvPr>
          <p:cNvSpPr>
            <a:spLocks noGrp="1"/>
          </p:cNvSpPr>
          <p:nvPr/>
        </p:nvSpPr>
        <p:spPr>
          <a:xfrm>
            <a:off x="6172200" y="2733675"/>
            <a:ext cx="22669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200">
                <a:solidFill>
                  <a:srgbClr val="314B59"/>
                </a:solidFill>
              </a:defRPr>
            </a:pPr>
            <a:r>
              <a:rPr sz="1200">
                <a:solidFill>
                  <a:srgbClr val="314B59"/>
                </a:solidFill>
              </a:rPr>
              <a:t>Coxnet, L-MTLR</a:t>
            </a:r>
          </a:p>
          <a:p>
            <a:pPr algn="l">
              <a:buNone/>
              <a:defRPr sz="1200">
                <a:solidFill>
                  <a:srgbClr val="314B59"/>
                </a:solidFill>
              </a:defRPr>
            </a:pPr>
            <a:r>
              <a:rPr sz="1200">
                <a:solidFill>
                  <a:srgbClr val="314B59"/>
                </a:solidFill>
              </a:rPr>
              <a:t>DeepSurv, N-MTLR</a:t>
            </a:r>
          </a:p>
          <a:p>
            <a:pPr algn="l">
              <a:buNone/>
              <a:defRPr sz="1200">
                <a:solidFill>
                  <a:srgbClr val="314B59"/>
                </a:solidFill>
              </a:defRPr>
            </a:pPr>
            <a:r>
              <a:rPr sz="1200">
                <a:solidFill>
                  <a:srgbClr val="314B59"/>
                </a:solidFill>
              </a:rPr>
              <a:t>PC Hazard</a:t>
            </a:r>
          </a:p>
        </p:txBody>
      </p:sp>
      <p:sp>
        <p:nvSpPr>
          <p:cNvPr id="15" name="section-rule-Evaluation">
            <a:extLst>
              <a:ext uri="{FF2B5EF4-FFF2-40B4-BE49-F238E27FC236}">
                <a16:creationId xmlns:a16="http://schemas.microsoft.com/office/drawing/2014/main" id="{DB993904-44FB-477E-9C4C-82E61750DFA1}"/>
              </a:ext>
            </a:extLst>
          </p:cNvPr>
          <p:cNvSpPr>
            <a:spLocks noGrp="1"/>
          </p:cNvSpPr>
          <p:nvPr/>
        </p:nvSpPr>
        <p:spPr>
          <a:xfrm>
            <a:off x="8820150" y="2324100"/>
            <a:ext cx="2266950" cy="20955"/>
          </a:xfrm>
          <a:prstGeom prst="rect">
            <a:avLst/>
          </a:prstGeom>
          <a:solidFill>
            <a:srgbClr val="B45F2A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6" name="section-title-Evaluation">
            <a:extLst>
              <a:ext uri="{FF2B5EF4-FFF2-40B4-BE49-F238E27FC236}">
                <a16:creationId xmlns:a16="http://schemas.microsoft.com/office/drawing/2014/main" id="{2746132D-996A-4379-A786-55567C09788D}"/>
              </a:ext>
            </a:extLst>
          </p:cNvPr>
          <p:cNvSpPr>
            <a:spLocks noGrp="1"/>
          </p:cNvSpPr>
          <p:nvPr/>
        </p:nvSpPr>
        <p:spPr>
          <a:xfrm>
            <a:off x="8820150" y="2419350"/>
            <a:ext cx="2266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125" b="1">
                <a:solidFill>
                  <a:srgbClr val="B45F2A"/>
                </a:solidFill>
              </a:defRPr>
            </a:pPr>
            <a:r>
              <a:rPr sz="1200" b="1">
                <a:solidFill>
                  <a:srgbClr val="B45F2A"/>
                </a:solidFill>
              </a:rPr>
              <a:t>EVALUATION</a:t>
            </a:r>
          </a:p>
        </p:txBody>
      </p:sp>
      <p:sp>
        <p:nvSpPr>
          <p:cNvPr id="17" name="eval-body">
            <a:extLst>
              <a:ext uri="{FF2B5EF4-FFF2-40B4-BE49-F238E27FC236}">
                <a16:creationId xmlns:a16="http://schemas.microsoft.com/office/drawing/2014/main" id="{C5151CA8-9AD0-42A3-A11E-08A50CF25271}"/>
              </a:ext>
            </a:extLst>
          </p:cNvPr>
          <p:cNvSpPr>
            <a:spLocks noGrp="1"/>
          </p:cNvSpPr>
          <p:nvPr/>
        </p:nvSpPr>
        <p:spPr>
          <a:xfrm>
            <a:off x="8820150" y="2733675"/>
            <a:ext cx="22669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200">
                <a:solidFill>
                  <a:srgbClr val="314B59"/>
                </a:solidFill>
              </a:defRPr>
            </a:pPr>
            <a:r>
              <a:rPr sz="1200">
                <a:solidFill>
                  <a:srgbClr val="314B59"/>
                </a:solidFill>
              </a:rPr>
              <a:t>Endpoints: OS, LFS, AMLt</a:t>
            </a:r>
          </a:p>
          <a:p>
            <a:pPr algn="l">
              <a:buNone/>
              <a:defRPr sz="1200">
                <a:solidFill>
                  <a:srgbClr val="314B59"/>
                </a:solidFill>
              </a:defRPr>
            </a:pPr>
            <a:r>
              <a:rPr sz="1200">
                <a:solidFill>
                  <a:srgbClr val="314B59"/>
                </a:solidFill>
              </a:rPr>
              <a:t>Metric: C-index</a:t>
            </a:r>
          </a:p>
          <a:p>
            <a:pPr algn="l">
              <a:buNone/>
              <a:defRPr sz="1200">
                <a:solidFill>
                  <a:srgbClr val="314B59"/>
                </a:solidFill>
              </a:defRPr>
            </a:pPr>
            <a:r>
              <a:rPr sz="1200">
                <a:solidFill>
                  <a:srgbClr val="314B59"/>
                </a:solidFill>
              </a:rPr>
              <a:t>Baseline: IPSS-M</a:t>
            </a:r>
          </a:p>
        </p:txBody>
      </p:sp>
      <p:sp>
        <p:nvSpPr>
          <p:cNvPr id="18" name="pipeline-rule-1">
            <a:extLst>
              <a:ext uri="{FF2B5EF4-FFF2-40B4-BE49-F238E27FC236}">
                <a16:creationId xmlns:a16="http://schemas.microsoft.com/office/drawing/2014/main" id="{5280822C-EEA7-4765-8E5A-B74DB14265D0}"/>
              </a:ext>
            </a:extLst>
          </p:cNvPr>
          <p:cNvSpPr>
            <a:spLocks noGrp="1"/>
          </p:cNvSpPr>
          <p:nvPr/>
        </p:nvSpPr>
        <p:spPr>
          <a:xfrm>
            <a:off x="3143250" y="2905125"/>
            <a:ext cx="381000" cy="2857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9" name="pipeline-rule-2">
            <a:extLst>
              <a:ext uri="{FF2B5EF4-FFF2-40B4-BE49-F238E27FC236}">
                <a16:creationId xmlns:a16="http://schemas.microsoft.com/office/drawing/2014/main" id="{6972EDF2-E177-46DF-8621-0D8B456A2BE9}"/>
              </a:ext>
            </a:extLst>
          </p:cNvPr>
          <p:cNvSpPr>
            <a:spLocks noGrp="1"/>
          </p:cNvSpPr>
          <p:nvPr/>
        </p:nvSpPr>
        <p:spPr>
          <a:xfrm>
            <a:off x="5791200" y="2905125"/>
            <a:ext cx="381000" cy="2857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0" name="pipeline-rule-3">
            <a:extLst>
              <a:ext uri="{FF2B5EF4-FFF2-40B4-BE49-F238E27FC236}">
                <a16:creationId xmlns:a16="http://schemas.microsoft.com/office/drawing/2014/main" id="{4A952AA9-A1F6-4BCF-A705-B1C960C3795F}"/>
              </a:ext>
            </a:extLst>
          </p:cNvPr>
          <p:cNvSpPr>
            <a:spLocks noGrp="1"/>
          </p:cNvSpPr>
          <p:nvPr/>
        </p:nvSpPr>
        <p:spPr>
          <a:xfrm>
            <a:off x="8439150" y="2905125"/>
            <a:ext cx="381000" cy="2857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1" name="overview-table-bg">
            <a:extLst>
              <a:ext uri="{FF2B5EF4-FFF2-40B4-BE49-F238E27FC236}">
                <a16:creationId xmlns:a16="http://schemas.microsoft.com/office/drawing/2014/main" id="{CF52F7A5-0EF0-4ACB-BD5A-7C15E5210572}"/>
              </a:ext>
            </a:extLst>
          </p:cNvPr>
          <p:cNvSpPr>
            <a:spLocks noGrp="1"/>
          </p:cNvSpPr>
          <p:nvPr/>
        </p:nvSpPr>
        <p:spPr>
          <a:xfrm>
            <a:off x="1162050" y="3905250"/>
            <a:ext cx="9620250" cy="1714500"/>
          </a:xfrm>
          <a:prstGeom prst="rect">
            <a:avLst/>
          </a:prstGeom>
          <a:noFill/>
          <a:ln w="9525">
            <a:solidFill>
              <a:srgbClr val="CBDCE3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2" name="overview-table-header-bg">
            <a:extLst>
              <a:ext uri="{FF2B5EF4-FFF2-40B4-BE49-F238E27FC236}">
                <a16:creationId xmlns:a16="http://schemas.microsoft.com/office/drawing/2014/main" id="{231E2932-6F70-47F3-8F3E-E5A2619551B9}"/>
              </a:ext>
            </a:extLst>
          </p:cNvPr>
          <p:cNvSpPr>
            <a:spLocks noGrp="1"/>
          </p:cNvSpPr>
          <p:nvPr/>
        </p:nvSpPr>
        <p:spPr>
          <a:xfrm>
            <a:off x="1162050" y="3905250"/>
            <a:ext cx="9620250" cy="34290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3" name="overview-table-hline-0">
            <a:extLst>
              <a:ext uri="{FF2B5EF4-FFF2-40B4-BE49-F238E27FC236}">
                <a16:creationId xmlns:a16="http://schemas.microsoft.com/office/drawing/2014/main" id="{EE3159C3-0EF0-4B74-99F7-A462877B424F}"/>
              </a:ext>
            </a:extLst>
          </p:cNvPr>
          <p:cNvSpPr>
            <a:spLocks noGrp="1"/>
          </p:cNvSpPr>
          <p:nvPr/>
        </p:nvSpPr>
        <p:spPr>
          <a:xfrm>
            <a:off x="1162050" y="4248150"/>
            <a:ext cx="96202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4" name="overview-table-cell-0-0">
            <a:extLst>
              <a:ext uri="{FF2B5EF4-FFF2-40B4-BE49-F238E27FC236}">
                <a16:creationId xmlns:a16="http://schemas.microsoft.com/office/drawing/2014/main" id="{22EFCA88-4C0D-40E2-AF58-7E1A35705041}"/>
              </a:ext>
            </a:extLst>
          </p:cNvPr>
          <p:cNvSpPr>
            <a:spLocks noGrp="1"/>
          </p:cNvSpPr>
          <p:nvPr/>
        </p:nvSpPr>
        <p:spPr>
          <a:xfrm>
            <a:off x="1257300" y="3971925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Element</a:t>
            </a:r>
          </a:p>
        </p:txBody>
      </p:sp>
      <p:sp>
        <p:nvSpPr>
          <p:cNvPr id="25" name="overview-table-vline-0-1">
            <a:extLst>
              <a:ext uri="{FF2B5EF4-FFF2-40B4-BE49-F238E27FC236}">
                <a16:creationId xmlns:a16="http://schemas.microsoft.com/office/drawing/2014/main" id="{F8ADBB49-A77C-4858-992C-B934A5CF5474}"/>
              </a:ext>
            </a:extLst>
          </p:cNvPr>
          <p:cNvSpPr>
            <a:spLocks noGrp="1"/>
          </p:cNvSpPr>
          <p:nvPr/>
        </p:nvSpPr>
        <p:spPr>
          <a:xfrm>
            <a:off x="3352800" y="3905250"/>
            <a:ext cx="9525" cy="3429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6" name="overview-table-cell-0-1">
            <a:extLst>
              <a:ext uri="{FF2B5EF4-FFF2-40B4-BE49-F238E27FC236}">
                <a16:creationId xmlns:a16="http://schemas.microsoft.com/office/drawing/2014/main" id="{6B0117D4-0692-4979-8FFD-11E0EFE7E6ED}"/>
              </a:ext>
            </a:extLst>
          </p:cNvPr>
          <p:cNvSpPr>
            <a:spLocks noGrp="1"/>
          </p:cNvSpPr>
          <p:nvPr/>
        </p:nvSpPr>
        <p:spPr>
          <a:xfrm>
            <a:off x="3448050" y="3971925"/>
            <a:ext cx="335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Varies in the study</a:t>
            </a:r>
          </a:p>
        </p:txBody>
      </p:sp>
      <p:sp>
        <p:nvSpPr>
          <p:cNvPr id="27" name="overview-table-vline-0-2">
            <a:extLst>
              <a:ext uri="{FF2B5EF4-FFF2-40B4-BE49-F238E27FC236}">
                <a16:creationId xmlns:a16="http://schemas.microsoft.com/office/drawing/2014/main" id="{A1371414-4605-4AF2-A191-23240BAC50E4}"/>
              </a:ext>
            </a:extLst>
          </p:cNvPr>
          <p:cNvSpPr>
            <a:spLocks noGrp="1"/>
          </p:cNvSpPr>
          <p:nvPr/>
        </p:nvSpPr>
        <p:spPr>
          <a:xfrm>
            <a:off x="6877050" y="3905250"/>
            <a:ext cx="9525" cy="3429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8" name="overview-table-cell-0-2">
            <a:extLst>
              <a:ext uri="{FF2B5EF4-FFF2-40B4-BE49-F238E27FC236}">
                <a16:creationId xmlns:a16="http://schemas.microsoft.com/office/drawing/2014/main" id="{21A456AD-DD4C-4B1E-A358-9D6BD3A05362}"/>
              </a:ext>
            </a:extLst>
          </p:cNvPr>
          <p:cNvSpPr>
            <a:spLocks noGrp="1"/>
          </p:cNvSpPr>
          <p:nvPr/>
        </p:nvSpPr>
        <p:spPr>
          <a:xfrm>
            <a:off x="6972300" y="3971925"/>
            <a:ext cx="3733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Held fixed for comparison</a:t>
            </a:r>
          </a:p>
        </p:txBody>
      </p:sp>
      <p:sp>
        <p:nvSpPr>
          <p:cNvPr id="29" name="overview-table-hline-1">
            <a:extLst>
              <a:ext uri="{FF2B5EF4-FFF2-40B4-BE49-F238E27FC236}">
                <a16:creationId xmlns:a16="http://schemas.microsoft.com/office/drawing/2014/main" id="{95E2C2B1-0E9D-48F3-A04B-234A08DCB21C}"/>
              </a:ext>
            </a:extLst>
          </p:cNvPr>
          <p:cNvSpPr>
            <a:spLocks noGrp="1"/>
          </p:cNvSpPr>
          <p:nvPr/>
        </p:nvSpPr>
        <p:spPr>
          <a:xfrm>
            <a:off x="1162050" y="4705350"/>
            <a:ext cx="96202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0" name="overview-table-cell-1-0">
            <a:extLst>
              <a:ext uri="{FF2B5EF4-FFF2-40B4-BE49-F238E27FC236}">
                <a16:creationId xmlns:a16="http://schemas.microsoft.com/office/drawing/2014/main" id="{46DFB31F-C4EA-46C8-9653-A03D0BF749B5}"/>
              </a:ext>
            </a:extLst>
          </p:cNvPr>
          <p:cNvSpPr>
            <a:spLocks noGrp="1"/>
          </p:cNvSpPr>
          <p:nvPr/>
        </p:nvSpPr>
        <p:spPr>
          <a:xfrm>
            <a:off x="1257300" y="4314825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1">
                <a:solidFill>
                  <a:srgbClr val="314B59"/>
                </a:solidFill>
              </a:defRPr>
            </a:pPr>
            <a:r>
              <a:rPr sz="1200" b="1">
                <a:solidFill>
                  <a:srgbClr val="314B59"/>
                </a:solidFill>
              </a:rPr>
              <a:t>Prediction task</a:t>
            </a:r>
          </a:p>
        </p:txBody>
      </p:sp>
      <p:sp>
        <p:nvSpPr>
          <p:cNvPr id="31" name="overview-table-vline-1-1">
            <a:extLst>
              <a:ext uri="{FF2B5EF4-FFF2-40B4-BE49-F238E27FC236}">
                <a16:creationId xmlns:a16="http://schemas.microsoft.com/office/drawing/2014/main" id="{2E769BB8-A826-4E51-A95F-688A6A73EFEE}"/>
              </a:ext>
            </a:extLst>
          </p:cNvPr>
          <p:cNvSpPr>
            <a:spLocks noGrp="1"/>
          </p:cNvSpPr>
          <p:nvPr/>
        </p:nvSpPr>
        <p:spPr>
          <a:xfrm>
            <a:off x="3352800" y="4248150"/>
            <a:ext cx="9525" cy="4572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2" name="overview-table-cell-1-1">
            <a:extLst>
              <a:ext uri="{FF2B5EF4-FFF2-40B4-BE49-F238E27FC236}">
                <a16:creationId xmlns:a16="http://schemas.microsoft.com/office/drawing/2014/main" id="{066CA508-41BB-47C5-80EE-D825F2343E8A}"/>
              </a:ext>
            </a:extLst>
          </p:cNvPr>
          <p:cNvSpPr>
            <a:spLocks noGrp="1"/>
          </p:cNvSpPr>
          <p:nvPr/>
        </p:nvSpPr>
        <p:spPr>
          <a:xfrm>
            <a:off x="3448050" y="4314825"/>
            <a:ext cx="3352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OS, LFS, AMLt</a:t>
            </a:r>
          </a:p>
        </p:txBody>
      </p:sp>
      <p:sp>
        <p:nvSpPr>
          <p:cNvPr id="33" name="overview-table-vline-1-2">
            <a:extLst>
              <a:ext uri="{FF2B5EF4-FFF2-40B4-BE49-F238E27FC236}">
                <a16:creationId xmlns:a16="http://schemas.microsoft.com/office/drawing/2014/main" id="{5296B333-F4DC-4D42-8297-1166019ED094}"/>
              </a:ext>
            </a:extLst>
          </p:cNvPr>
          <p:cNvSpPr>
            <a:spLocks noGrp="1"/>
          </p:cNvSpPr>
          <p:nvPr/>
        </p:nvSpPr>
        <p:spPr>
          <a:xfrm>
            <a:off x="6877050" y="4248150"/>
            <a:ext cx="9525" cy="4572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4" name="overview-table-cell-1-2">
            <a:extLst>
              <a:ext uri="{FF2B5EF4-FFF2-40B4-BE49-F238E27FC236}">
                <a16:creationId xmlns:a16="http://schemas.microsoft.com/office/drawing/2014/main" id="{5AEE8687-9B89-4809-AFE2-9F5367D9D0C1}"/>
              </a:ext>
            </a:extLst>
          </p:cNvPr>
          <p:cNvSpPr>
            <a:spLocks noGrp="1"/>
          </p:cNvSpPr>
          <p:nvPr/>
        </p:nvSpPr>
        <p:spPr>
          <a:xfrm>
            <a:off x="6972300" y="4314825"/>
            <a:ext cx="3733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Same cohort preprocessing and split</a:t>
            </a:r>
          </a:p>
        </p:txBody>
      </p:sp>
      <p:sp>
        <p:nvSpPr>
          <p:cNvPr id="35" name="overview-table-stripe-2">
            <a:extLst>
              <a:ext uri="{FF2B5EF4-FFF2-40B4-BE49-F238E27FC236}">
                <a16:creationId xmlns:a16="http://schemas.microsoft.com/office/drawing/2014/main" id="{255F651E-BFB0-45F3-B03C-B58AECD3A4CB}"/>
              </a:ext>
            </a:extLst>
          </p:cNvPr>
          <p:cNvSpPr>
            <a:spLocks noGrp="1"/>
          </p:cNvSpPr>
          <p:nvPr/>
        </p:nvSpPr>
        <p:spPr>
          <a:xfrm>
            <a:off x="1162050" y="4705350"/>
            <a:ext cx="9620250" cy="457200"/>
          </a:xfrm>
          <a:prstGeom prst="rect">
            <a:avLst/>
          </a:prstGeom>
          <a:solidFill>
            <a:srgbClr val="F1F6F8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6" name="overview-table-hline-2">
            <a:extLst>
              <a:ext uri="{FF2B5EF4-FFF2-40B4-BE49-F238E27FC236}">
                <a16:creationId xmlns:a16="http://schemas.microsoft.com/office/drawing/2014/main" id="{FAB1BC24-AEB6-4DA0-AC32-24D453567E19}"/>
              </a:ext>
            </a:extLst>
          </p:cNvPr>
          <p:cNvSpPr>
            <a:spLocks noGrp="1"/>
          </p:cNvSpPr>
          <p:nvPr/>
        </p:nvSpPr>
        <p:spPr>
          <a:xfrm>
            <a:off x="1162050" y="5162550"/>
            <a:ext cx="96202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7" name="overview-table-cell-2-0">
            <a:extLst>
              <a:ext uri="{FF2B5EF4-FFF2-40B4-BE49-F238E27FC236}">
                <a16:creationId xmlns:a16="http://schemas.microsoft.com/office/drawing/2014/main" id="{512FC04F-0084-4723-A794-67B354395B2D}"/>
              </a:ext>
            </a:extLst>
          </p:cNvPr>
          <p:cNvSpPr>
            <a:spLocks noGrp="1"/>
          </p:cNvSpPr>
          <p:nvPr/>
        </p:nvSpPr>
        <p:spPr>
          <a:xfrm>
            <a:off x="1257300" y="4772025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1">
                <a:solidFill>
                  <a:srgbClr val="314B59"/>
                </a:solidFill>
              </a:defRPr>
            </a:pPr>
            <a:r>
              <a:rPr sz="1200" b="1">
                <a:solidFill>
                  <a:srgbClr val="314B59"/>
                </a:solidFill>
              </a:rPr>
              <a:t>Feature representation</a:t>
            </a:r>
          </a:p>
        </p:txBody>
      </p:sp>
      <p:sp>
        <p:nvSpPr>
          <p:cNvPr id="38" name="overview-table-vline-2-1">
            <a:extLst>
              <a:ext uri="{FF2B5EF4-FFF2-40B4-BE49-F238E27FC236}">
                <a16:creationId xmlns:a16="http://schemas.microsoft.com/office/drawing/2014/main" id="{71B0C497-88F8-4329-9615-FAD05FAB4CD7}"/>
              </a:ext>
            </a:extLst>
          </p:cNvPr>
          <p:cNvSpPr>
            <a:spLocks noGrp="1"/>
          </p:cNvSpPr>
          <p:nvPr/>
        </p:nvSpPr>
        <p:spPr>
          <a:xfrm>
            <a:off x="3352800" y="4705350"/>
            <a:ext cx="9525" cy="4572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9" name="overview-table-cell-2-1">
            <a:extLst>
              <a:ext uri="{FF2B5EF4-FFF2-40B4-BE49-F238E27FC236}">
                <a16:creationId xmlns:a16="http://schemas.microsoft.com/office/drawing/2014/main" id="{90C2FBD6-6A93-410B-ADF4-72C64B13730E}"/>
              </a:ext>
            </a:extLst>
          </p:cNvPr>
          <p:cNvSpPr>
            <a:spLocks noGrp="1"/>
          </p:cNvSpPr>
          <p:nvPr/>
        </p:nvSpPr>
        <p:spPr>
          <a:xfrm>
            <a:off x="3448050" y="4772025"/>
            <a:ext cx="3352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Clin, Clin+Cyt, Clin+MG, All</a:t>
            </a:r>
          </a:p>
        </p:txBody>
      </p:sp>
      <p:sp>
        <p:nvSpPr>
          <p:cNvPr id="40" name="overview-table-vline-2-2">
            <a:extLst>
              <a:ext uri="{FF2B5EF4-FFF2-40B4-BE49-F238E27FC236}">
                <a16:creationId xmlns:a16="http://schemas.microsoft.com/office/drawing/2014/main" id="{CE25D5B3-BC15-4D32-8AC4-83F6DEA97DF5}"/>
              </a:ext>
            </a:extLst>
          </p:cNvPr>
          <p:cNvSpPr>
            <a:spLocks noGrp="1"/>
          </p:cNvSpPr>
          <p:nvPr/>
        </p:nvSpPr>
        <p:spPr>
          <a:xfrm>
            <a:off x="6877050" y="4705350"/>
            <a:ext cx="9525" cy="4572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1" name="overview-table-cell-2-2">
            <a:extLst>
              <a:ext uri="{FF2B5EF4-FFF2-40B4-BE49-F238E27FC236}">
                <a16:creationId xmlns:a16="http://schemas.microsoft.com/office/drawing/2014/main" id="{253D2E1F-F139-4BE4-A206-B882A1F9A832}"/>
              </a:ext>
            </a:extLst>
          </p:cNvPr>
          <p:cNvSpPr>
            <a:spLocks noGrp="1"/>
          </p:cNvSpPr>
          <p:nvPr/>
        </p:nvSpPr>
        <p:spPr>
          <a:xfrm>
            <a:off x="6972300" y="4772025"/>
            <a:ext cx="3733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Same model/evaluation pipeline</a:t>
            </a:r>
          </a:p>
        </p:txBody>
      </p:sp>
      <p:sp>
        <p:nvSpPr>
          <p:cNvPr id="42" name="overview-table-hline-3">
            <a:extLst>
              <a:ext uri="{FF2B5EF4-FFF2-40B4-BE49-F238E27FC236}">
                <a16:creationId xmlns:a16="http://schemas.microsoft.com/office/drawing/2014/main" id="{87CBE386-F050-46EF-97E4-9C0910F30EDC}"/>
              </a:ext>
            </a:extLst>
          </p:cNvPr>
          <p:cNvSpPr>
            <a:spLocks noGrp="1"/>
          </p:cNvSpPr>
          <p:nvPr/>
        </p:nvSpPr>
        <p:spPr>
          <a:xfrm>
            <a:off x="1162050" y="5619750"/>
            <a:ext cx="96202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3" name="overview-table-cell-3-0">
            <a:extLst>
              <a:ext uri="{FF2B5EF4-FFF2-40B4-BE49-F238E27FC236}">
                <a16:creationId xmlns:a16="http://schemas.microsoft.com/office/drawing/2014/main" id="{3FD5295D-6258-4918-8D47-48529745AA91}"/>
              </a:ext>
            </a:extLst>
          </p:cNvPr>
          <p:cNvSpPr>
            <a:spLocks noGrp="1"/>
          </p:cNvSpPr>
          <p:nvPr/>
        </p:nvSpPr>
        <p:spPr>
          <a:xfrm>
            <a:off x="1257300" y="5229225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1">
                <a:solidFill>
                  <a:srgbClr val="314B59"/>
                </a:solidFill>
              </a:defRPr>
            </a:pPr>
            <a:r>
              <a:rPr sz="1200" b="1">
                <a:solidFill>
                  <a:srgbClr val="314B59"/>
                </a:solidFill>
              </a:rPr>
              <a:t>Model family</a:t>
            </a:r>
          </a:p>
        </p:txBody>
      </p:sp>
      <p:sp>
        <p:nvSpPr>
          <p:cNvPr id="44" name="overview-table-vline-3-1">
            <a:extLst>
              <a:ext uri="{FF2B5EF4-FFF2-40B4-BE49-F238E27FC236}">
                <a16:creationId xmlns:a16="http://schemas.microsoft.com/office/drawing/2014/main" id="{1710F741-6BE2-4FD9-88B3-953E6761F51C}"/>
              </a:ext>
            </a:extLst>
          </p:cNvPr>
          <p:cNvSpPr>
            <a:spLocks noGrp="1"/>
          </p:cNvSpPr>
          <p:nvPr/>
        </p:nvSpPr>
        <p:spPr>
          <a:xfrm>
            <a:off x="3352800" y="5162550"/>
            <a:ext cx="9525" cy="4572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5" name="overview-table-cell-3-1">
            <a:extLst>
              <a:ext uri="{FF2B5EF4-FFF2-40B4-BE49-F238E27FC236}">
                <a16:creationId xmlns:a16="http://schemas.microsoft.com/office/drawing/2014/main" id="{46BFF4A0-A926-437C-B512-D2427A829662}"/>
              </a:ext>
            </a:extLst>
          </p:cNvPr>
          <p:cNvSpPr>
            <a:spLocks noGrp="1"/>
          </p:cNvSpPr>
          <p:nvPr/>
        </p:nvSpPr>
        <p:spPr>
          <a:xfrm>
            <a:off x="3448050" y="5229225"/>
            <a:ext cx="3352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Linear and deep survival models</a:t>
            </a:r>
          </a:p>
        </p:txBody>
      </p:sp>
      <p:sp>
        <p:nvSpPr>
          <p:cNvPr id="46" name="overview-table-vline-3-2">
            <a:extLst>
              <a:ext uri="{FF2B5EF4-FFF2-40B4-BE49-F238E27FC236}">
                <a16:creationId xmlns:a16="http://schemas.microsoft.com/office/drawing/2014/main" id="{7F0B4241-1401-43E2-8218-5618ABE293B0}"/>
              </a:ext>
            </a:extLst>
          </p:cNvPr>
          <p:cNvSpPr>
            <a:spLocks noGrp="1"/>
          </p:cNvSpPr>
          <p:nvPr/>
        </p:nvSpPr>
        <p:spPr>
          <a:xfrm>
            <a:off x="6877050" y="5162550"/>
            <a:ext cx="9525" cy="4572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7" name="overview-table-cell-3-2">
            <a:extLst>
              <a:ext uri="{FF2B5EF4-FFF2-40B4-BE49-F238E27FC236}">
                <a16:creationId xmlns:a16="http://schemas.microsoft.com/office/drawing/2014/main" id="{6A32CBB5-5D23-4113-80C1-7235B675C656}"/>
              </a:ext>
            </a:extLst>
          </p:cNvPr>
          <p:cNvSpPr>
            <a:spLocks noGrp="1"/>
          </p:cNvSpPr>
          <p:nvPr/>
        </p:nvSpPr>
        <p:spPr>
          <a:xfrm>
            <a:off x="6972300" y="5229225"/>
            <a:ext cx="3733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Held-out test C-index</a:t>
            </a:r>
          </a:p>
        </p:txBody>
      </p:sp>
      <p:sp>
        <p:nvSpPr>
          <p:cNvPr id="48" name="takeaway-band">
            <a:extLst>
              <a:ext uri="{FF2B5EF4-FFF2-40B4-BE49-F238E27FC236}">
                <a16:creationId xmlns:a16="http://schemas.microsoft.com/office/drawing/2014/main" id="{EEF78DD0-0202-44EE-AD03-8F0971C53EBB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820400" cy="55245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9" name="takeaway-label">
            <a:extLst>
              <a:ext uri="{FF2B5EF4-FFF2-40B4-BE49-F238E27FC236}">
                <a16:creationId xmlns:a16="http://schemas.microsoft.com/office/drawing/2014/main" id="{A62EA7CE-91C9-4DD6-B50E-F5A76563C512}"/>
              </a:ext>
            </a:extLst>
          </p:cNvPr>
          <p:cNvSpPr>
            <a:spLocks noGrp="1"/>
          </p:cNvSpPr>
          <p:nvPr/>
        </p:nvSpPr>
        <p:spPr>
          <a:xfrm>
            <a:off x="952500" y="5953125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050" b="1">
                <a:solidFill>
                  <a:srgbClr val="C7E8F2"/>
                </a:solidFill>
              </a:defRPr>
            </a:pPr>
            <a:r>
              <a:rPr sz="1050" b="1">
                <a:solidFill>
                  <a:srgbClr val="C7E8F2"/>
                </a:solidFill>
              </a:rPr>
              <a:t>Study goal</a:t>
            </a:r>
          </a:p>
        </p:txBody>
      </p:sp>
      <p:sp>
        <p:nvSpPr>
          <p:cNvPr id="50" name="takeaway-text">
            <a:extLst>
              <a:ext uri="{FF2B5EF4-FFF2-40B4-BE49-F238E27FC236}">
                <a16:creationId xmlns:a16="http://schemas.microsoft.com/office/drawing/2014/main" id="{035B9A54-253B-49FC-BEAA-A4B25BB66433}"/>
              </a:ext>
            </a:extLst>
          </p:cNvPr>
          <p:cNvSpPr>
            <a:spLocks noGrp="1"/>
          </p:cNvSpPr>
          <p:nvPr/>
        </p:nvSpPr>
        <p:spPr>
          <a:xfrm>
            <a:off x="952500" y="6143625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Quantify how data representation and model choice affect MDS survival prediction.</a:t>
            </a:r>
          </a:p>
        </p:txBody>
      </p:sp>
      <p:sp>
        <p:nvSpPr>
          <p:cNvPr id="51" name="footer">
            <a:extLst>
              <a:ext uri="{FF2B5EF4-FFF2-40B4-BE49-F238E27FC236}">
                <a16:creationId xmlns:a16="http://schemas.microsoft.com/office/drawing/2014/main" id="{0DAF5255-E26F-46BA-905B-AEFC517CBFD6}"/>
              </a:ext>
            </a:extLst>
          </p:cNvPr>
          <p:cNvSpPr>
            <a:spLocks noGrp="1"/>
          </p:cNvSpPr>
          <p:nvPr/>
        </p:nvSpPr>
        <p:spPr>
          <a:xfrm>
            <a:off x="8858250" y="65722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r">
              <a:buNone/>
              <a:defRPr sz="750">
                <a:solidFill>
                  <a:srgbClr val="7A8D97"/>
                </a:solidFill>
              </a:defRPr>
            </a:pPr>
            <a:r>
              <a:rPr sz="750">
                <a:solidFill>
                  <a:srgbClr val="7A8D97"/>
                </a:solidFill>
              </a:rPr>
              <a:t>Machine Learning-Based Survival Prediction of Outcomes in MDS</a:t>
            </a:r>
          </a:p>
        </p:txBody>
      </p:sp>
      <p:sp>
        <p:nvSpPr>
          <p:cNvPr id="52" name="source-line-5">
            <a:extLst>
              <a:ext uri="{FF2B5EF4-FFF2-40B4-BE49-F238E27FC236}">
                <a16:creationId xmlns:a16="http://schemas.microsoft.com/office/drawing/2014/main" id="{2CA83E48-D9E1-4774-AD72-096BD4187004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42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defRPr sz="788">
                <a:solidFill>
                  <a:srgbClr val="7A8D97"/>
                </a:solidFill>
              </a:defRPr>
            </a:pPr>
            <a:r>
              <a:rPr sz="788">
                <a:solidFill>
                  <a:srgbClr val="7A8D97"/>
                </a:solidFill>
              </a:rPr>
              <a:t>Sources: [2], [3], [7], [8], [9], [10], [12], [14], [16]</a:t>
            </a:r>
          </a:p>
        </p:txBody>
      </p:sp>
    </p:spTree>
    <p:extLst>
      <p:ext uri="{BB962C8B-B14F-4D97-AF65-F5344CB8AC3E}">
        <p14:creationId xmlns:p14="http://schemas.microsoft.com/office/powerpoint/2010/main" val="946737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left-accent-bar">
            <a:extLst>
              <a:ext uri="{FF2B5EF4-FFF2-40B4-BE49-F238E27FC236}">
                <a16:creationId xmlns:a16="http://schemas.microsoft.com/office/drawing/2014/main" id="{AA553669-0961-4442-827F-8BE583985C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op-rule">
            <a:extLst>
              <a:ext uri="{FF2B5EF4-FFF2-40B4-BE49-F238E27FC236}">
                <a16:creationId xmlns:a16="http://schemas.microsoft.com/office/drawing/2014/main" id="{1DC059C0-47D5-4EA7-B8FA-D2D10EBFCBF5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19050"/>
          </a:xfrm>
          <a:prstGeom prst="rect">
            <a:avLst/>
          </a:prstGeom>
          <a:solidFill>
            <a:srgbClr val="DDE8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B6C2A218-B345-4CF5-9FF1-855FAC04D029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200" b="1">
                <a:solidFill>
                  <a:srgbClr val="0B4D63"/>
                </a:solidFill>
              </a:defRPr>
            </a:pPr>
            <a:r>
              <a:rPr sz="1200" b="1">
                <a:solidFill>
                  <a:srgbClr val="0B4D63"/>
                </a:solidFill>
              </a:rPr>
              <a:t>RESEARCH QUESTIONS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CE4A1F8F-2C75-49BD-99DD-EE67A2294BCE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2925" b="1">
                <a:solidFill>
                  <a:srgbClr val="0B2F3F"/>
                </a:solidFill>
              </a:defRPr>
            </a:pPr>
            <a:r>
              <a:rPr sz="2925" b="1">
                <a:solidFill>
                  <a:srgbClr val="0B2F3F"/>
                </a:solidFill>
              </a:rPr>
              <a:t>The Talk Follows Three Comparisons</a:t>
            </a:r>
          </a:p>
        </p:txBody>
      </p:sp>
      <p:sp>
        <p:nvSpPr>
          <p:cNvPr id="5" name="setup-line">
            <a:extLst>
              <a:ext uri="{FF2B5EF4-FFF2-40B4-BE49-F238E27FC236}">
                <a16:creationId xmlns:a16="http://schemas.microsoft.com/office/drawing/2014/main" id="{3207F7E5-30AB-49F8-94F8-7F0B915B87E4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144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1650">
                <a:solidFill>
                  <a:srgbClr val="2F4653"/>
                </a:solidFill>
              </a:defRPr>
            </a:pPr>
            <a:r>
              <a:rPr sz="1650">
                <a:solidFill>
                  <a:srgbClr val="2F4653"/>
                </a:solidFill>
              </a:rPr>
              <a:t>Each research question maps directly to a design choice in the experiment.</a:t>
            </a:r>
          </a:p>
        </p:txBody>
      </p:sp>
      <p:sp>
        <p:nvSpPr>
          <p:cNvPr id="6" name="rq-table-bg">
            <a:extLst>
              <a:ext uri="{FF2B5EF4-FFF2-40B4-BE49-F238E27FC236}">
                <a16:creationId xmlns:a16="http://schemas.microsoft.com/office/drawing/2014/main" id="{186D8A37-4994-44AC-A198-701EF4839727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10382250" cy="2476500"/>
          </a:xfrm>
          <a:prstGeom prst="rect">
            <a:avLst/>
          </a:prstGeom>
          <a:noFill/>
          <a:ln w="9525">
            <a:solidFill>
              <a:srgbClr val="CBDCE3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7" name="rq-table-header-bg">
            <a:extLst>
              <a:ext uri="{FF2B5EF4-FFF2-40B4-BE49-F238E27FC236}">
                <a16:creationId xmlns:a16="http://schemas.microsoft.com/office/drawing/2014/main" id="{2AA12827-E135-450E-9199-4436D3216793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10382250" cy="36195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8" name="rq-table-hline-0">
            <a:extLst>
              <a:ext uri="{FF2B5EF4-FFF2-40B4-BE49-F238E27FC236}">
                <a16:creationId xmlns:a16="http://schemas.microsoft.com/office/drawing/2014/main" id="{85E8A8FC-88E2-4796-95F3-0D6528183DF8}"/>
              </a:ext>
            </a:extLst>
          </p:cNvPr>
          <p:cNvSpPr>
            <a:spLocks noGrp="1"/>
          </p:cNvSpPr>
          <p:nvPr/>
        </p:nvSpPr>
        <p:spPr>
          <a:xfrm>
            <a:off x="781050" y="2609850"/>
            <a:ext cx="103822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9" name="rq-table-cell-0-0">
            <a:extLst>
              <a:ext uri="{FF2B5EF4-FFF2-40B4-BE49-F238E27FC236}">
                <a16:creationId xmlns:a16="http://schemas.microsoft.com/office/drawing/2014/main" id="{FA7C90E5-7496-43C3-8D64-08FA2196F611}"/>
              </a:ext>
            </a:extLst>
          </p:cNvPr>
          <p:cNvSpPr>
            <a:spLocks noGrp="1"/>
          </p:cNvSpPr>
          <p:nvPr/>
        </p:nvSpPr>
        <p:spPr>
          <a:xfrm>
            <a:off x="876300" y="2314575"/>
            <a:ext cx="7334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RQ</a:t>
            </a:r>
          </a:p>
        </p:txBody>
      </p:sp>
      <p:sp>
        <p:nvSpPr>
          <p:cNvPr id="10" name="rq-table-vline-0-1">
            <a:extLst>
              <a:ext uri="{FF2B5EF4-FFF2-40B4-BE49-F238E27FC236}">
                <a16:creationId xmlns:a16="http://schemas.microsoft.com/office/drawing/2014/main" id="{CA59B905-913B-4935-ACBD-19A185DBF6D0}"/>
              </a:ext>
            </a:extLst>
          </p:cNvPr>
          <p:cNvSpPr>
            <a:spLocks noGrp="1"/>
          </p:cNvSpPr>
          <p:nvPr/>
        </p:nvSpPr>
        <p:spPr>
          <a:xfrm>
            <a:off x="1685925" y="2247900"/>
            <a:ext cx="9525" cy="3619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1" name="rq-table-cell-0-1">
            <a:extLst>
              <a:ext uri="{FF2B5EF4-FFF2-40B4-BE49-F238E27FC236}">
                <a16:creationId xmlns:a16="http://schemas.microsoft.com/office/drawing/2014/main" id="{195B32A8-DEFB-416B-ADBA-8218CD80D084}"/>
              </a:ext>
            </a:extLst>
          </p:cNvPr>
          <p:cNvSpPr>
            <a:spLocks noGrp="1"/>
          </p:cNvSpPr>
          <p:nvPr/>
        </p:nvSpPr>
        <p:spPr>
          <a:xfrm>
            <a:off x="1781175" y="2314575"/>
            <a:ext cx="2209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Comparison</a:t>
            </a:r>
          </a:p>
        </p:txBody>
      </p:sp>
      <p:sp>
        <p:nvSpPr>
          <p:cNvPr id="12" name="rq-table-vline-0-2">
            <a:extLst>
              <a:ext uri="{FF2B5EF4-FFF2-40B4-BE49-F238E27FC236}">
                <a16:creationId xmlns:a16="http://schemas.microsoft.com/office/drawing/2014/main" id="{DC5864A3-79F5-46C4-9047-FE86AD43F815}"/>
              </a:ext>
            </a:extLst>
          </p:cNvPr>
          <p:cNvSpPr>
            <a:spLocks noGrp="1"/>
          </p:cNvSpPr>
          <p:nvPr/>
        </p:nvSpPr>
        <p:spPr>
          <a:xfrm>
            <a:off x="4067175" y="2247900"/>
            <a:ext cx="9525" cy="3619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3" name="rq-table-cell-0-2">
            <a:extLst>
              <a:ext uri="{FF2B5EF4-FFF2-40B4-BE49-F238E27FC236}">
                <a16:creationId xmlns:a16="http://schemas.microsoft.com/office/drawing/2014/main" id="{6BE87070-C670-4AA2-8789-8C804317DB53}"/>
              </a:ext>
            </a:extLst>
          </p:cNvPr>
          <p:cNvSpPr>
            <a:spLocks noGrp="1"/>
          </p:cNvSpPr>
          <p:nvPr/>
        </p:nvSpPr>
        <p:spPr>
          <a:xfrm>
            <a:off x="4162425" y="2314575"/>
            <a:ext cx="36861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Question asked</a:t>
            </a:r>
          </a:p>
        </p:txBody>
      </p:sp>
      <p:sp>
        <p:nvSpPr>
          <p:cNvPr id="14" name="rq-table-vline-0-3">
            <a:extLst>
              <a:ext uri="{FF2B5EF4-FFF2-40B4-BE49-F238E27FC236}">
                <a16:creationId xmlns:a16="http://schemas.microsoft.com/office/drawing/2014/main" id="{72D19439-748A-4F60-90D1-81C26B98C158}"/>
              </a:ext>
            </a:extLst>
          </p:cNvPr>
          <p:cNvSpPr>
            <a:spLocks noGrp="1"/>
          </p:cNvSpPr>
          <p:nvPr/>
        </p:nvSpPr>
        <p:spPr>
          <a:xfrm>
            <a:off x="7924800" y="2247900"/>
            <a:ext cx="9525" cy="3619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5" name="rq-table-cell-0-3">
            <a:extLst>
              <a:ext uri="{FF2B5EF4-FFF2-40B4-BE49-F238E27FC236}">
                <a16:creationId xmlns:a16="http://schemas.microsoft.com/office/drawing/2014/main" id="{B9E08061-76B1-4AEF-BB10-1553BE9616D1}"/>
              </a:ext>
            </a:extLst>
          </p:cNvPr>
          <p:cNvSpPr>
            <a:spLocks noGrp="1"/>
          </p:cNvSpPr>
          <p:nvPr/>
        </p:nvSpPr>
        <p:spPr>
          <a:xfrm>
            <a:off x="8020050" y="2314575"/>
            <a:ext cx="3067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16" name="rq-table-hline-1">
            <a:extLst>
              <a:ext uri="{FF2B5EF4-FFF2-40B4-BE49-F238E27FC236}">
                <a16:creationId xmlns:a16="http://schemas.microsoft.com/office/drawing/2014/main" id="{94FC8B2D-D46F-46AB-A9E0-D999DEC5111A}"/>
              </a:ext>
            </a:extLst>
          </p:cNvPr>
          <p:cNvSpPr>
            <a:spLocks noGrp="1"/>
          </p:cNvSpPr>
          <p:nvPr/>
        </p:nvSpPr>
        <p:spPr>
          <a:xfrm>
            <a:off x="781050" y="3314700"/>
            <a:ext cx="103822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7" name="rq-table-cell-1-0">
            <a:extLst>
              <a:ext uri="{FF2B5EF4-FFF2-40B4-BE49-F238E27FC236}">
                <a16:creationId xmlns:a16="http://schemas.microsoft.com/office/drawing/2014/main" id="{AF2D86F7-62C7-427C-8C34-F679A85A2F1C}"/>
              </a:ext>
            </a:extLst>
          </p:cNvPr>
          <p:cNvSpPr>
            <a:spLocks noGrp="1"/>
          </p:cNvSpPr>
          <p:nvPr/>
        </p:nvSpPr>
        <p:spPr>
          <a:xfrm>
            <a:off x="876300" y="2676525"/>
            <a:ext cx="7334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0B4D63"/>
                </a:solidFill>
              </a:defRPr>
            </a:pPr>
            <a:r>
              <a:rPr sz="1200" b="1">
                <a:solidFill>
                  <a:srgbClr val="0B4D63"/>
                </a:solidFill>
              </a:rPr>
              <a:t>RQ1</a:t>
            </a:r>
          </a:p>
        </p:txBody>
      </p:sp>
      <p:sp>
        <p:nvSpPr>
          <p:cNvPr id="18" name="rq-table-vline-1-1">
            <a:extLst>
              <a:ext uri="{FF2B5EF4-FFF2-40B4-BE49-F238E27FC236}">
                <a16:creationId xmlns:a16="http://schemas.microsoft.com/office/drawing/2014/main" id="{C05BCF54-730D-421D-86FB-BB3AC18BB1BC}"/>
              </a:ext>
            </a:extLst>
          </p:cNvPr>
          <p:cNvSpPr>
            <a:spLocks noGrp="1"/>
          </p:cNvSpPr>
          <p:nvPr/>
        </p:nvSpPr>
        <p:spPr>
          <a:xfrm>
            <a:off x="1685925" y="2609850"/>
            <a:ext cx="9525" cy="7048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9" name="rq-table-cell-1-1">
            <a:extLst>
              <a:ext uri="{FF2B5EF4-FFF2-40B4-BE49-F238E27FC236}">
                <a16:creationId xmlns:a16="http://schemas.microsoft.com/office/drawing/2014/main" id="{CC1211F8-E20E-4928-B85B-881635CFEFEB}"/>
              </a:ext>
            </a:extLst>
          </p:cNvPr>
          <p:cNvSpPr>
            <a:spLocks noGrp="1"/>
          </p:cNvSpPr>
          <p:nvPr/>
        </p:nvSpPr>
        <p:spPr>
          <a:xfrm>
            <a:off x="1781175" y="2676525"/>
            <a:ext cx="2209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Feature sources and endpoints</a:t>
            </a:r>
          </a:p>
        </p:txBody>
      </p:sp>
      <p:sp>
        <p:nvSpPr>
          <p:cNvPr id="20" name="rq-table-vline-1-2">
            <a:extLst>
              <a:ext uri="{FF2B5EF4-FFF2-40B4-BE49-F238E27FC236}">
                <a16:creationId xmlns:a16="http://schemas.microsoft.com/office/drawing/2014/main" id="{0C40BAB5-1A30-4A50-B557-9792E56D3F93}"/>
              </a:ext>
            </a:extLst>
          </p:cNvPr>
          <p:cNvSpPr>
            <a:spLocks noGrp="1"/>
          </p:cNvSpPr>
          <p:nvPr/>
        </p:nvSpPr>
        <p:spPr>
          <a:xfrm>
            <a:off x="4067175" y="2609850"/>
            <a:ext cx="9525" cy="7048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1" name="rq-table-cell-1-2">
            <a:extLst>
              <a:ext uri="{FF2B5EF4-FFF2-40B4-BE49-F238E27FC236}">
                <a16:creationId xmlns:a16="http://schemas.microsoft.com/office/drawing/2014/main" id="{47CB1EF4-2F01-4DB1-A08D-C62CD075ACCD}"/>
              </a:ext>
            </a:extLst>
          </p:cNvPr>
          <p:cNvSpPr>
            <a:spLocks noGrp="1"/>
          </p:cNvSpPr>
          <p:nvPr/>
        </p:nvSpPr>
        <p:spPr>
          <a:xfrm>
            <a:off x="4162425" y="2676525"/>
            <a:ext cx="36861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How do clinical, cytogenetic, and molecular features affect prediction across OS, LFS, and AMLt?</a:t>
            </a:r>
          </a:p>
        </p:txBody>
      </p:sp>
      <p:sp>
        <p:nvSpPr>
          <p:cNvPr id="22" name="rq-table-vline-1-3">
            <a:extLst>
              <a:ext uri="{FF2B5EF4-FFF2-40B4-BE49-F238E27FC236}">
                <a16:creationId xmlns:a16="http://schemas.microsoft.com/office/drawing/2014/main" id="{1C1E99A4-7BE9-4703-8CE1-885F5660F36A}"/>
              </a:ext>
            </a:extLst>
          </p:cNvPr>
          <p:cNvSpPr>
            <a:spLocks noGrp="1"/>
          </p:cNvSpPr>
          <p:nvPr/>
        </p:nvSpPr>
        <p:spPr>
          <a:xfrm>
            <a:off x="7924800" y="2609850"/>
            <a:ext cx="9525" cy="7048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3" name="rq-table-cell-1-3">
            <a:extLst>
              <a:ext uri="{FF2B5EF4-FFF2-40B4-BE49-F238E27FC236}">
                <a16:creationId xmlns:a16="http://schemas.microsoft.com/office/drawing/2014/main" id="{00B70ED9-421B-44DD-9E2E-38717A5CA4AE}"/>
              </a:ext>
            </a:extLst>
          </p:cNvPr>
          <p:cNvSpPr>
            <a:spLocks noGrp="1"/>
          </p:cNvSpPr>
          <p:nvPr/>
        </p:nvSpPr>
        <p:spPr>
          <a:xfrm>
            <a:off x="8020050" y="2676525"/>
            <a:ext cx="3067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Shows whether richer biological information improves individualized prognosis</a:t>
            </a:r>
          </a:p>
        </p:txBody>
      </p:sp>
      <p:sp>
        <p:nvSpPr>
          <p:cNvPr id="24" name="rq-table-stripe-2">
            <a:extLst>
              <a:ext uri="{FF2B5EF4-FFF2-40B4-BE49-F238E27FC236}">
                <a16:creationId xmlns:a16="http://schemas.microsoft.com/office/drawing/2014/main" id="{94A12B68-7ED3-4FC5-B4EC-D2AABECC1E3A}"/>
              </a:ext>
            </a:extLst>
          </p:cNvPr>
          <p:cNvSpPr>
            <a:spLocks noGrp="1"/>
          </p:cNvSpPr>
          <p:nvPr/>
        </p:nvSpPr>
        <p:spPr>
          <a:xfrm>
            <a:off x="781050" y="3314700"/>
            <a:ext cx="10382250" cy="704850"/>
          </a:xfrm>
          <a:prstGeom prst="rect">
            <a:avLst/>
          </a:prstGeom>
          <a:solidFill>
            <a:srgbClr val="F1F6F8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5" name="rq-table-hline-2">
            <a:extLst>
              <a:ext uri="{FF2B5EF4-FFF2-40B4-BE49-F238E27FC236}">
                <a16:creationId xmlns:a16="http://schemas.microsoft.com/office/drawing/2014/main" id="{A4B16B7A-3AC9-42DE-9633-B0B327051101}"/>
              </a:ext>
            </a:extLst>
          </p:cNvPr>
          <p:cNvSpPr>
            <a:spLocks noGrp="1"/>
          </p:cNvSpPr>
          <p:nvPr/>
        </p:nvSpPr>
        <p:spPr>
          <a:xfrm>
            <a:off x="781050" y="4019550"/>
            <a:ext cx="103822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6" name="rq-table-cell-2-0">
            <a:extLst>
              <a:ext uri="{FF2B5EF4-FFF2-40B4-BE49-F238E27FC236}">
                <a16:creationId xmlns:a16="http://schemas.microsoft.com/office/drawing/2014/main" id="{C94BB962-DBB5-48D2-89C3-A993476DC23C}"/>
              </a:ext>
            </a:extLst>
          </p:cNvPr>
          <p:cNvSpPr>
            <a:spLocks noGrp="1"/>
          </p:cNvSpPr>
          <p:nvPr/>
        </p:nvSpPr>
        <p:spPr>
          <a:xfrm>
            <a:off x="876300" y="3381375"/>
            <a:ext cx="7334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0B4D63"/>
                </a:solidFill>
              </a:defRPr>
            </a:pPr>
            <a:r>
              <a:rPr sz="1200" b="1">
                <a:solidFill>
                  <a:srgbClr val="0B4D63"/>
                </a:solidFill>
              </a:rPr>
              <a:t>RQ2</a:t>
            </a:r>
          </a:p>
        </p:txBody>
      </p:sp>
      <p:sp>
        <p:nvSpPr>
          <p:cNvPr id="27" name="rq-table-vline-2-1">
            <a:extLst>
              <a:ext uri="{FF2B5EF4-FFF2-40B4-BE49-F238E27FC236}">
                <a16:creationId xmlns:a16="http://schemas.microsoft.com/office/drawing/2014/main" id="{C10F9790-8DAD-44B6-84B4-6FF903CF866A}"/>
              </a:ext>
            </a:extLst>
          </p:cNvPr>
          <p:cNvSpPr>
            <a:spLocks noGrp="1"/>
          </p:cNvSpPr>
          <p:nvPr/>
        </p:nvSpPr>
        <p:spPr>
          <a:xfrm>
            <a:off x="1685925" y="3314700"/>
            <a:ext cx="9525" cy="7048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8" name="rq-table-cell-2-1">
            <a:extLst>
              <a:ext uri="{FF2B5EF4-FFF2-40B4-BE49-F238E27FC236}">
                <a16:creationId xmlns:a16="http://schemas.microsoft.com/office/drawing/2014/main" id="{97556F5C-78F5-497E-B63F-9385AE0B1EC4}"/>
              </a:ext>
            </a:extLst>
          </p:cNvPr>
          <p:cNvSpPr>
            <a:spLocks noGrp="1"/>
          </p:cNvSpPr>
          <p:nvPr/>
        </p:nvSpPr>
        <p:spPr>
          <a:xfrm>
            <a:off x="1781175" y="3381375"/>
            <a:ext cx="2209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Linear vs deep survival models</a:t>
            </a:r>
          </a:p>
        </p:txBody>
      </p:sp>
      <p:sp>
        <p:nvSpPr>
          <p:cNvPr id="29" name="rq-table-vline-2-2">
            <a:extLst>
              <a:ext uri="{FF2B5EF4-FFF2-40B4-BE49-F238E27FC236}">
                <a16:creationId xmlns:a16="http://schemas.microsoft.com/office/drawing/2014/main" id="{87DAE895-13E6-44FE-8379-BB1A0B2BFC03}"/>
              </a:ext>
            </a:extLst>
          </p:cNvPr>
          <p:cNvSpPr>
            <a:spLocks noGrp="1"/>
          </p:cNvSpPr>
          <p:nvPr/>
        </p:nvSpPr>
        <p:spPr>
          <a:xfrm>
            <a:off x="4067175" y="3314700"/>
            <a:ext cx="9525" cy="7048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0" name="rq-table-cell-2-2">
            <a:extLst>
              <a:ext uri="{FF2B5EF4-FFF2-40B4-BE49-F238E27FC236}">
                <a16:creationId xmlns:a16="http://schemas.microsoft.com/office/drawing/2014/main" id="{B23AE035-0AAD-4FBC-B18D-510706343C15}"/>
              </a:ext>
            </a:extLst>
          </p:cNvPr>
          <p:cNvSpPr>
            <a:spLocks noGrp="1"/>
          </p:cNvSpPr>
          <p:nvPr/>
        </p:nvSpPr>
        <p:spPr>
          <a:xfrm>
            <a:off x="4162425" y="3381375"/>
            <a:ext cx="36861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How do Coxnet and L-MTLR compare with DeepSurv, N-MTLR, and PC Hazard?</a:t>
            </a:r>
          </a:p>
        </p:txBody>
      </p:sp>
      <p:sp>
        <p:nvSpPr>
          <p:cNvPr id="31" name="rq-table-vline-2-3">
            <a:extLst>
              <a:ext uri="{FF2B5EF4-FFF2-40B4-BE49-F238E27FC236}">
                <a16:creationId xmlns:a16="http://schemas.microsoft.com/office/drawing/2014/main" id="{BB216175-F4EE-414C-B0FA-C35C0586F5D4}"/>
              </a:ext>
            </a:extLst>
          </p:cNvPr>
          <p:cNvSpPr>
            <a:spLocks noGrp="1"/>
          </p:cNvSpPr>
          <p:nvPr/>
        </p:nvSpPr>
        <p:spPr>
          <a:xfrm>
            <a:off x="7924800" y="3314700"/>
            <a:ext cx="9525" cy="7048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2" name="rq-table-cell-2-3">
            <a:extLst>
              <a:ext uri="{FF2B5EF4-FFF2-40B4-BE49-F238E27FC236}">
                <a16:creationId xmlns:a16="http://schemas.microsoft.com/office/drawing/2014/main" id="{EBF17B64-7A42-43BD-9677-72C67A12C03E}"/>
              </a:ext>
            </a:extLst>
          </p:cNvPr>
          <p:cNvSpPr>
            <a:spLocks noGrp="1"/>
          </p:cNvSpPr>
          <p:nvPr/>
        </p:nvSpPr>
        <p:spPr>
          <a:xfrm>
            <a:off x="8020050" y="3381375"/>
            <a:ext cx="3067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Separates model capacity from feature representation</a:t>
            </a:r>
          </a:p>
        </p:txBody>
      </p:sp>
      <p:sp>
        <p:nvSpPr>
          <p:cNvPr id="33" name="rq-table-hline-3">
            <a:extLst>
              <a:ext uri="{FF2B5EF4-FFF2-40B4-BE49-F238E27FC236}">
                <a16:creationId xmlns:a16="http://schemas.microsoft.com/office/drawing/2014/main" id="{C62E01EB-D403-4375-8D82-F9374C16A109}"/>
              </a:ext>
            </a:extLst>
          </p:cNvPr>
          <p:cNvSpPr>
            <a:spLocks noGrp="1"/>
          </p:cNvSpPr>
          <p:nvPr/>
        </p:nvSpPr>
        <p:spPr>
          <a:xfrm>
            <a:off x="781050" y="4724400"/>
            <a:ext cx="103822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4" name="rq-table-cell-3-0">
            <a:extLst>
              <a:ext uri="{FF2B5EF4-FFF2-40B4-BE49-F238E27FC236}">
                <a16:creationId xmlns:a16="http://schemas.microsoft.com/office/drawing/2014/main" id="{A8E59B6B-4154-4A05-9CE8-2C92A64879B9}"/>
              </a:ext>
            </a:extLst>
          </p:cNvPr>
          <p:cNvSpPr>
            <a:spLocks noGrp="1"/>
          </p:cNvSpPr>
          <p:nvPr/>
        </p:nvSpPr>
        <p:spPr>
          <a:xfrm>
            <a:off x="876300" y="4086225"/>
            <a:ext cx="7334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0B4D63"/>
                </a:solidFill>
              </a:defRPr>
            </a:pPr>
            <a:r>
              <a:rPr sz="1200" b="1">
                <a:solidFill>
                  <a:srgbClr val="0B4D63"/>
                </a:solidFill>
              </a:rPr>
              <a:t>RQ3</a:t>
            </a:r>
          </a:p>
        </p:txBody>
      </p:sp>
      <p:sp>
        <p:nvSpPr>
          <p:cNvPr id="35" name="rq-table-vline-3-1">
            <a:extLst>
              <a:ext uri="{FF2B5EF4-FFF2-40B4-BE49-F238E27FC236}">
                <a16:creationId xmlns:a16="http://schemas.microsoft.com/office/drawing/2014/main" id="{EB1539E9-D00D-4396-9C1C-9C6D3E85322B}"/>
              </a:ext>
            </a:extLst>
          </p:cNvPr>
          <p:cNvSpPr>
            <a:spLocks noGrp="1"/>
          </p:cNvSpPr>
          <p:nvPr/>
        </p:nvSpPr>
        <p:spPr>
          <a:xfrm>
            <a:off x="1685925" y="4019550"/>
            <a:ext cx="9525" cy="7048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6" name="rq-table-cell-3-1">
            <a:extLst>
              <a:ext uri="{FF2B5EF4-FFF2-40B4-BE49-F238E27FC236}">
                <a16:creationId xmlns:a16="http://schemas.microsoft.com/office/drawing/2014/main" id="{34DF2574-B4E8-4450-BC3B-4E00E74F6500}"/>
              </a:ext>
            </a:extLst>
          </p:cNvPr>
          <p:cNvSpPr>
            <a:spLocks noGrp="1"/>
          </p:cNvSpPr>
          <p:nvPr/>
        </p:nvSpPr>
        <p:spPr>
          <a:xfrm>
            <a:off x="1781175" y="4086225"/>
            <a:ext cx="2209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ML models vs IPSS-M</a:t>
            </a:r>
          </a:p>
        </p:txBody>
      </p:sp>
      <p:sp>
        <p:nvSpPr>
          <p:cNvPr id="37" name="rq-table-vline-3-2">
            <a:extLst>
              <a:ext uri="{FF2B5EF4-FFF2-40B4-BE49-F238E27FC236}">
                <a16:creationId xmlns:a16="http://schemas.microsoft.com/office/drawing/2014/main" id="{C0D9AECE-AD54-49E4-83A9-DE9BFC9D8582}"/>
              </a:ext>
            </a:extLst>
          </p:cNvPr>
          <p:cNvSpPr>
            <a:spLocks noGrp="1"/>
          </p:cNvSpPr>
          <p:nvPr/>
        </p:nvSpPr>
        <p:spPr>
          <a:xfrm>
            <a:off x="4067175" y="4019550"/>
            <a:ext cx="9525" cy="7048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8" name="rq-table-cell-3-2">
            <a:extLst>
              <a:ext uri="{FF2B5EF4-FFF2-40B4-BE49-F238E27FC236}">
                <a16:creationId xmlns:a16="http://schemas.microsoft.com/office/drawing/2014/main" id="{7AC51372-1122-4D55-99A2-292A3FFECE89}"/>
              </a:ext>
            </a:extLst>
          </p:cNvPr>
          <p:cNvSpPr>
            <a:spLocks noGrp="1"/>
          </p:cNvSpPr>
          <p:nvPr/>
        </p:nvSpPr>
        <p:spPr>
          <a:xfrm>
            <a:off x="4162425" y="4086225"/>
            <a:ext cx="36861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Can the best ML models exceed the latest molecular prognostic scoring system?</a:t>
            </a:r>
          </a:p>
        </p:txBody>
      </p:sp>
      <p:sp>
        <p:nvSpPr>
          <p:cNvPr id="39" name="rq-table-vline-3-3">
            <a:extLst>
              <a:ext uri="{FF2B5EF4-FFF2-40B4-BE49-F238E27FC236}">
                <a16:creationId xmlns:a16="http://schemas.microsoft.com/office/drawing/2014/main" id="{49557040-31CC-49F4-A0A6-FBF5E6DA488C}"/>
              </a:ext>
            </a:extLst>
          </p:cNvPr>
          <p:cNvSpPr>
            <a:spLocks noGrp="1"/>
          </p:cNvSpPr>
          <p:nvPr/>
        </p:nvSpPr>
        <p:spPr>
          <a:xfrm>
            <a:off x="7924800" y="4019550"/>
            <a:ext cx="9525" cy="7048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0" name="rq-table-cell-3-3">
            <a:extLst>
              <a:ext uri="{FF2B5EF4-FFF2-40B4-BE49-F238E27FC236}">
                <a16:creationId xmlns:a16="http://schemas.microsoft.com/office/drawing/2014/main" id="{4FAEC914-A298-44EA-9F6E-F7BB336BBFBF}"/>
              </a:ext>
            </a:extLst>
          </p:cNvPr>
          <p:cNvSpPr>
            <a:spLocks noGrp="1"/>
          </p:cNvSpPr>
          <p:nvPr/>
        </p:nvSpPr>
        <p:spPr>
          <a:xfrm>
            <a:off x="8020050" y="4086225"/>
            <a:ext cx="3067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Connects model performance to a clinically meaningful baseline</a:t>
            </a:r>
          </a:p>
        </p:txBody>
      </p:sp>
      <p:sp>
        <p:nvSpPr>
          <p:cNvPr id="41" name="transition">
            <a:extLst>
              <a:ext uri="{FF2B5EF4-FFF2-40B4-BE49-F238E27FC236}">
                <a16:creationId xmlns:a16="http://schemas.microsoft.com/office/drawing/2014/main" id="{27F566D2-D209-4937-9DEC-32DAA93FA8F2}"/>
              </a:ext>
            </a:extLst>
          </p:cNvPr>
          <p:cNvSpPr>
            <a:spLocks noGrp="1"/>
          </p:cNvSpPr>
          <p:nvPr/>
        </p:nvSpPr>
        <p:spPr>
          <a:xfrm>
            <a:off x="876300" y="4905375"/>
            <a:ext cx="904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1425" b="1">
                <a:solidFill>
                  <a:srgbClr val="0B2F3F"/>
                </a:solidFill>
              </a:defRPr>
            </a:pPr>
            <a:r>
              <a:rPr sz="1425" b="1">
                <a:solidFill>
                  <a:srgbClr val="0B2F3F"/>
                </a:solidFill>
              </a:rPr>
              <a:t>Next: data, endpoint construction, feature sets, model training, and results.</a:t>
            </a:r>
          </a:p>
        </p:txBody>
      </p:sp>
      <p:sp>
        <p:nvSpPr>
          <p:cNvPr id="42" name="takeaway-band">
            <a:extLst>
              <a:ext uri="{FF2B5EF4-FFF2-40B4-BE49-F238E27FC236}">
                <a16:creationId xmlns:a16="http://schemas.microsoft.com/office/drawing/2014/main" id="{8C193DA5-0DAE-4B2E-9C4F-17EDF8B87AD3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820400" cy="55245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3" name="takeaway-label">
            <a:extLst>
              <a:ext uri="{FF2B5EF4-FFF2-40B4-BE49-F238E27FC236}">
                <a16:creationId xmlns:a16="http://schemas.microsoft.com/office/drawing/2014/main" id="{E18C7BFD-1602-4F7F-8ACB-1206705A1BCB}"/>
              </a:ext>
            </a:extLst>
          </p:cNvPr>
          <p:cNvSpPr>
            <a:spLocks noGrp="1"/>
          </p:cNvSpPr>
          <p:nvPr/>
        </p:nvSpPr>
        <p:spPr>
          <a:xfrm>
            <a:off x="952500" y="5953125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050" b="1">
                <a:solidFill>
                  <a:srgbClr val="C7E8F2"/>
                </a:solidFill>
              </a:defRPr>
            </a:pPr>
            <a:r>
              <a:rPr sz="1050" b="1">
                <a:solidFill>
                  <a:srgbClr val="C7E8F2"/>
                </a:solidFill>
              </a:rPr>
              <a:t>Roadmap</a:t>
            </a:r>
          </a:p>
        </p:txBody>
      </p:sp>
      <p:sp>
        <p:nvSpPr>
          <p:cNvPr id="44" name="takeaway-text">
            <a:extLst>
              <a:ext uri="{FF2B5EF4-FFF2-40B4-BE49-F238E27FC236}">
                <a16:creationId xmlns:a16="http://schemas.microsoft.com/office/drawing/2014/main" id="{21369C06-E739-4BD8-B574-CD26A78B2C67}"/>
              </a:ext>
            </a:extLst>
          </p:cNvPr>
          <p:cNvSpPr>
            <a:spLocks noGrp="1"/>
          </p:cNvSpPr>
          <p:nvPr/>
        </p:nvSpPr>
        <p:spPr>
          <a:xfrm>
            <a:off x="952500" y="6143625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The rest of the presentation answers these questions in sequence.</a:t>
            </a:r>
          </a:p>
        </p:txBody>
      </p:sp>
      <p:sp>
        <p:nvSpPr>
          <p:cNvPr id="45" name="footer">
            <a:extLst>
              <a:ext uri="{FF2B5EF4-FFF2-40B4-BE49-F238E27FC236}">
                <a16:creationId xmlns:a16="http://schemas.microsoft.com/office/drawing/2014/main" id="{45668937-BE15-4C67-9205-8BC53B21C5E1}"/>
              </a:ext>
            </a:extLst>
          </p:cNvPr>
          <p:cNvSpPr>
            <a:spLocks noGrp="1"/>
          </p:cNvSpPr>
          <p:nvPr/>
        </p:nvSpPr>
        <p:spPr>
          <a:xfrm>
            <a:off x="8858250" y="65722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r">
              <a:buNone/>
              <a:defRPr sz="750">
                <a:solidFill>
                  <a:srgbClr val="7A8D97"/>
                </a:solidFill>
              </a:defRPr>
            </a:pPr>
            <a:r>
              <a:rPr sz="750">
                <a:solidFill>
                  <a:srgbClr val="7A8D97"/>
                </a:solidFill>
              </a:rPr>
              <a:t>Machine Learning-Based Survival Prediction of Outcomes in MDS</a:t>
            </a:r>
          </a:p>
        </p:txBody>
      </p:sp>
      <p:sp>
        <p:nvSpPr>
          <p:cNvPr id="46" name="source-line-6">
            <a:extLst>
              <a:ext uri="{FF2B5EF4-FFF2-40B4-BE49-F238E27FC236}">
                <a16:creationId xmlns:a16="http://schemas.microsoft.com/office/drawing/2014/main" id="{F8E60222-3B9A-4D40-8A90-64A2B3DB3AE7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42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defRPr sz="788">
                <a:solidFill>
                  <a:srgbClr val="7A8D97"/>
                </a:solidFill>
              </a:defRPr>
            </a:pPr>
            <a:r>
              <a:rPr sz="788">
                <a:solidFill>
                  <a:srgbClr val="7A8D97"/>
                </a:solidFill>
              </a:rPr>
              <a:t>Sources: [2], [7]</a:t>
            </a:r>
          </a:p>
        </p:txBody>
      </p:sp>
    </p:spTree>
    <p:extLst>
      <p:ext uri="{BB962C8B-B14F-4D97-AF65-F5344CB8AC3E}">
        <p14:creationId xmlns:p14="http://schemas.microsoft.com/office/powerpoint/2010/main" val="946737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left-accent-bar">
            <a:extLst>
              <a:ext uri="{FF2B5EF4-FFF2-40B4-BE49-F238E27FC236}">
                <a16:creationId xmlns:a16="http://schemas.microsoft.com/office/drawing/2014/main" id="{CEE82CDA-7778-47A0-AAD9-3DD385836A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op-rule">
            <a:extLst>
              <a:ext uri="{FF2B5EF4-FFF2-40B4-BE49-F238E27FC236}">
                <a16:creationId xmlns:a16="http://schemas.microsoft.com/office/drawing/2014/main" id="{0EB08A41-DDDE-4816-AA03-E031BA8D6B4D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19050"/>
          </a:xfrm>
          <a:prstGeom prst="rect">
            <a:avLst/>
          </a:prstGeom>
          <a:solidFill>
            <a:srgbClr val="DDE8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69E90BC9-FBE8-476C-A0C4-2BC85AFF8BEE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200" b="1">
                <a:solidFill>
                  <a:srgbClr val="0B4D63"/>
                </a:solidFill>
              </a:defRPr>
            </a:pPr>
            <a:r>
              <a:rPr sz="1200" b="1">
                <a:solidFill>
                  <a:srgbClr val="0B4D63"/>
                </a:solidFill>
              </a:rPr>
              <a:t>DATASET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6352321D-B759-42A9-A149-66080BB57EB7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2925" b="1">
                <a:solidFill>
                  <a:srgbClr val="0B2F3F"/>
                </a:solidFill>
              </a:defRPr>
            </a:pPr>
            <a:r>
              <a:rPr sz="2925" b="1">
                <a:solidFill>
                  <a:srgbClr val="0B2F3F"/>
                </a:solidFill>
              </a:rPr>
              <a:t>Cohort Construction and Preprocessing</a:t>
            </a:r>
          </a:p>
        </p:txBody>
      </p:sp>
      <p:sp>
        <p:nvSpPr>
          <p:cNvPr id="5" name="setup-line">
            <a:extLst>
              <a:ext uri="{FF2B5EF4-FFF2-40B4-BE49-F238E27FC236}">
                <a16:creationId xmlns:a16="http://schemas.microsoft.com/office/drawing/2014/main" id="{D423D012-43EE-48BA-BE23-D24550BC2C56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144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1650">
                <a:solidFill>
                  <a:srgbClr val="2F4653"/>
                </a:solidFill>
              </a:defRPr>
            </a:pPr>
            <a:r>
              <a:rPr sz="1650">
                <a:solidFill>
                  <a:srgbClr val="2F4653"/>
                </a:solidFill>
              </a:rPr>
              <a:t>The final analysis cohort includes patients with available endpoints and cytogenetic information.</a:t>
            </a:r>
          </a:p>
        </p:txBody>
      </p:sp>
      <p:sp>
        <p:nvSpPr>
          <p:cNvPr id="6" name="section-rule-Cohort attrition">
            <a:extLst>
              <a:ext uri="{FF2B5EF4-FFF2-40B4-BE49-F238E27FC236}">
                <a16:creationId xmlns:a16="http://schemas.microsoft.com/office/drawing/2014/main" id="{38087F51-BEF0-4A81-A6B7-8D00373911C0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4953000" cy="20955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ection-title-Cohort attrition">
            <a:extLst>
              <a:ext uri="{FF2B5EF4-FFF2-40B4-BE49-F238E27FC236}">
                <a16:creationId xmlns:a16="http://schemas.microsoft.com/office/drawing/2014/main" id="{7938895C-C740-435A-948A-CC6A9507DEB0}"/>
              </a:ext>
            </a:extLst>
          </p:cNvPr>
          <p:cNvSpPr>
            <a:spLocks noGrp="1"/>
          </p:cNvSpPr>
          <p:nvPr/>
        </p:nvSpPr>
        <p:spPr>
          <a:xfrm>
            <a:off x="876300" y="236220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125" b="1">
                <a:solidFill>
                  <a:srgbClr val="0B4D63"/>
                </a:solidFill>
              </a:defRPr>
            </a:pPr>
            <a:r>
              <a:rPr sz="1125" b="1">
                <a:solidFill>
                  <a:srgbClr val="0B4D63"/>
                </a:solidFill>
              </a:rPr>
              <a:t>COHORT ATTRITION</a:t>
            </a:r>
          </a:p>
        </p:txBody>
      </p:sp>
      <p:sp>
        <p:nvSpPr>
          <p:cNvPr id="8" name="cohort-source">
            <a:extLst>
              <a:ext uri="{FF2B5EF4-FFF2-40B4-BE49-F238E27FC236}">
                <a16:creationId xmlns:a16="http://schemas.microsoft.com/office/drawing/2014/main" id="{FDA8E314-0746-4ADE-A512-BC088F52CEB3}"/>
              </a:ext>
            </a:extLst>
          </p:cNvPr>
          <p:cNvSpPr>
            <a:spLocks noGrp="1"/>
          </p:cNvSpPr>
          <p:nvPr/>
        </p:nvSpPr>
        <p:spPr>
          <a:xfrm>
            <a:off x="1066800" y="276225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buNone/>
              <a:defRPr sz="2550" b="1">
                <a:solidFill>
                  <a:srgbClr val="0B2F3F"/>
                </a:solidFill>
              </a:defRPr>
            </a:pPr>
            <a:r>
              <a:rPr sz="2550" b="1">
                <a:solidFill>
                  <a:srgbClr val="0B2F3F"/>
                </a:solidFill>
              </a:rPr>
              <a:t>3,323</a:t>
            </a:r>
          </a:p>
        </p:txBody>
      </p:sp>
      <p:sp>
        <p:nvSpPr>
          <p:cNvPr id="9" name="cohort-source-body">
            <a:extLst>
              <a:ext uri="{FF2B5EF4-FFF2-40B4-BE49-F238E27FC236}">
                <a16:creationId xmlns:a16="http://schemas.microsoft.com/office/drawing/2014/main" id="{18999028-9187-4157-8973-401D26797CF5}"/>
              </a:ext>
            </a:extLst>
          </p:cNvPr>
          <p:cNvSpPr>
            <a:spLocks noGrp="1"/>
          </p:cNvSpPr>
          <p:nvPr/>
        </p:nvSpPr>
        <p:spPr>
          <a:xfrm>
            <a:off x="1066800" y="318135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200">
                <a:solidFill>
                  <a:srgbClr val="314B59"/>
                </a:solidFill>
              </a:defRPr>
            </a:pPr>
            <a:r>
              <a:rPr sz="1200">
                <a:solidFill>
                  <a:srgbClr val="314B59"/>
                </a:solidFill>
              </a:rPr>
              <a:t>patients in the Bernard et al. cohort</a:t>
            </a:r>
          </a:p>
        </p:txBody>
      </p:sp>
      <p:sp>
        <p:nvSpPr>
          <p:cNvPr id="10" name="attrition-rule-a">
            <a:extLst>
              <a:ext uri="{FF2B5EF4-FFF2-40B4-BE49-F238E27FC236}">
                <a16:creationId xmlns:a16="http://schemas.microsoft.com/office/drawing/2014/main" id="{251C4458-1868-4875-85B5-BE0A485F9AFE}"/>
              </a:ext>
            </a:extLst>
          </p:cNvPr>
          <p:cNvSpPr>
            <a:spLocks noGrp="1"/>
          </p:cNvSpPr>
          <p:nvPr/>
        </p:nvSpPr>
        <p:spPr>
          <a:xfrm>
            <a:off x="3190875" y="3028950"/>
            <a:ext cx="1238250" cy="2857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drop-text">
            <a:extLst>
              <a:ext uri="{FF2B5EF4-FFF2-40B4-BE49-F238E27FC236}">
                <a16:creationId xmlns:a16="http://schemas.microsoft.com/office/drawing/2014/main" id="{A9FA270C-B5D0-4116-8EA8-9284592662FE}"/>
              </a:ext>
            </a:extLst>
          </p:cNvPr>
          <p:cNvSpPr>
            <a:spLocks noGrp="1"/>
          </p:cNvSpPr>
          <p:nvPr/>
        </p:nvSpPr>
        <p:spPr>
          <a:xfrm>
            <a:off x="4514850" y="2819400"/>
            <a:ext cx="171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ctr">
              <a:buNone/>
              <a:defRPr sz="1125">
                <a:solidFill>
                  <a:srgbClr val="314B59"/>
                </a:solidFill>
              </a:defRPr>
            </a:pPr>
            <a:r>
              <a:rPr sz="1125">
                <a:solidFill>
                  <a:srgbClr val="314B59"/>
                </a:solidFill>
              </a:rPr>
              <a:t>drop missing</a:t>
            </a:r>
          </a:p>
          <a:p>
            <a:pPr algn="ctr">
              <a:buNone/>
              <a:defRPr sz="1125">
                <a:solidFill>
                  <a:srgbClr val="314B59"/>
                </a:solidFill>
              </a:defRPr>
            </a:pPr>
            <a:r>
              <a:rPr sz="1125">
                <a:solidFill>
                  <a:srgbClr val="314B59"/>
                </a:solidFill>
              </a:rPr>
              <a:t>endpoints or cytogenetics</a:t>
            </a:r>
          </a:p>
        </p:txBody>
      </p:sp>
      <p:sp>
        <p:nvSpPr>
          <p:cNvPr id="12" name="attrition-rule-b">
            <a:extLst>
              <a:ext uri="{FF2B5EF4-FFF2-40B4-BE49-F238E27FC236}">
                <a16:creationId xmlns:a16="http://schemas.microsoft.com/office/drawing/2014/main" id="{EDB24D28-A641-48E5-B7F2-7B5CBB7ED695}"/>
              </a:ext>
            </a:extLst>
          </p:cNvPr>
          <p:cNvSpPr>
            <a:spLocks noGrp="1"/>
          </p:cNvSpPr>
          <p:nvPr/>
        </p:nvSpPr>
        <p:spPr>
          <a:xfrm>
            <a:off x="6191250" y="3028950"/>
            <a:ext cx="1238250" cy="2857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cohort-final">
            <a:extLst>
              <a:ext uri="{FF2B5EF4-FFF2-40B4-BE49-F238E27FC236}">
                <a16:creationId xmlns:a16="http://schemas.microsoft.com/office/drawing/2014/main" id="{4C0E2615-FAE2-4FE1-A94D-74EDD4729AB6}"/>
              </a:ext>
            </a:extLst>
          </p:cNvPr>
          <p:cNvSpPr>
            <a:spLocks noGrp="1"/>
          </p:cNvSpPr>
          <p:nvPr/>
        </p:nvSpPr>
        <p:spPr>
          <a:xfrm>
            <a:off x="7620000" y="276225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buNone/>
              <a:defRPr sz="2550" b="1">
                <a:solidFill>
                  <a:srgbClr val="B45F2A"/>
                </a:solidFill>
              </a:defRPr>
            </a:pPr>
            <a:r>
              <a:rPr sz="2550" b="1">
                <a:solidFill>
                  <a:srgbClr val="B45F2A"/>
                </a:solidFill>
              </a:rPr>
              <a:t>2,496</a:t>
            </a:r>
          </a:p>
        </p:txBody>
      </p:sp>
      <p:sp>
        <p:nvSpPr>
          <p:cNvPr id="14" name="cohort-final-body">
            <a:extLst>
              <a:ext uri="{FF2B5EF4-FFF2-40B4-BE49-F238E27FC236}">
                <a16:creationId xmlns:a16="http://schemas.microsoft.com/office/drawing/2014/main" id="{F962EEEB-4578-431D-AE1B-EFE86CE4568C}"/>
              </a:ext>
            </a:extLst>
          </p:cNvPr>
          <p:cNvSpPr>
            <a:spLocks noGrp="1"/>
          </p:cNvSpPr>
          <p:nvPr/>
        </p:nvSpPr>
        <p:spPr>
          <a:xfrm>
            <a:off x="7620000" y="3181350"/>
            <a:ext cx="2238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200">
                <a:solidFill>
                  <a:srgbClr val="314B59"/>
                </a:solidFill>
              </a:defRPr>
            </a:pPr>
            <a:r>
              <a:rPr sz="1200">
                <a:solidFill>
                  <a:srgbClr val="314B59"/>
                </a:solidFill>
              </a:rPr>
              <a:t>patients retained for model training and evaluation</a:t>
            </a:r>
          </a:p>
        </p:txBody>
      </p:sp>
      <p:sp>
        <p:nvSpPr>
          <p:cNvPr id="15" name="preprocess-table-bg">
            <a:extLst>
              <a:ext uri="{FF2B5EF4-FFF2-40B4-BE49-F238E27FC236}">
                <a16:creationId xmlns:a16="http://schemas.microsoft.com/office/drawing/2014/main" id="{A144A639-C546-472A-82A3-2BEEADC1055E}"/>
              </a:ext>
            </a:extLst>
          </p:cNvPr>
          <p:cNvSpPr>
            <a:spLocks noGrp="1"/>
          </p:cNvSpPr>
          <p:nvPr/>
        </p:nvSpPr>
        <p:spPr>
          <a:xfrm>
            <a:off x="876300" y="3894085"/>
            <a:ext cx="9525000" cy="1657350"/>
          </a:xfrm>
          <a:prstGeom prst="rect">
            <a:avLst/>
          </a:prstGeom>
          <a:noFill/>
          <a:ln w="9525">
            <a:solidFill>
              <a:srgbClr val="CB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preprocess-table-header-bg">
            <a:extLst>
              <a:ext uri="{FF2B5EF4-FFF2-40B4-BE49-F238E27FC236}">
                <a16:creationId xmlns:a16="http://schemas.microsoft.com/office/drawing/2014/main" id="{192D4B09-264A-45EE-BCA2-87093D1C3980}"/>
              </a:ext>
            </a:extLst>
          </p:cNvPr>
          <p:cNvSpPr>
            <a:spLocks noGrp="1"/>
          </p:cNvSpPr>
          <p:nvPr/>
        </p:nvSpPr>
        <p:spPr>
          <a:xfrm>
            <a:off x="876300" y="3894085"/>
            <a:ext cx="9525000" cy="34290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preprocess-table-hline-0">
            <a:extLst>
              <a:ext uri="{FF2B5EF4-FFF2-40B4-BE49-F238E27FC236}">
                <a16:creationId xmlns:a16="http://schemas.microsoft.com/office/drawing/2014/main" id="{10EEDB0D-33D8-4B78-9A79-9942862F8F27}"/>
              </a:ext>
            </a:extLst>
          </p:cNvPr>
          <p:cNvSpPr>
            <a:spLocks noGrp="1"/>
          </p:cNvSpPr>
          <p:nvPr/>
        </p:nvSpPr>
        <p:spPr>
          <a:xfrm>
            <a:off x="876300" y="4236985"/>
            <a:ext cx="952500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8" name="preprocess-table-cell-0-0">
            <a:extLst>
              <a:ext uri="{FF2B5EF4-FFF2-40B4-BE49-F238E27FC236}">
                <a16:creationId xmlns:a16="http://schemas.microsoft.com/office/drawing/2014/main" id="{AEC19E59-3640-46F1-9ED8-28C1FE4A9CC2}"/>
              </a:ext>
            </a:extLst>
          </p:cNvPr>
          <p:cNvSpPr>
            <a:spLocks noGrp="1"/>
          </p:cNvSpPr>
          <p:nvPr/>
        </p:nvSpPr>
        <p:spPr>
          <a:xfrm>
            <a:off x="971550" y="3960760"/>
            <a:ext cx="20669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19" name="preprocess-table-vline-0-1">
            <a:extLst>
              <a:ext uri="{FF2B5EF4-FFF2-40B4-BE49-F238E27FC236}">
                <a16:creationId xmlns:a16="http://schemas.microsoft.com/office/drawing/2014/main" id="{8D943C7B-368E-4246-8A29-DC0A85534EC2}"/>
              </a:ext>
            </a:extLst>
          </p:cNvPr>
          <p:cNvSpPr>
            <a:spLocks noGrp="1"/>
          </p:cNvSpPr>
          <p:nvPr/>
        </p:nvSpPr>
        <p:spPr>
          <a:xfrm>
            <a:off x="3114675" y="3894085"/>
            <a:ext cx="9525" cy="3429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preprocess-table-cell-0-1">
            <a:extLst>
              <a:ext uri="{FF2B5EF4-FFF2-40B4-BE49-F238E27FC236}">
                <a16:creationId xmlns:a16="http://schemas.microsoft.com/office/drawing/2014/main" id="{49F3533C-D714-4EF4-88A7-141B852585C0}"/>
              </a:ext>
            </a:extLst>
          </p:cNvPr>
          <p:cNvSpPr>
            <a:spLocks noGrp="1"/>
          </p:cNvSpPr>
          <p:nvPr/>
        </p:nvSpPr>
        <p:spPr>
          <a:xfrm>
            <a:off x="3209925" y="3960760"/>
            <a:ext cx="259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Applied to</a:t>
            </a:r>
          </a:p>
        </p:txBody>
      </p:sp>
      <p:sp>
        <p:nvSpPr>
          <p:cNvPr id="21" name="preprocess-table-vline-0-2">
            <a:extLst>
              <a:ext uri="{FF2B5EF4-FFF2-40B4-BE49-F238E27FC236}">
                <a16:creationId xmlns:a16="http://schemas.microsoft.com/office/drawing/2014/main" id="{CA4D01D6-30E9-45C2-835D-B63A1B19F525}"/>
              </a:ext>
            </a:extLst>
          </p:cNvPr>
          <p:cNvSpPr>
            <a:spLocks noGrp="1"/>
          </p:cNvSpPr>
          <p:nvPr/>
        </p:nvSpPr>
        <p:spPr>
          <a:xfrm>
            <a:off x="5876925" y="3894085"/>
            <a:ext cx="9525" cy="3429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preprocess-table-cell-0-2">
            <a:extLst>
              <a:ext uri="{FF2B5EF4-FFF2-40B4-BE49-F238E27FC236}">
                <a16:creationId xmlns:a16="http://schemas.microsoft.com/office/drawing/2014/main" id="{4BAF1F3E-08EA-413C-BBFF-5D9C5F4EF26B}"/>
              </a:ext>
            </a:extLst>
          </p:cNvPr>
          <p:cNvSpPr>
            <a:spLocks noGrp="1"/>
          </p:cNvSpPr>
          <p:nvPr/>
        </p:nvSpPr>
        <p:spPr>
          <a:xfrm>
            <a:off x="5972175" y="3960760"/>
            <a:ext cx="43529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23" name="preprocess-table-hline-1">
            <a:extLst>
              <a:ext uri="{FF2B5EF4-FFF2-40B4-BE49-F238E27FC236}">
                <a16:creationId xmlns:a16="http://schemas.microsoft.com/office/drawing/2014/main" id="{1F94BA8B-96C5-4AB2-B999-176BA41C43B8}"/>
              </a:ext>
            </a:extLst>
          </p:cNvPr>
          <p:cNvSpPr>
            <a:spLocks noGrp="1"/>
          </p:cNvSpPr>
          <p:nvPr/>
        </p:nvSpPr>
        <p:spPr>
          <a:xfrm>
            <a:off x="876300" y="4675135"/>
            <a:ext cx="952500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4" name="preprocess-table-cell-1-0">
            <a:extLst>
              <a:ext uri="{FF2B5EF4-FFF2-40B4-BE49-F238E27FC236}">
                <a16:creationId xmlns:a16="http://schemas.microsoft.com/office/drawing/2014/main" id="{1639543C-C08E-4EED-9322-13415FD0C146}"/>
              </a:ext>
            </a:extLst>
          </p:cNvPr>
          <p:cNvSpPr>
            <a:spLocks noGrp="1"/>
          </p:cNvSpPr>
          <p:nvPr/>
        </p:nvSpPr>
        <p:spPr>
          <a:xfrm>
            <a:off x="971550" y="4303660"/>
            <a:ext cx="20669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314B59"/>
                </a:solidFill>
              </a:defRPr>
            </a:pPr>
            <a:r>
              <a:rPr sz="1200" b="1">
                <a:solidFill>
                  <a:srgbClr val="314B59"/>
                </a:solidFill>
              </a:rPr>
              <a:t>One-hot encoding</a:t>
            </a:r>
          </a:p>
        </p:txBody>
      </p:sp>
      <p:sp>
        <p:nvSpPr>
          <p:cNvPr id="25" name="preprocess-table-vline-1-1">
            <a:extLst>
              <a:ext uri="{FF2B5EF4-FFF2-40B4-BE49-F238E27FC236}">
                <a16:creationId xmlns:a16="http://schemas.microsoft.com/office/drawing/2014/main" id="{EDFE402D-65A2-4DF2-898B-25D1304C41DB}"/>
              </a:ext>
            </a:extLst>
          </p:cNvPr>
          <p:cNvSpPr>
            <a:spLocks noGrp="1"/>
          </p:cNvSpPr>
          <p:nvPr/>
        </p:nvSpPr>
        <p:spPr>
          <a:xfrm>
            <a:off x="3114675" y="4236985"/>
            <a:ext cx="9525" cy="4381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6" name="preprocess-table-cell-1-1">
            <a:extLst>
              <a:ext uri="{FF2B5EF4-FFF2-40B4-BE49-F238E27FC236}">
                <a16:creationId xmlns:a16="http://schemas.microsoft.com/office/drawing/2014/main" id="{6BF4C240-F1D2-47D8-8BA1-DDABA8C83D41}"/>
              </a:ext>
            </a:extLst>
          </p:cNvPr>
          <p:cNvSpPr>
            <a:spLocks noGrp="1"/>
          </p:cNvSpPr>
          <p:nvPr/>
        </p:nvSpPr>
        <p:spPr>
          <a:xfrm>
            <a:off x="3209925" y="430366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Clinical categorical variables</a:t>
            </a:r>
          </a:p>
        </p:txBody>
      </p:sp>
      <p:sp>
        <p:nvSpPr>
          <p:cNvPr id="27" name="preprocess-table-vline-1-2">
            <a:extLst>
              <a:ext uri="{FF2B5EF4-FFF2-40B4-BE49-F238E27FC236}">
                <a16:creationId xmlns:a16="http://schemas.microsoft.com/office/drawing/2014/main" id="{3C5329F5-3F53-4F20-AF27-F94CF01018E5}"/>
              </a:ext>
            </a:extLst>
          </p:cNvPr>
          <p:cNvSpPr>
            <a:spLocks noGrp="1"/>
          </p:cNvSpPr>
          <p:nvPr/>
        </p:nvSpPr>
        <p:spPr>
          <a:xfrm>
            <a:off x="5876925" y="4236985"/>
            <a:ext cx="9525" cy="4381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8" name="preprocess-table-cell-1-2">
            <a:extLst>
              <a:ext uri="{FF2B5EF4-FFF2-40B4-BE49-F238E27FC236}">
                <a16:creationId xmlns:a16="http://schemas.microsoft.com/office/drawing/2014/main" id="{83679102-029E-42DC-995C-BE3F243711B5}"/>
              </a:ext>
            </a:extLst>
          </p:cNvPr>
          <p:cNvSpPr>
            <a:spLocks noGrp="1"/>
          </p:cNvSpPr>
          <p:nvPr/>
        </p:nvSpPr>
        <p:spPr>
          <a:xfrm>
            <a:off x="5972175" y="4303660"/>
            <a:ext cx="43529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Convert discrete clinical descriptors into model-ready features</a:t>
            </a:r>
          </a:p>
        </p:txBody>
      </p:sp>
      <p:sp>
        <p:nvSpPr>
          <p:cNvPr id="29" name="preprocess-table-stripe-2">
            <a:extLst>
              <a:ext uri="{FF2B5EF4-FFF2-40B4-BE49-F238E27FC236}">
                <a16:creationId xmlns:a16="http://schemas.microsoft.com/office/drawing/2014/main" id="{A1D94840-CE8A-426E-ADB0-FB8161059470}"/>
              </a:ext>
            </a:extLst>
          </p:cNvPr>
          <p:cNvSpPr>
            <a:spLocks noGrp="1"/>
          </p:cNvSpPr>
          <p:nvPr/>
        </p:nvSpPr>
        <p:spPr>
          <a:xfrm>
            <a:off x="876300" y="4675135"/>
            <a:ext cx="9525000" cy="438150"/>
          </a:xfrm>
          <a:prstGeom prst="rect">
            <a:avLst/>
          </a:prstGeom>
          <a:solidFill>
            <a:srgbClr val="F1F6F8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0" name="preprocess-table-hline-2">
            <a:extLst>
              <a:ext uri="{FF2B5EF4-FFF2-40B4-BE49-F238E27FC236}">
                <a16:creationId xmlns:a16="http://schemas.microsoft.com/office/drawing/2014/main" id="{331069AA-9734-414A-B767-4591007C996F}"/>
              </a:ext>
            </a:extLst>
          </p:cNvPr>
          <p:cNvSpPr>
            <a:spLocks noGrp="1"/>
          </p:cNvSpPr>
          <p:nvPr/>
        </p:nvSpPr>
        <p:spPr>
          <a:xfrm>
            <a:off x="876300" y="5113285"/>
            <a:ext cx="952500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1" name="preprocess-table-cell-2-0">
            <a:extLst>
              <a:ext uri="{FF2B5EF4-FFF2-40B4-BE49-F238E27FC236}">
                <a16:creationId xmlns:a16="http://schemas.microsoft.com/office/drawing/2014/main" id="{C7930FDC-8163-4E2C-AAC1-377C4A106139}"/>
              </a:ext>
            </a:extLst>
          </p:cNvPr>
          <p:cNvSpPr>
            <a:spLocks noGrp="1"/>
          </p:cNvSpPr>
          <p:nvPr/>
        </p:nvSpPr>
        <p:spPr>
          <a:xfrm>
            <a:off x="971550" y="4741810"/>
            <a:ext cx="20669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314B59"/>
                </a:solidFill>
              </a:defRPr>
            </a:pPr>
            <a:r>
              <a:rPr sz="1200" b="1">
                <a:solidFill>
                  <a:srgbClr val="314B59"/>
                </a:solidFill>
              </a:rPr>
              <a:t>Mean imputation</a:t>
            </a:r>
          </a:p>
        </p:txBody>
      </p:sp>
      <p:sp>
        <p:nvSpPr>
          <p:cNvPr id="32" name="preprocess-table-vline-2-1">
            <a:extLst>
              <a:ext uri="{FF2B5EF4-FFF2-40B4-BE49-F238E27FC236}">
                <a16:creationId xmlns:a16="http://schemas.microsoft.com/office/drawing/2014/main" id="{BA3B7B0F-5306-4B71-8F7C-B734F6F88BFF}"/>
              </a:ext>
            </a:extLst>
          </p:cNvPr>
          <p:cNvSpPr>
            <a:spLocks noGrp="1"/>
          </p:cNvSpPr>
          <p:nvPr/>
        </p:nvSpPr>
        <p:spPr>
          <a:xfrm>
            <a:off x="3114675" y="4675135"/>
            <a:ext cx="9525" cy="4381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3" name="preprocess-table-cell-2-1">
            <a:extLst>
              <a:ext uri="{FF2B5EF4-FFF2-40B4-BE49-F238E27FC236}">
                <a16:creationId xmlns:a16="http://schemas.microsoft.com/office/drawing/2014/main" id="{7400F729-6B7C-45EB-A396-AE31269CDC68}"/>
              </a:ext>
            </a:extLst>
          </p:cNvPr>
          <p:cNvSpPr>
            <a:spLocks noGrp="1"/>
          </p:cNvSpPr>
          <p:nvPr/>
        </p:nvSpPr>
        <p:spPr>
          <a:xfrm>
            <a:off x="3209925" y="474181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Missing feature values</a:t>
            </a:r>
          </a:p>
        </p:txBody>
      </p:sp>
      <p:sp>
        <p:nvSpPr>
          <p:cNvPr id="34" name="preprocess-table-vline-2-2">
            <a:extLst>
              <a:ext uri="{FF2B5EF4-FFF2-40B4-BE49-F238E27FC236}">
                <a16:creationId xmlns:a16="http://schemas.microsoft.com/office/drawing/2014/main" id="{73FAA4CE-C813-4828-A562-5641A4070931}"/>
              </a:ext>
            </a:extLst>
          </p:cNvPr>
          <p:cNvSpPr>
            <a:spLocks noGrp="1"/>
          </p:cNvSpPr>
          <p:nvPr/>
        </p:nvSpPr>
        <p:spPr>
          <a:xfrm>
            <a:off x="5876925" y="4675135"/>
            <a:ext cx="9525" cy="4381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5" name="preprocess-table-cell-2-2">
            <a:extLst>
              <a:ext uri="{FF2B5EF4-FFF2-40B4-BE49-F238E27FC236}">
                <a16:creationId xmlns:a16="http://schemas.microsoft.com/office/drawing/2014/main" id="{ADF4DFC7-F3F4-4AE3-9E47-41AEA5AE3808}"/>
              </a:ext>
            </a:extLst>
          </p:cNvPr>
          <p:cNvSpPr>
            <a:spLocks noGrp="1"/>
          </p:cNvSpPr>
          <p:nvPr/>
        </p:nvSpPr>
        <p:spPr>
          <a:xfrm>
            <a:off x="5972175" y="4741810"/>
            <a:ext cx="43529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Avoid dropping patients for non-target missingness</a:t>
            </a:r>
          </a:p>
        </p:txBody>
      </p:sp>
      <p:sp>
        <p:nvSpPr>
          <p:cNvPr id="36" name="preprocess-table-hline-3">
            <a:extLst>
              <a:ext uri="{FF2B5EF4-FFF2-40B4-BE49-F238E27FC236}">
                <a16:creationId xmlns:a16="http://schemas.microsoft.com/office/drawing/2014/main" id="{29B85565-CABF-4B65-B3A1-FCA56134D98F}"/>
              </a:ext>
            </a:extLst>
          </p:cNvPr>
          <p:cNvSpPr>
            <a:spLocks noGrp="1"/>
          </p:cNvSpPr>
          <p:nvPr/>
        </p:nvSpPr>
        <p:spPr>
          <a:xfrm>
            <a:off x="876300" y="5551435"/>
            <a:ext cx="952500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7" name="preprocess-table-cell-3-0">
            <a:extLst>
              <a:ext uri="{FF2B5EF4-FFF2-40B4-BE49-F238E27FC236}">
                <a16:creationId xmlns:a16="http://schemas.microsoft.com/office/drawing/2014/main" id="{E629BD38-BC63-48F1-A4BE-CF804CD2613F}"/>
              </a:ext>
            </a:extLst>
          </p:cNvPr>
          <p:cNvSpPr>
            <a:spLocks noGrp="1"/>
          </p:cNvSpPr>
          <p:nvPr/>
        </p:nvSpPr>
        <p:spPr>
          <a:xfrm>
            <a:off x="971550" y="5179960"/>
            <a:ext cx="20669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314B59"/>
                </a:solidFill>
              </a:defRPr>
            </a:pPr>
            <a:r>
              <a:rPr sz="1200" b="1">
                <a:solidFill>
                  <a:srgbClr val="314B59"/>
                </a:solidFill>
              </a:rPr>
              <a:t>Standardization</a:t>
            </a:r>
          </a:p>
        </p:txBody>
      </p:sp>
      <p:sp>
        <p:nvSpPr>
          <p:cNvPr id="38" name="preprocess-table-vline-3-1">
            <a:extLst>
              <a:ext uri="{FF2B5EF4-FFF2-40B4-BE49-F238E27FC236}">
                <a16:creationId xmlns:a16="http://schemas.microsoft.com/office/drawing/2014/main" id="{17D85962-5733-43E8-BAFB-8AB1257752D7}"/>
              </a:ext>
            </a:extLst>
          </p:cNvPr>
          <p:cNvSpPr>
            <a:spLocks noGrp="1"/>
          </p:cNvSpPr>
          <p:nvPr/>
        </p:nvSpPr>
        <p:spPr>
          <a:xfrm>
            <a:off x="3114675" y="5113285"/>
            <a:ext cx="9525" cy="4381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9" name="preprocess-table-cell-3-1">
            <a:extLst>
              <a:ext uri="{FF2B5EF4-FFF2-40B4-BE49-F238E27FC236}">
                <a16:creationId xmlns:a16="http://schemas.microsoft.com/office/drawing/2014/main" id="{4CC25F71-924D-4A8E-A42A-01A22571E427}"/>
              </a:ext>
            </a:extLst>
          </p:cNvPr>
          <p:cNvSpPr>
            <a:spLocks noGrp="1"/>
          </p:cNvSpPr>
          <p:nvPr/>
        </p:nvSpPr>
        <p:spPr>
          <a:xfrm>
            <a:off x="3209925" y="517996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Non-binary variables</a:t>
            </a:r>
          </a:p>
        </p:txBody>
      </p:sp>
      <p:sp>
        <p:nvSpPr>
          <p:cNvPr id="40" name="preprocess-table-vline-3-2">
            <a:extLst>
              <a:ext uri="{FF2B5EF4-FFF2-40B4-BE49-F238E27FC236}">
                <a16:creationId xmlns:a16="http://schemas.microsoft.com/office/drawing/2014/main" id="{C7759098-FB08-47F5-BC44-33E3AA89EEDF}"/>
              </a:ext>
            </a:extLst>
          </p:cNvPr>
          <p:cNvSpPr>
            <a:spLocks noGrp="1"/>
          </p:cNvSpPr>
          <p:nvPr/>
        </p:nvSpPr>
        <p:spPr>
          <a:xfrm>
            <a:off x="5876925" y="5113285"/>
            <a:ext cx="9525" cy="4381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1" name="preprocess-table-cell-3-2">
            <a:extLst>
              <a:ext uri="{FF2B5EF4-FFF2-40B4-BE49-F238E27FC236}">
                <a16:creationId xmlns:a16="http://schemas.microsoft.com/office/drawing/2014/main" id="{412E8143-85F6-47A8-989D-DB5E1BA0A969}"/>
              </a:ext>
            </a:extLst>
          </p:cNvPr>
          <p:cNvSpPr>
            <a:spLocks noGrp="1"/>
          </p:cNvSpPr>
          <p:nvPr/>
        </p:nvSpPr>
        <p:spPr>
          <a:xfrm>
            <a:off x="5972175" y="5179960"/>
            <a:ext cx="43529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Put continuous features on comparable scales</a:t>
            </a:r>
          </a:p>
        </p:txBody>
      </p:sp>
      <p:sp>
        <p:nvSpPr>
          <p:cNvPr id="42" name="takeaway-band">
            <a:extLst>
              <a:ext uri="{FF2B5EF4-FFF2-40B4-BE49-F238E27FC236}">
                <a16:creationId xmlns:a16="http://schemas.microsoft.com/office/drawing/2014/main" id="{E689B40A-5578-4C89-B872-FC322657AA82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820400" cy="55245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3" name="takeaway-label">
            <a:extLst>
              <a:ext uri="{FF2B5EF4-FFF2-40B4-BE49-F238E27FC236}">
                <a16:creationId xmlns:a16="http://schemas.microsoft.com/office/drawing/2014/main" id="{B80A8CEC-30EB-416C-9B3A-3A9E0ED0E829}"/>
              </a:ext>
            </a:extLst>
          </p:cNvPr>
          <p:cNvSpPr>
            <a:spLocks noGrp="1"/>
          </p:cNvSpPr>
          <p:nvPr/>
        </p:nvSpPr>
        <p:spPr>
          <a:xfrm>
            <a:off x="952500" y="5953125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050" b="1">
                <a:solidFill>
                  <a:srgbClr val="C7E8F2"/>
                </a:solidFill>
              </a:defRPr>
            </a:pPr>
            <a:r>
              <a:rPr sz="1050" b="1">
                <a:solidFill>
                  <a:srgbClr val="C7E8F2"/>
                </a:solidFill>
              </a:rPr>
              <a:t>Data foundation</a:t>
            </a:r>
          </a:p>
        </p:txBody>
      </p:sp>
      <p:sp>
        <p:nvSpPr>
          <p:cNvPr id="44" name="takeaway-text">
            <a:extLst>
              <a:ext uri="{FF2B5EF4-FFF2-40B4-BE49-F238E27FC236}">
                <a16:creationId xmlns:a16="http://schemas.microsoft.com/office/drawing/2014/main" id="{44F25014-952A-4D9A-B5AD-6CE136BCA56C}"/>
              </a:ext>
            </a:extLst>
          </p:cNvPr>
          <p:cNvSpPr>
            <a:spLocks noGrp="1"/>
          </p:cNvSpPr>
          <p:nvPr/>
        </p:nvSpPr>
        <p:spPr>
          <a:xfrm>
            <a:off x="952500" y="6143625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 consistent preprocessing pipeline enables fair model and feature-set comparison.</a:t>
            </a:r>
          </a:p>
        </p:txBody>
      </p:sp>
      <p:sp>
        <p:nvSpPr>
          <p:cNvPr id="45" name="footer">
            <a:extLst>
              <a:ext uri="{FF2B5EF4-FFF2-40B4-BE49-F238E27FC236}">
                <a16:creationId xmlns:a16="http://schemas.microsoft.com/office/drawing/2014/main" id="{C2EFEF35-1ED4-497C-86BE-8F75B20B2041}"/>
              </a:ext>
            </a:extLst>
          </p:cNvPr>
          <p:cNvSpPr>
            <a:spLocks noGrp="1"/>
          </p:cNvSpPr>
          <p:nvPr/>
        </p:nvSpPr>
        <p:spPr>
          <a:xfrm>
            <a:off x="8858250" y="65722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r">
              <a:buNone/>
              <a:defRPr sz="750">
                <a:solidFill>
                  <a:srgbClr val="7A8D97"/>
                </a:solidFill>
              </a:defRPr>
            </a:pPr>
            <a:r>
              <a:rPr sz="750">
                <a:solidFill>
                  <a:srgbClr val="7A8D97"/>
                </a:solidFill>
              </a:rPr>
              <a:t>Machine Learning-Based Survival Prediction of Outcomes in MDS</a:t>
            </a:r>
          </a:p>
        </p:txBody>
      </p:sp>
      <p:sp>
        <p:nvSpPr>
          <p:cNvPr id="46" name="source-line-7">
            <a:extLst>
              <a:ext uri="{FF2B5EF4-FFF2-40B4-BE49-F238E27FC236}">
                <a16:creationId xmlns:a16="http://schemas.microsoft.com/office/drawing/2014/main" id="{7A8BA237-5116-4A02-9A37-1F359184D177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42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defRPr sz="788">
                <a:solidFill>
                  <a:srgbClr val="7A8D97"/>
                </a:solidFill>
              </a:defRPr>
            </a:pPr>
            <a:r>
              <a:rPr sz="788">
                <a:solidFill>
                  <a:srgbClr val="7A8D97"/>
                </a:solidFill>
              </a:rPr>
              <a:t>Sources: [1], [2]</a:t>
            </a:r>
          </a:p>
        </p:txBody>
      </p:sp>
    </p:spTree>
    <p:extLst>
      <p:ext uri="{BB962C8B-B14F-4D97-AF65-F5344CB8AC3E}">
        <p14:creationId xmlns:p14="http://schemas.microsoft.com/office/powerpoint/2010/main" val="946737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left-accent-bar">
            <a:extLst>
              <a:ext uri="{FF2B5EF4-FFF2-40B4-BE49-F238E27FC236}">
                <a16:creationId xmlns:a16="http://schemas.microsoft.com/office/drawing/2014/main" id="{DD4BF54D-C585-407E-8156-846E35C354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op-rule">
            <a:extLst>
              <a:ext uri="{FF2B5EF4-FFF2-40B4-BE49-F238E27FC236}">
                <a16:creationId xmlns:a16="http://schemas.microsoft.com/office/drawing/2014/main" id="{9B5402BD-DF13-41CD-B487-31B8CFE4A2DD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19050"/>
          </a:xfrm>
          <a:prstGeom prst="rect">
            <a:avLst/>
          </a:prstGeom>
          <a:solidFill>
            <a:srgbClr val="DDE8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B9085736-2018-4899-B114-C154C5FC7E0E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200" b="1">
                <a:solidFill>
                  <a:srgbClr val="0B4D63"/>
                </a:solidFill>
              </a:defRPr>
            </a:pPr>
            <a:r>
              <a:rPr sz="1200" b="1">
                <a:solidFill>
                  <a:srgbClr val="0B4D63"/>
                </a:solidFill>
              </a:rPr>
              <a:t>PREDICTION TASKS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C4F2526E-5ACB-4BFB-B281-32D0C31B5CE6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2925" b="1">
                <a:solidFill>
                  <a:srgbClr val="0B2F3F"/>
                </a:solidFill>
              </a:defRPr>
            </a:pPr>
            <a:r>
              <a:rPr sz="2925" b="1">
                <a:solidFill>
                  <a:srgbClr val="0B2F3F"/>
                </a:solidFill>
              </a:rPr>
              <a:t>Three Endpoints Capture Different Clinical Risks</a:t>
            </a:r>
          </a:p>
        </p:txBody>
      </p:sp>
      <p:sp>
        <p:nvSpPr>
          <p:cNvPr id="5" name="setup-line">
            <a:extLst>
              <a:ext uri="{FF2B5EF4-FFF2-40B4-BE49-F238E27FC236}">
                <a16:creationId xmlns:a16="http://schemas.microsoft.com/office/drawing/2014/main" id="{70F8C773-1499-4F32-A303-5170C9F3940C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144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1650">
                <a:solidFill>
                  <a:srgbClr val="2F4653"/>
                </a:solidFill>
              </a:defRPr>
            </a:pPr>
            <a:r>
              <a:rPr sz="1650">
                <a:solidFill>
                  <a:srgbClr val="2F4653"/>
                </a:solidFill>
              </a:rPr>
              <a:t>All endpoints are measured in months from sample collection to event or censoring.</a:t>
            </a:r>
          </a:p>
        </p:txBody>
      </p:sp>
      <p:sp>
        <p:nvSpPr>
          <p:cNvPr id="6" name="endpoint-table-bg">
            <a:extLst>
              <a:ext uri="{FF2B5EF4-FFF2-40B4-BE49-F238E27FC236}">
                <a16:creationId xmlns:a16="http://schemas.microsoft.com/office/drawing/2014/main" id="{20FA7BFF-6EFC-404A-8BCD-CA6C1D274C01}"/>
              </a:ext>
            </a:extLst>
          </p:cNvPr>
          <p:cNvSpPr>
            <a:spLocks noGrp="1"/>
          </p:cNvSpPr>
          <p:nvPr/>
        </p:nvSpPr>
        <p:spPr>
          <a:xfrm>
            <a:off x="781050" y="2266950"/>
            <a:ext cx="10191750" cy="2705100"/>
          </a:xfrm>
          <a:prstGeom prst="rect">
            <a:avLst/>
          </a:prstGeom>
          <a:noFill/>
          <a:ln w="9525">
            <a:solidFill>
              <a:srgbClr val="CB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endpoint-table-header-bg">
            <a:extLst>
              <a:ext uri="{FF2B5EF4-FFF2-40B4-BE49-F238E27FC236}">
                <a16:creationId xmlns:a16="http://schemas.microsoft.com/office/drawing/2014/main" id="{C32E9FD9-C270-4F9C-A302-9F3B8B6ECADF}"/>
              </a:ext>
            </a:extLst>
          </p:cNvPr>
          <p:cNvSpPr>
            <a:spLocks noGrp="1"/>
          </p:cNvSpPr>
          <p:nvPr/>
        </p:nvSpPr>
        <p:spPr>
          <a:xfrm>
            <a:off x="781050" y="2266950"/>
            <a:ext cx="10191750" cy="36195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8" name="endpoint-table-hline-0">
            <a:extLst>
              <a:ext uri="{FF2B5EF4-FFF2-40B4-BE49-F238E27FC236}">
                <a16:creationId xmlns:a16="http://schemas.microsoft.com/office/drawing/2014/main" id="{E2C443C5-C8E3-41A5-A9A1-3FE7360DDE1D}"/>
              </a:ext>
            </a:extLst>
          </p:cNvPr>
          <p:cNvSpPr>
            <a:spLocks noGrp="1"/>
          </p:cNvSpPr>
          <p:nvPr/>
        </p:nvSpPr>
        <p:spPr>
          <a:xfrm>
            <a:off x="781050" y="2628900"/>
            <a:ext cx="101917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9" name="endpoint-table-cell-0-0">
            <a:extLst>
              <a:ext uri="{FF2B5EF4-FFF2-40B4-BE49-F238E27FC236}">
                <a16:creationId xmlns:a16="http://schemas.microsoft.com/office/drawing/2014/main" id="{7B4113D1-30B9-4302-97FE-A2642D231695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8286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Endpoint</a:t>
            </a:r>
          </a:p>
        </p:txBody>
      </p:sp>
      <p:sp>
        <p:nvSpPr>
          <p:cNvPr id="10" name="endpoint-table-vline-0-1">
            <a:extLst>
              <a:ext uri="{FF2B5EF4-FFF2-40B4-BE49-F238E27FC236}">
                <a16:creationId xmlns:a16="http://schemas.microsoft.com/office/drawing/2014/main" id="{792DC267-3E52-4FDD-BF9B-35E30445F407}"/>
              </a:ext>
            </a:extLst>
          </p:cNvPr>
          <p:cNvSpPr>
            <a:spLocks noGrp="1"/>
          </p:cNvSpPr>
          <p:nvPr/>
        </p:nvSpPr>
        <p:spPr>
          <a:xfrm>
            <a:off x="1781175" y="2266950"/>
            <a:ext cx="9525" cy="3619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1" name="endpoint-table-cell-0-1">
            <a:extLst>
              <a:ext uri="{FF2B5EF4-FFF2-40B4-BE49-F238E27FC236}">
                <a16:creationId xmlns:a16="http://schemas.microsoft.com/office/drawing/2014/main" id="{B93202D1-440F-45C9-8D05-CE16514CF52A}"/>
              </a:ext>
            </a:extLst>
          </p:cNvPr>
          <p:cNvSpPr>
            <a:spLocks noGrp="1"/>
          </p:cNvSpPr>
          <p:nvPr/>
        </p:nvSpPr>
        <p:spPr>
          <a:xfrm>
            <a:off x="1876425" y="2333625"/>
            <a:ext cx="2495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Event definition</a:t>
            </a:r>
          </a:p>
        </p:txBody>
      </p:sp>
      <p:sp>
        <p:nvSpPr>
          <p:cNvPr id="12" name="endpoint-table-vline-0-2">
            <a:extLst>
              <a:ext uri="{FF2B5EF4-FFF2-40B4-BE49-F238E27FC236}">
                <a16:creationId xmlns:a16="http://schemas.microsoft.com/office/drawing/2014/main" id="{46E15AA0-4C57-4EE6-9610-21DECF7AE4B7}"/>
              </a:ext>
            </a:extLst>
          </p:cNvPr>
          <p:cNvSpPr>
            <a:spLocks noGrp="1"/>
          </p:cNvSpPr>
          <p:nvPr/>
        </p:nvSpPr>
        <p:spPr>
          <a:xfrm>
            <a:off x="4448175" y="2266950"/>
            <a:ext cx="9525" cy="3619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3" name="endpoint-table-cell-0-2">
            <a:extLst>
              <a:ext uri="{FF2B5EF4-FFF2-40B4-BE49-F238E27FC236}">
                <a16:creationId xmlns:a16="http://schemas.microsoft.com/office/drawing/2014/main" id="{1ACAC966-450C-4739-8AB1-37A3C2B46EBD}"/>
              </a:ext>
            </a:extLst>
          </p:cNvPr>
          <p:cNvSpPr>
            <a:spLocks noGrp="1"/>
          </p:cNvSpPr>
          <p:nvPr/>
        </p:nvSpPr>
        <p:spPr>
          <a:xfrm>
            <a:off x="4543425" y="2333625"/>
            <a:ext cx="2971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Clinical meaning</a:t>
            </a:r>
          </a:p>
        </p:txBody>
      </p:sp>
      <p:sp>
        <p:nvSpPr>
          <p:cNvPr id="14" name="endpoint-table-vline-0-3">
            <a:extLst>
              <a:ext uri="{FF2B5EF4-FFF2-40B4-BE49-F238E27FC236}">
                <a16:creationId xmlns:a16="http://schemas.microsoft.com/office/drawing/2014/main" id="{2C75C6BF-57F9-4F74-9785-84C753277C3B}"/>
              </a:ext>
            </a:extLst>
          </p:cNvPr>
          <p:cNvSpPr>
            <a:spLocks noGrp="1"/>
          </p:cNvSpPr>
          <p:nvPr/>
        </p:nvSpPr>
        <p:spPr>
          <a:xfrm>
            <a:off x="7591425" y="2266950"/>
            <a:ext cx="9525" cy="3619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5" name="endpoint-table-cell-0-3">
            <a:extLst>
              <a:ext uri="{FF2B5EF4-FFF2-40B4-BE49-F238E27FC236}">
                <a16:creationId xmlns:a16="http://schemas.microsoft.com/office/drawing/2014/main" id="{40516534-86CE-44DF-8261-443CA7B1D9B9}"/>
              </a:ext>
            </a:extLst>
          </p:cNvPr>
          <p:cNvSpPr>
            <a:spLocks noGrp="1"/>
          </p:cNvSpPr>
          <p:nvPr/>
        </p:nvSpPr>
        <p:spPr>
          <a:xfrm>
            <a:off x="7686675" y="2333625"/>
            <a:ext cx="32099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Why model it separately</a:t>
            </a:r>
          </a:p>
        </p:txBody>
      </p:sp>
      <p:sp>
        <p:nvSpPr>
          <p:cNvPr id="16" name="endpoint-table-hline-1">
            <a:extLst>
              <a:ext uri="{FF2B5EF4-FFF2-40B4-BE49-F238E27FC236}">
                <a16:creationId xmlns:a16="http://schemas.microsoft.com/office/drawing/2014/main" id="{1292CC8B-363E-4ECC-9149-B192520930F8}"/>
              </a:ext>
            </a:extLst>
          </p:cNvPr>
          <p:cNvSpPr>
            <a:spLocks noGrp="1"/>
          </p:cNvSpPr>
          <p:nvPr/>
        </p:nvSpPr>
        <p:spPr>
          <a:xfrm>
            <a:off x="781050" y="3409950"/>
            <a:ext cx="101917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7" name="endpoint-table-cell-1-0">
            <a:extLst>
              <a:ext uri="{FF2B5EF4-FFF2-40B4-BE49-F238E27FC236}">
                <a16:creationId xmlns:a16="http://schemas.microsoft.com/office/drawing/2014/main" id="{FD3038CA-819B-4BD7-B7E0-EA20A719CF19}"/>
              </a:ext>
            </a:extLst>
          </p:cNvPr>
          <p:cNvSpPr>
            <a:spLocks noGrp="1"/>
          </p:cNvSpPr>
          <p:nvPr/>
        </p:nvSpPr>
        <p:spPr>
          <a:xfrm>
            <a:off x="876300" y="2695575"/>
            <a:ext cx="8286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B45F2A"/>
                </a:solidFill>
              </a:defRPr>
            </a:pPr>
            <a:r>
              <a:rPr sz="1200" b="1">
                <a:solidFill>
                  <a:srgbClr val="B45F2A"/>
                </a:solidFill>
              </a:rPr>
              <a:t>OS</a:t>
            </a:r>
          </a:p>
        </p:txBody>
      </p:sp>
      <p:sp>
        <p:nvSpPr>
          <p:cNvPr id="18" name="endpoint-table-vline-1-1">
            <a:extLst>
              <a:ext uri="{FF2B5EF4-FFF2-40B4-BE49-F238E27FC236}">
                <a16:creationId xmlns:a16="http://schemas.microsoft.com/office/drawing/2014/main" id="{AB6E7328-10F3-4824-9753-7E76A1A73424}"/>
              </a:ext>
            </a:extLst>
          </p:cNvPr>
          <p:cNvSpPr>
            <a:spLocks noGrp="1"/>
          </p:cNvSpPr>
          <p:nvPr/>
        </p:nvSpPr>
        <p:spPr>
          <a:xfrm>
            <a:off x="1781175" y="2628900"/>
            <a:ext cx="9525" cy="7810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9" name="endpoint-table-cell-1-1">
            <a:extLst>
              <a:ext uri="{FF2B5EF4-FFF2-40B4-BE49-F238E27FC236}">
                <a16:creationId xmlns:a16="http://schemas.microsoft.com/office/drawing/2014/main" id="{69B049E0-E46A-4DDC-976D-ECEEBF9100D6}"/>
              </a:ext>
            </a:extLst>
          </p:cNvPr>
          <p:cNvSpPr>
            <a:spLocks noGrp="1"/>
          </p:cNvSpPr>
          <p:nvPr/>
        </p:nvSpPr>
        <p:spPr>
          <a:xfrm>
            <a:off x="1876425" y="2695575"/>
            <a:ext cx="2495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Death after MDS diagnosis</a:t>
            </a:r>
          </a:p>
        </p:txBody>
      </p:sp>
      <p:sp>
        <p:nvSpPr>
          <p:cNvPr id="20" name="endpoint-table-vline-1-2">
            <a:extLst>
              <a:ext uri="{FF2B5EF4-FFF2-40B4-BE49-F238E27FC236}">
                <a16:creationId xmlns:a16="http://schemas.microsoft.com/office/drawing/2014/main" id="{A0201206-8AF5-4ED4-BC26-F6AAC915AB0B}"/>
              </a:ext>
            </a:extLst>
          </p:cNvPr>
          <p:cNvSpPr>
            <a:spLocks noGrp="1"/>
          </p:cNvSpPr>
          <p:nvPr/>
        </p:nvSpPr>
        <p:spPr>
          <a:xfrm>
            <a:off x="4448175" y="2628900"/>
            <a:ext cx="9525" cy="7810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1" name="endpoint-table-cell-1-2">
            <a:extLst>
              <a:ext uri="{FF2B5EF4-FFF2-40B4-BE49-F238E27FC236}">
                <a16:creationId xmlns:a16="http://schemas.microsoft.com/office/drawing/2014/main" id="{5B1CCB76-806E-4846-B9BF-CC44CFCC684E}"/>
              </a:ext>
            </a:extLst>
          </p:cNvPr>
          <p:cNvSpPr>
            <a:spLocks noGrp="1"/>
          </p:cNvSpPr>
          <p:nvPr/>
        </p:nvSpPr>
        <p:spPr>
          <a:xfrm>
            <a:off x="4543425" y="2695575"/>
            <a:ext cx="2971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Overall disease burden and mortality risk</a:t>
            </a:r>
          </a:p>
        </p:txBody>
      </p:sp>
      <p:sp>
        <p:nvSpPr>
          <p:cNvPr id="22" name="endpoint-table-vline-1-3">
            <a:extLst>
              <a:ext uri="{FF2B5EF4-FFF2-40B4-BE49-F238E27FC236}">
                <a16:creationId xmlns:a16="http://schemas.microsoft.com/office/drawing/2014/main" id="{D198A5FB-DD8C-4A78-8DA3-F5F5292857D5}"/>
              </a:ext>
            </a:extLst>
          </p:cNvPr>
          <p:cNvSpPr>
            <a:spLocks noGrp="1"/>
          </p:cNvSpPr>
          <p:nvPr/>
        </p:nvSpPr>
        <p:spPr>
          <a:xfrm>
            <a:off x="7591425" y="2628900"/>
            <a:ext cx="9525" cy="7810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3" name="endpoint-table-cell-1-3">
            <a:extLst>
              <a:ext uri="{FF2B5EF4-FFF2-40B4-BE49-F238E27FC236}">
                <a16:creationId xmlns:a16="http://schemas.microsoft.com/office/drawing/2014/main" id="{62FF4F07-C692-4E9B-89B5-CEDC760AA3F4}"/>
              </a:ext>
            </a:extLst>
          </p:cNvPr>
          <p:cNvSpPr>
            <a:spLocks noGrp="1"/>
          </p:cNvSpPr>
          <p:nvPr/>
        </p:nvSpPr>
        <p:spPr>
          <a:xfrm>
            <a:off x="7686675" y="2695575"/>
            <a:ext cx="32099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The broadest survival outcome; can reflect multiple downstream causes</a:t>
            </a:r>
          </a:p>
        </p:txBody>
      </p:sp>
      <p:sp>
        <p:nvSpPr>
          <p:cNvPr id="24" name="endpoint-table-stripe-2">
            <a:extLst>
              <a:ext uri="{FF2B5EF4-FFF2-40B4-BE49-F238E27FC236}">
                <a16:creationId xmlns:a16="http://schemas.microsoft.com/office/drawing/2014/main" id="{DADE2625-12D4-4212-9C5A-63DEB14FE98F}"/>
              </a:ext>
            </a:extLst>
          </p:cNvPr>
          <p:cNvSpPr>
            <a:spLocks noGrp="1"/>
          </p:cNvSpPr>
          <p:nvPr/>
        </p:nvSpPr>
        <p:spPr>
          <a:xfrm>
            <a:off x="781050" y="3409950"/>
            <a:ext cx="10191750" cy="781050"/>
          </a:xfrm>
          <a:prstGeom prst="rect">
            <a:avLst/>
          </a:prstGeom>
          <a:solidFill>
            <a:srgbClr val="F1F6F8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5" name="endpoint-table-hline-2">
            <a:extLst>
              <a:ext uri="{FF2B5EF4-FFF2-40B4-BE49-F238E27FC236}">
                <a16:creationId xmlns:a16="http://schemas.microsoft.com/office/drawing/2014/main" id="{B1CCE7A5-96FB-4D18-80BE-AA3C7FE7F5DE}"/>
              </a:ext>
            </a:extLst>
          </p:cNvPr>
          <p:cNvSpPr>
            <a:spLocks noGrp="1"/>
          </p:cNvSpPr>
          <p:nvPr/>
        </p:nvSpPr>
        <p:spPr>
          <a:xfrm>
            <a:off x="781050" y="4191000"/>
            <a:ext cx="101917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6" name="endpoint-table-cell-2-0">
            <a:extLst>
              <a:ext uri="{FF2B5EF4-FFF2-40B4-BE49-F238E27FC236}">
                <a16:creationId xmlns:a16="http://schemas.microsoft.com/office/drawing/2014/main" id="{96401E99-760A-4275-92CA-968B006F1390}"/>
              </a:ext>
            </a:extLst>
          </p:cNvPr>
          <p:cNvSpPr>
            <a:spLocks noGrp="1"/>
          </p:cNvSpPr>
          <p:nvPr/>
        </p:nvSpPr>
        <p:spPr>
          <a:xfrm>
            <a:off x="876300" y="3476625"/>
            <a:ext cx="8286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B45F2A"/>
                </a:solidFill>
              </a:defRPr>
            </a:pPr>
            <a:r>
              <a:rPr sz="1200" b="1">
                <a:solidFill>
                  <a:srgbClr val="B45F2A"/>
                </a:solidFill>
              </a:rPr>
              <a:t>LFS</a:t>
            </a:r>
          </a:p>
        </p:txBody>
      </p:sp>
      <p:sp>
        <p:nvSpPr>
          <p:cNvPr id="27" name="endpoint-table-vline-2-1">
            <a:extLst>
              <a:ext uri="{FF2B5EF4-FFF2-40B4-BE49-F238E27FC236}">
                <a16:creationId xmlns:a16="http://schemas.microsoft.com/office/drawing/2014/main" id="{6A9B4B64-4B05-4697-A629-30DE1AACAACF}"/>
              </a:ext>
            </a:extLst>
          </p:cNvPr>
          <p:cNvSpPr>
            <a:spLocks noGrp="1"/>
          </p:cNvSpPr>
          <p:nvPr/>
        </p:nvSpPr>
        <p:spPr>
          <a:xfrm>
            <a:off x="1781175" y="3409950"/>
            <a:ext cx="9525" cy="7810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8" name="endpoint-table-cell-2-1">
            <a:extLst>
              <a:ext uri="{FF2B5EF4-FFF2-40B4-BE49-F238E27FC236}">
                <a16:creationId xmlns:a16="http://schemas.microsoft.com/office/drawing/2014/main" id="{37676818-A8A9-441D-9EC8-562B9C2FBF1A}"/>
              </a:ext>
            </a:extLst>
          </p:cNvPr>
          <p:cNvSpPr>
            <a:spLocks noGrp="1"/>
          </p:cNvSpPr>
          <p:nvPr/>
        </p:nvSpPr>
        <p:spPr>
          <a:xfrm>
            <a:off x="1876425" y="3476625"/>
            <a:ext cx="2495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Death or leukemia after treatment for MDS</a:t>
            </a:r>
          </a:p>
        </p:txBody>
      </p:sp>
      <p:sp>
        <p:nvSpPr>
          <p:cNvPr id="29" name="endpoint-table-vline-2-2">
            <a:extLst>
              <a:ext uri="{FF2B5EF4-FFF2-40B4-BE49-F238E27FC236}">
                <a16:creationId xmlns:a16="http://schemas.microsoft.com/office/drawing/2014/main" id="{7C8AE0DA-4CFE-4CFB-AAD9-2F823CA68DE0}"/>
              </a:ext>
            </a:extLst>
          </p:cNvPr>
          <p:cNvSpPr>
            <a:spLocks noGrp="1"/>
          </p:cNvSpPr>
          <p:nvPr/>
        </p:nvSpPr>
        <p:spPr>
          <a:xfrm>
            <a:off x="4448175" y="3409950"/>
            <a:ext cx="9525" cy="7810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0" name="endpoint-table-cell-2-2">
            <a:extLst>
              <a:ext uri="{FF2B5EF4-FFF2-40B4-BE49-F238E27FC236}">
                <a16:creationId xmlns:a16="http://schemas.microsoft.com/office/drawing/2014/main" id="{800C00F8-93C2-4BA0-8B38-BB2BEA613DD6}"/>
              </a:ext>
            </a:extLst>
          </p:cNvPr>
          <p:cNvSpPr>
            <a:spLocks noGrp="1"/>
          </p:cNvSpPr>
          <p:nvPr/>
        </p:nvSpPr>
        <p:spPr>
          <a:xfrm>
            <a:off x="4543425" y="3476625"/>
            <a:ext cx="2971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Time alive and free from leukemia</a:t>
            </a:r>
          </a:p>
        </p:txBody>
      </p:sp>
      <p:sp>
        <p:nvSpPr>
          <p:cNvPr id="31" name="endpoint-table-vline-2-3">
            <a:extLst>
              <a:ext uri="{FF2B5EF4-FFF2-40B4-BE49-F238E27FC236}">
                <a16:creationId xmlns:a16="http://schemas.microsoft.com/office/drawing/2014/main" id="{01DB875F-F00D-44CD-96FA-2D71EEC61C53}"/>
              </a:ext>
            </a:extLst>
          </p:cNvPr>
          <p:cNvSpPr>
            <a:spLocks noGrp="1"/>
          </p:cNvSpPr>
          <p:nvPr/>
        </p:nvSpPr>
        <p:spPr>
          <a:xfrm>
            <a:off x="7591425" y="3409950"/>
            <a:ext cx="9525" cy="7810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2" name="endpoint-table-cell-2-3">
            <a:extLst>
              <a:ext uri="{FF2B5EF4-FFF2-40B4-BE49-F238E27FC236}">
                <a16:creationId xmlns:a16="http://schemas.microsoft.com/office/drawing/2014/main" id="{9D8DF737-E672-492E-8B67-2A38C720F593}"/>
              </a:ext>
            </a:extLst>
          </p:cNvPr>
          <p:cNvSpPr>
            <a:spLocks noGrp="1"/>
          </p:cNvSpPr>
          <p:nvPr/>
        </p:nvSpPr>
        <p:spPr>
          <a:xfrm>
            <a:off x="7686675" y="3476625"/>
            <a:ext cx="32099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Captures both survival and avoidance of leukemia progression</a:t>
            </a:r>
          </a:p>
        </p:txBody>
      </p:sp>
      <p:sp>
        <p:nvSpPr>
          <p:cNvPr id="33" name="endpoint-table-hline-3">
            <a:extLst>
              <a:ext uri="{FF2B5EF4-FFF2-40B4-BE49-F238E27FC236}">
                <a16:creationId xmlns:a16="http://schemas.microsoft.com/office/drawing/2014/main" id="{C53A35F6-2440-4CC7-9BB3-61AFE65313EF}"/>
              </a:ext>
            </a:extLst>
          </p:cNvPr>
          <p:cNvSpPr>
            <a:spLocks noGrp="1"/>
          </p:cNvSpPr>
          <p:nvPr/>
        </p:nvSpPr>
        <p:spPr>
          <a:xfrm>
            <a:off x="781050" y="4972050"/>
            <a:ext cx="101917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endpoint-table-cell-3-0">
            <a:extLst>
              <a:ext uri="{FF2B5EF4-FFF2-40B4-BE49-F238E27FC236}">
                <a16:creationId xmlns:a16="http://schemas.microsoft.com/office/drawing/2014/main" id="{DC500B11-CE08-47A6-B10B-3301A0DA7841}"/>
              </a:ext>
            </a:extLst>
          </p:cNvPr>
          <p:cNvSpPr>
            <a:spLocks noGrp="1"/>
          </p:cNvSpPr>
          <p:nvPr/>
        </p:nvSpPr>
        <p:spPr>
          <a:xfrm>
            <a:off x="876300" y="4257675"/>
            <a:ext cx="8286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B45F2A"/>
                </a:solidFill>
              </a:defRPr>
            </a:pPr>
            <a:r>
              <a:rPr sz="1200" b="1">
                <a:solidFill>
                  <a:srgbClr val="B45F2A"/>
                </a:solidFill>
              </a:rPr>
              <a:t>AMLt</a:t>
            </a:r>
          </a:p>
        </p:txBody>
      </p:sp>
      <p:sp>
        <p:nvSpPr>
          <p:cNvPr id="35" name="endpoint-table-vline-3-1">
            <a:extLst>
              <a:ext uri="{FF2B5EF4-FFF2-40B4-BE49-F238E27FC236}">
                <a16:creationId xmlns:a16="http://schemas.microsoft.com/office/drawing/2014/main" id="{B0958A1A-D84A-4711-9444-1F3A7893351F}"/>
              </a:ext>
            </a:extLst>
          </p:cNvPr>
          <p:cNvSpPr>
            <a:spLocks noGrp="1"/>
          </p:cNvSpPr>
          <p:nvPr/>
        </p:nvSpPr>
        <p:spPr>
          <a:xfrm>
            <a:off x="1781175" y="4191000"/>
            <a:ext cx="9525" cy="7810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endpoint-table-cell-3-1">
            <a:extLst>
              <a:ext uri="{FF2B5EF4-FFF2-40B4-BE49-F238E27FC236}">
                <a16:creationId xmlns:a16="http://schemas.microsoft.com/office/drawing/2014/main" id="{CE4A9CE1-80FE-4FE4-AC28-589DF96D5E5B}"/>
              </a:ext>
            </a:extLst>
          </p:cNvPr>
          <p:cNvSpPr>
            <a:spLocks noGrp="1"/>
          </p:cNvSpPr>
          <p:nvPr/>
        </p:nvSpPr>
        <p:spPr>
          <a:xfrm>
            <a:off x="1876425" y="4257675"/>
            <a:ext cx="2495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Transformation from MDS to AML</a:t>
            </a:r>
          </a:p>
        </p:txBody>
      </p:sp>
      <p:sp>
        <p:nvSpPr>
          <p:cNvPr id="37" name="endpoint-table-vline-3-2">
            <a:extLst>
              <a:ext uri="{FF2B5EF4-FFF2-40B4-BE49-F238E27FC236}">
                <a16:creationId xmlns:a16="http://schemas.microsoft.com/office/drawing/2014/main" id="{6AED5202-5359-4465-9C41-1EAF073E32A6}"/>
              </a:ext>
            </a:extLst>
          </p:cNvPr>
          <p:cNvSpPr>
            <a:spLocks noGrp="1"/>
          </p:cNvSpPr>
          <p:nvPr/>
        </p:nvSpPr>
        <p:spPr>
          <a:xfrm>
            <a:off x="4448175" y="4191000"/>
            <a:ext cx="9525" cy="7810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endpoint-table-cell-3-2">
            <a:extLst>
              <a:ext uri="{FF2B5EF4-FFF2-40B4-BE49-F238E27FC236}">
                <a16:creationId xmlns:a16="http://schemas.microsoft.com/office/drawing/2014/main" id="{3412E0D0-07C2-44A2-B3B6-7007CD5E9769}"/>
              </a:ext>
            </a:extLst>
          </p:cNvPr>
          <p:cNvSpPr>
            <a:spLocks noGrp="1"/>
          </p:cNvSpPr>
          <p:nvPr/>
        </p:nvSpPr>
        <p:spPr>
          <a:xfrm>
            <a:off x="4543425" y="4257675"/>
            <a:ext cx="2971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Malignant progression risk</a:t>
            </a:r>
          </a:p>
        </p:txBody>
      </p:sp>
      <p:sp>
        <p:nvSpPr>
          <p:cNvPr id="39" name="endpoint-table-vline-3-3">
            <a:extLst>
              <a:ext uri="{FF2B5EF4-FFF2-40B4-BE49-F238E27FC236}">
                <a16:creationId xmlns:a16="http://schemas.microsoft.com/office/drawing/2014/main" id="{00A98040-7A88-44F1-8F33-260A77D43B32}"/>
              </a:ext>
            </a:extLst>
          </p:cNvPr>
          <p:cNvSpPr>
            <a:spLocks noGrp="1"/>
          </p:cNvSpPr>
          <p:nvPr/>
        </p:nvSpPr>
        <p:spPr>
          <a:xfrm>
            <a:off x="7591425" y="4191000"/>
            <a:ext cx="9525" cy="7810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endpoint-table-cell-3-3">
            <a:extLst>
              <a:ext uri="{FF2B5EF4-FFF2-40B4-BE49-F238E27FC236}">
                <a16:creationId xmlns:a16="http://schemas.microsoft.com/office/drawing/2014/main" id="{0EC25071-1B4E-488C-A3FD-94BEDABC0EB4}"/>
              </a:ext>
            </a:extLst>
          </p:cNvPr>
          <p:cNvSpPr>
            <a:spLocks noGrp="1"/>
          </p:cNvSpPr>
          <p:nvPr/>
        </p:nvSpPr>
        <p:spPr>
          <a:xfrm>
            <a:off x="7686675" y="4257675"/>
            <a:ext cx="32099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Directly targets the transition most relevant to AML-related management</a:t>
            </a:r>
          </a:p>
        </p:txBody>
      </p:sp>
      <p:sp>
        <p:nvSpPr>
          <p:cNvPr id="41" name="endpoint-note">
            <a:extLst>
              <a:ext uri="{FF2B5EF4-FFF2-40B4-BE49-F238E27FC236}">
                <a16:creationId xmlns:a16="http://schemas.microsoft.com/office/drawing/2014/main" id="{3211A364-FAAD-47B7-8B26-FCD2DC4459B2}"/>
              </a:ext>
            </a:extLst>
          </p:cNvPr>
          <p:cNvSpPr>
            <a:spLocks noGrp="1"/>
          </p:cNvSpPr>
          <p:nvPr/>
        </p:nvSpPr>
        <p:spPr>
          <a:xfrm>
            <a:off x="876300" y="4972050"/>
            <a:ext cx="952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1425" b="1">
                <a:solidFill>
                  <a:srgbClr val="0B2F3F"/>
                </a:solidFill>
              </a:defRPr>
            </a:pPr>
            <a:r>
              <a:rPr sz="1425" b="1">
                <a:solidFill>
                  <a:srgbClr val="0B2F3F"/>
                </a:solidFill>
              </a:rPr>
              <a:t>A model can perform well for one endpoint and less well for another because the event mechanisms differ.</a:t>
            </a:r>
          </a:p>
        </p:txBody>
      </p:sp>
      <p:sp>
        <p:nvSpPr>
          <p:cNvPr id="42" name="takeaway-band">
            <a:extLst>
              <a:ext uri="{FF2B5EF4-FFF2-40B4-BE49-F238E27FC236}">
                <a16:creationId xmlns:a16="http://schemas.microsoft.com/office/drawing/2014/main" id="{4B22A637-13EB-423D-A114-A7EB3830BBA4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820400" cy="55245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3" name="takeaway-label">
            <a:extLst>
              <a:ext uri="{FF2B5EF4-FFF2-40B4-BE49-F238E27FC236}">
                <a16:creationId xmlns:a16="http://schemas.microsoft.com/office/drawing/2014/main" id="{1051B03E-8BA8-4A10-AD56-2D5FC73B06D4}"/>
              </a:ext>
            </a:extLst>
          </p:cNvPr>
          <p:cNvSpPr>
            <a:spLocks noGrp="1"/>
          </p:cNvSpPr>
          <p:nvPr/>
        </p:nvSpPr>
        <p:spPr>
          <a:xfrm>
            <a:off x="952500" y="5953125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050" b="1">
                <a:solidFill>
                  <a:srgbClr val="C7E8F2"/>
                </a:solidFill>
              </a:defRPr>
            </a:pPr>
            <a:r>
              <a:rPr sz="1050" b="1">
                <a:solidFill>
                  <a:srgbClr val="C7E8F2"/>
                </a:solidFill>
              </a:rPr>
              <a:t>Endpoint design</a:t>
            </a:r>
          </a:p>
        </p:txBody>
      </p:sp>
      <p:sp>
        <p:nvSpPr>
          <p:cNvPr id="44" name="takeaway-text">
            <a:extLst>
              <a:ext uri="{FF2B5EF4-FFF2-40B4-BE49-F238E27FC236}">
                <a16:creationId xmlns:a16="http://schemas.microsoft.com/office/drawing/2014/main" id="{DC53BAC6-F396-4550-A9C3-CD64549A1D7E}"/>
              </a:ext>
            </a:extLst>
          </p:cNvPr>
          <p:cNvSpPr>
            <a:spLocks noGrp="1"/>
          </p:cNvSpPr>
          <p:nvPr/>
        </p:nvSpPr>
        <p:spPr>
          <a:xfrm>
            <a:off x="952500" y="6143625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The paper treats survival, leukemia-free survival, and AML transformation as distinct prediction tasks.</a:t>
            </a:r>
          </a:p>
        </p:txBody>
      </p:sp>
      <p:sp>
        <p:nvSpPr>
          <p:cNvPr id="45" name="footer">
            <a:extLst>
              <a:ext uri="{FF2B5EF4-FFF2-40B4-BE49-F238E27FC236}">
                <a16:creationId xmlns:a16="http://schemas.microsoft.com/office/drawing/2014/main" id="{FC05573D-C528-4FB5-904B-DCD16103A59B}"/>
              </a:ext>
            </a:extLst>
          </p:cNvPr>
          <p:cNvSpPr>
            <a:spLocks noGrp="1"/>
          </p:cNvSpPr>
          <p:nvPr/>
        </p:nvSpPr>
        <p:spPr>
          <a:xfrm>
            <a:off x="8858250" y="65722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r">
              <a:buNone/>
              <a:defRPr sz="750">
                <a:solidFill>
                  <a:srgbClr val="7A8D97"/>
                </a:solidFill>
              </a:defRPr>
            </a:pPr>
            <a:r>
              <a:rPr sz="750">
                <a:solidFill>
                  <a:srgbClr val="7A8D97"/>
                </a:solidFill>
              </a:rPr>
              <a:t>Machine Learning-Based Survival Prediction of Outcomes in MDS</a:t>
            </a:r>
          </a:p>
        </p:txBody>
      </p:sp>
      <p:sp>
        <p:nvSpPr>
          <p:cNvPr id="46" name="source-line-8">
            <a:extLst>
              <a:ext uri="{FF2B5EF4-FFF2-40B4-BE49-F238E27FC236}">
                <a16:creationId xmlns:a16="http://schemas.microsoft.com/office/drawing/2014/main" id="{F2582231-BCD8-4416-8E7F-27D54BF0E734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42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defRPr sz="788">
                <a:solidFill>
                  <a:srgbClr val="7A8D97"/>
                </a:solidFill>
              </a:defRPr>
            </a:pPr>
            <a:r>
              <a:rPr sz="788">
                <a:solidFill>
                  <a:srgbClr val="7A8D97"/>
                </a:solidFill>
              </a:rPr>
              <a:t>Sources: [2], [15]</a:t>
            </a:r>
          </a:p>
        </p:txBody>
      </p:sp>
    </p:spTree>
    <p:extLst>
      <p:ext uri="{BB962C8B-B14F-4D97-AF65-F5344CB8AC3E}">
        <p14:creationId xmlns:p14="http://schemas.microsoft.com/office/powerpoint/2010/main" val="946737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left-accent-bar">
            <a:extLst>
              <a:ext uri="{FF2B5EF4-FFF2-40B4-BE49-F238E27FC236}">
                <a16:creationId xmlns:a16="http://schemas.microsoft.com/office/drawing/2014/main" id="{66F4A8AB-8B25-45A5-B7EF-ACC8628150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op-rule">
            <a:extLst>
              <a:ext uri="{FF2B5EF4-FFF2-40B4-BE49-F238E27FC236}">
                <a16:creationId xmlns:a16="http://schemas.microsoft.com/office/drawing/2014/main" id="{27C2A944-01AF-4E74-B7C7-7BB511B05AE4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19050"/>
          </a:xfrm>
          <a:prstGeom prst="rect">
            <a:avLst/>
          </a:prstGeom>
          <a:solidFill>
            <a:srgbClr val="DDE8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0D703480-C021-4970-8F2A-C9B930DA0C0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200" b="1">
                <a:solidFill>
                  <a:srgbClr val="0B4D63"/>
                </a:solidFill>
              </a:defRPr>
            </a:pPr>
            <a:r>
              <a:rPr sz="1200" b="1">
                <a:solidFill>
                  <a:srgbClr val="0B4D63"/>
                </a:solidFill>
              </a:rPr>
              <a:t>FEATURE REPRESENTATION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9FC5D735-3608-438D-8F1E-49CB368345F1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2925" b="1">
                <a:solidFill>
                  <a:srgbClr val="0B2F3F"/>
                </a:solidFill>
              </a:defRPr>
            </a:pPr>
            <a:r>
              <a:rPr sz="2925" b="1">
                <a:solidFill>
                  <a:srgbClr val="0B2F3F"/>
                </a:solidFill>
              </a:rPr>
              <a:t>Feature Sets Ask What Information Adds Value</a:t>
            </a:r>
          </a:p>
        </p:txBody>
      </p:sp>
      <p:sp>
        <p:nvSpPr>
          <p:cNvPr id="5" name="setup-line">
            <a:extLst>
              <a:ext uri="{FF2B5EF4-FFF2-40B4-BE49-F238E27FC236}">
                <a16:creationId xmlns:a16="http://schemas.microsoft.com/office/drawing/2014/main" id="{66D13A72-F2AF-4481-8B3A-2826BB01B75D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144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1650">
                <a:solidFill>
                  <a:srgbClr val="2F4653"/>
                </a:solidFill>
              </a:defRPr>
            </a:pPr>
            <a:r>
              <a:rPr sz="1650">
                <a:solidFill>
                  <a:srgbClr val="2F4653"/>
                </a:solidFill>
              </a:rPr>
              <a:t>The four feature sets isolate clinical, cytogenetic, and molecular genetic information.</a:t>
            </a:r>
          </a:p>
        </p:txBody>
      </p:sp>
      <p:sp>
        <p:nvSpPr>
          <p:cNvPr id="6" name="feature-table-bg">
            <a:extLst>
              <a:ext uri="{FF2B5EF4-FFF2-40B4-BE49-F238E27FC236}">
                <a16:creationId xmlns:a16="http://schemas.microsoft.com/office/drawing/2014/main" id="{C2DBCA0E-2CF1-41FA-A979-C0BB52D309B9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10144125" cy="2724150"/>
          </a:xfrm>
          <a:prstGeom prst="rect">
            <a:avLst/>
          </a:prstGeom>
          <a:noFill/>
          <a:ln w="9525">
            <a:solidFill>
              <a:srgbClr val="CBDCE3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7" name="feature-table-header-bg">
            <a:extLst>
              <a:ext uri="{FF2B5EF4-FFF2-40B4-BE49-F238E27FC236}">
                <a16:creationId xmlns:a16="http://schemas.microsoft.com/office/drawing/2014/main" id="{85E42F97-0B2A-46AC-A9EE-239202D3541E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10144125" cy="36195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8" name="feature-table-hline-0">
            <a:extLst>
              <a:ext uri="{FF2B5EF4-FFF2-40B4-BE49-F238E27FC236}">
                <a16:creationId xmlns:a16="http://schemas.microsoft.com/office/drawing/2014/main" id="{A3C81DDD-F72B-4A5C-BFA2-8CAB5E2149C0}"/>
              </a:ext>
            </a:extLst>
          </p:cNvPr>
          <p:cNvSpPr>
            <a:spLocks noGrp="1"/>
          </p:cNvSpPr>
          <p:nvPr/>
        </p:nvSpPr>
        <p:spPr>
          <a:xfrm>
            <a:off x="781050" y="2609850"/>
            <a:ext cx="10144125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9" name="feature-table-cell-0-0">
            <a:extLst>
              <a:ext uri="{FF2B5EF4-FFF2-40B4-BE49-F238E27FC236}">
                <a16:creationId xmlns:a16="http://schemas.microsoft.com/office/drawing/2014/main" id="{CF49CB83-38F3-48B9-AE8F-24EF72F99D37}"/>
              </a:ext>
            </a:extLst>
          </p:cNvPr>
          <p:cNvSpPr>
            <a:spLocks noGrp="1"/>
          </p:cNvSpPr>
          <p:nvPr/>
        </p:nvSpPr>
        <p:spPr>
          <a:xfrm>
            <a:off x="876300" y="2314575"/>
            <a:ext cx="1066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Feature set</a:t>
            </a:r>
          </a:p>
        </p:txBody>
      </p:sp>
      <p:sp>
        <p:nvSpPr>
          <p:cNvPr id="10" name="feature-table-vline-0-1">
            <a:extLst>
              <a:ext uri="{FF2B5EF4-FFF2-40B4-BE49-F238E27FC236}">
                <a16:creationId xmlns:a16="http://schemas.microsoft.com/office/drawing/2014/main" id="{305C62C8-C833-4A03-90EA-B61548EFBCD5}"/>
              </a:ext>
            </a:extLst>
          </p:cNvPr>
          <p:cNvSpPr>
            <a:spLocks noGrp="1"/>
          </p:cNvSpPr>
          <p:nvPr/>
        </p:nvSpPr>
        <p:spPr>
          <a:xfrm>
            <a:off x="2019300" y="2247900"/>
            <a:ext cx="9525" cy="3619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1" name="feature-table-cell-0-1">
            <a:extLst>
              <a:ext uri="{FF2B5EF4-FFF2-40B4-BE49-F238E27FC236}">
                <a16:creationId xmlns:a16="http://schemas.microsoft.com/office/drawing/2014/main" id="{D5946EE5-1762-4D8F-8553-5A7785DBFFDA}"/>
              </a:ext>
            </a:extLst>
          </p:cNvPr>
          <p:cNvSpPr>
            <a:spLocks noGrp="1"/>
          </p:cNvSpPr>
          <p:nvPr/>
        </p:nvSpPr>
        <p:spPr>
          <a:xfrm>
            <a:off x="2114550" y="2314575"/>
            <a:ext cx="3257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Included information</a:t>
            </a:r>
          </a:p>
        </p:txBody>
      </p:sp>
      <p:sp>
        <p:nvSpPr>
          <p:cNvPr id="12" name="feature-table-vline-0-2">
            <a:extLst>
              <a:ext uri="{FF2B5EF4-FFF2-40B4-BE49-F238E27FC236}">
                <a16:creationId xmlns:a16="http://schemas.microsoft.com/office/drawing/2014/main" id="{D66A9CAE-CEFB-4AE9-B3CF-C2B563ADFB91}"/>
              </a:ext>
            </a:extLst>
          </p:cNvPr>
          <p:cNvSpPr>
            <a:spLocks noGrp="1"/>
          </p:cNvSpPr>
          <p:nvPr/>
        </p:nvSpPr>
        <p:spPr>
          <a:xfrm>
            <a:off x="5448300" y="2247900"/>
            <a:ext cx="9525" cy="3619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3" name="feature-table-cell-0-2">
            <a:extLst>
              <a:ext uri="{FF2B5EF4-FFF2-40B4-BE49-F238E27FC236}">
                <a16:creationId xmlns:a16="http://schemas.microsoft.com/office/drawing/2014/main" id="{4DB30150-F6BE-4286-A35C-8C07524DA826}"/>
              </a:ext>
            </a:extLst>
          </p:cNvPr>
          <p:cNvSpPr>
            <a:spLocks noGrp="1"/>
          </p:cNvSpPr>
          <p:nvPr/>
        </p:nvSpPr>
        <p:spPr>
          <a:xfrm>
            <a:off x="5543550" y="2314575"/>
            <a:ext cx="2971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Modeling purpose</a:t>
            </a:r>
          </a:p>
        </p:txBody>
      </p:sp>
      <p:sp>
        <p:nvSpPr>
          <p:cNvPr id="14" name="feature-table-vline-0-3">
            <a:extLst>
              <a:ext uri="{FF2B5EF4-FFF2-40B4-BE49-F238E27FC236}">
                <a16:creationId xmlns:a16="http://schemas.microsoft.com/office/drawing/2014/main" id="{9246E39B-97D3-4966-A971-2A32AFA4819A}"/>
              </a:ext>
            </a:extLst>
          </p:cNvPr>
          <p:cNvSpPr>
            <a:spLocks noGrp="1"/>
          </p:cNvSpPr>
          <p:nvPr/>
        </p:nvSpPr>
        <p:spPr>
          <a:xfrm>
            <a:off x="8591550" y="2247900"/>
            <a:ext cx="9525" cy="3619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5" name="feature-table-cell-0-3">
            <a:extLst>
              <a:ext uri="{FF2B5EF4-FFF2-40B4-BE49-F238E27FC236}">
                <a16:creationId xmlns:a16="http://schemas.microsoft.com/office/drawing/2014/main" id="{D1D36D74-FB3E-40E5-A000-B6A2F19BE12D}"/>
              </a:ext>
            </a:extLst>
          </p:cNvPr>
          <p:cNvSpPr>
            <a:spLocks noGrp="1"/>
          </p:cNvSpPr>
          <p:nvPr/>
        </p:nvSpPr>
        <p:spPr>
          <a:xfrm>
            <a:off x="8686800" y="2314575"/>
            <a:ext cx="21621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Key note</a:t>
            </a:r>
          </a:p>
        </p:txBody>
      </p:sp>
      <p:sp>
        <p:nvSpPr>
          <p:cNvPr id="16" name="feature-table-hline-1">
            <a:extLst>
              <a:ext uri="{FF2B5EF4-FFF2-40B4-BE49-F238E27FC236}">
                <a16:creationId xmlns:a16="http://schemas.microsoft.com/office/drawing/2014/main" id="{AA44B618-B634-4AAE-B4BE-9E78FC539E30}"/>
              </a:ext>
            </a:extLst>
          </p:cNvPr>
          <p:cNvSpPr>
            <a:spLocks noGrp="1"/>
          </p:cNvSpPr>
          <p:nvPr/>
        </p:nvSpPr>
        <p:spPr>
          <a:xfrm>
            <a:off x="781050" y="3200400"/>
            <a:ext cx="10144125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7" name="feature-table-cell-1-0">
            <a:extLst>
              <a:ext uri="{FF2B5EF4-FFF2-40B4-BE49-F238E27FC236}">
                <a16:creationId xmlns:a16="http://schemas.microsoft.com/office/drawing/2014/main" id="{C1D9571F-A7B2-4E20-984C-E587B392D85B}"/>
              </a:ext>
            </a:extLst>
          </p:cNvPr>
          <p:cNvSpPr>
            <a:spLocks noGrp="1"/>
          </p:cNvSpPr>
          <p:nvPr/>
        </p:nvSpPr>
        <p:spPr>
          <a:xfrm>
            <a:off x="876300" y="2676525"/>
            <a:ext cx="1066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13" b="1">
                <a:solidFill>
                  <a:srgbClr val="0B4D63"/>
                </a:solidFill>
              </a:defRPr>
            </a:pPr>
            <a:r>
              <a:rPr sz="1200" b="1">
                <a:solidFill>
                  <a:srgbClr val="0B4D63"/>
                </a:solidFill>
              </a:rPr>
              <a:t>Clin</a:t>
            </a:r>
          </a:p>
        </p:txBody>
      </p:sp>
      <p:sp>
        <p:nvSpPr>
          <p:cNvPr id="18" name="feature-table-vline-1-1">
            <a:extLst>
              <a:ext uri="{FF2B5EF4-FFF2-40B4-BE49-F238E27FC236}">
                <a16:creationId xmlns:a16="http://schemas.microsoft.com/office/drawing/2014/main" id="{AB7FD0C4-032A-4FED-B276-457DFC14D30E}"/>
              </a:ext>
            </a:extLst>
          </p:cNvPr>
          <p:cNvSpPr>
            <a:spLocks noGrp="1"/>
          </p:cNvSpPr>
          <p:nvPr/>
        </p:nvSpPr>
        <p:spPr>
          <a:xfrm>
            <a:off x="2019300" y="2609850"/>
            <a:ext cx="9525" cy="5905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9" name="feature-table-cell-1-1">
            <a:extLst>
              <a:ext uri="{FF2B5EF4-FFF2-40B4-BE49-F238E27FC236}">
                <a16:creationId xmlns:a16="http://schemas.microsoft.com/office/drawing/2014/main" id="{8F013D7D-8B6F-46CF-8591-844B1007EA44}"/>
              </a:ext>
            </a:extLst>
          </p:cNvPr>
          <p:cNvSpPr>
            <a:spLocks noGrp="1"/>
          </p:cNvSpPr>
          <p:nvPr/>
        </p:nvSpPr>
        <p:spPr>
          <a:xfrm>
            <a:off x="2114550" y="2676525"/>
            <a:ext cx="3257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13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Age, sex, MDS type, and available clinical variables</a:t>
            </a:r>
          </a:p>
        </p:txBody>
      </p:sp>
      <p:sp>
        <p:nvSpPr>
          <p:cNvPr id="20" name="feature-table-vline-1-2">
            <a:extLst>
              <a:ext uri="{FF2B5EF4-FFF2-40B4-BE49-F238E27FC236}">
                <a16:creationId xmlns:a16="http://schemas.microsoft.com/office/drawing/2014/main" id="{93AB06F6-A8DB-46DF-90C2-697207A29851}"/>
              </a:ext>
            </a:extLst>
          </p:cNvPr>
          <p:cNvSpPr>
            <a:spLocks noGrp="1"/>
          </p:cNvSpPr>
          <p:nvPr/>
        </p:nvSpPr>
        <p:spPr>
          <a:xfrm>
            <a:off x="5448300" y="2609850"/>
            <a:ext cx="9525" cy="5905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1" name="feature-table-cell-1-2">
            <a:extLst>
              <a:ext uri="{FF2B5EF4-FFF2-40B4-BE49-F238E27FC236}">
                <a16:creationId xmlns:a16="http://schemas.microsoft.com/office/drawing/2014/main" id="{B559B16F-63C9-4EA1-806B-E9E17E311503}"/>
              </a:ext>
            </a:extLst>
          </p:cNvPr>
          <p:cNvSpPr>
            <a:spLocks noGrp="1"/>
          </p:cNvSpPr>
          <p:nvPr/>
        </p:nvSpPr>
        <p:spPr>
          <a:xfrm>
            <a:off x="5543550" y="2676525"/>
            <a:ext cx="2971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13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Clinical-only baseline</a:t>
            </a:r>
          </a:p>
        </p:txBody>
      </p:sp>
      <p:sp>
        <p:nvSpPr>
          <p:cNvPr id="22" name="feature-table-vline-1-3">
            <a:extLst>
              <a:ext uri="{FF2B5EF4-FFF2-40B4-BE49-F238E27FC236}">
                <a16:creationId xmlns:a16="http://schemas.microsoft.com/office/drawing/2014/main" id="{FCEAD1AD-E041-4AAA-A0A8-43D5078272C1}"/>
              </a:ext>
            </a:extLst>
          </p:cNvPr>
          <p:cNvSpPr>
            <a:spLocks noGrp="1"/>
          </p:cNvSpPr>
          <p:nvPr/>
        </p:nvSpPr>
        <p:spPr>
          <a:xfrm>
            <a:off x="8591550" y="2609850"/>
            <a:ext cx="9525" cy="5905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3" name="feature-table-cell-1-3">
            <a:extLst>
              <a:ext uri="{FF2B5EF4-FFF2-40B4-BE49-F238E27FC236}">
                <a16:creationId xmlns:a16="http://schemas.microsoft.com/office/drawing/2014/main" id="{6760036C-90E3-46EE-B63E-492EE3C13370}"/>
              </a:ext>
            </a:extLst>
          </p:cNvPr>
          <p:cNvSpPr>
            <a:spLocks noGrp="1"/>
          </p:cNvSpPr>
          <p:nvPr/>
        </p:nvSpPr>
        <p:spPr>
          <a:xfrm>
            <a:off x="8686800" y="2676525"/>
            <a:ext cx="21621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13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Treatment-related variables used for OS only</a:t>
            </a:r>
          </a:p>
        </p:txBody>
      </p:sp>
      <p:sp>
        <p:nvSpPr>
          <p:cNvPr id="24" name="feature-table-stripe-2">
            <a:extLst>
              <a:ext uri="{FF2B5EF4-FFF2-40B4-BE49-F238E27FC236}">
                <a16:creationId xmlns:a16="http://schemas.microsoft.com/office/drawing/2014/main" id="{6835C7F6-0DF8-43EA-AE3E-B87B80C5235E}"/>
              </a:ext>
            </a:extLst>
          </p:cNvPr>
          <p:cNvSpPr>
            <a:spLocks noGrp="1"/>
          </p:cNvSpPr>
          <p:nvPr/>
        </p:nvSpPr>
        <p:spPr>
          <a:xfrm>
            <a:off x="781050" y="3200400"/>
            <a:ext cx="10144125" cy="590550"/>
          </a:xfrm>
          <a:prstGeom prst="rect">
            <a:avLst/>
          </a:prstGeom>
          <a:solidFill>
            <a:srgbClr val="F1F6F8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5" name="feature-table-hline-2">
            <a:extLst>
              <a:ext uri="{FF2B5EF4-FFF2-40B4-BE49-F238E27FC236}">
                <a16:creationId xmlns:a16="http://schemas.microsoft.com/office/drawing/2014/main" id="{23B4CF4C-7313-4914-B312-F27B3C884B6A}"/>
              </a:ext>
            </a:extLst>
          </p:cNvPr>
          <p:cNvSpPr>
            <a:spLocks noGrp="1"/>
          </p:cNvSpPr>
          <p:nvPr/>
        </p:nvSpPr>
        <p:spPr>
          <a:xfrm>
            <a:off x="781050" y="3790950"/>
            <a:ext cx="10144125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6" name="feature-table-cell-2-0">
            <a:extLst>
              <a:ext uri="{FF2B5EF4-FFF2-40B4-BE49-F238E27FC236}">
                <a16:creationId xmlns:a16="http://schemas.microsoft.com/office/drawing/2014/main" id="{262F9A83-7F0B-4CB0-B6A0-C1DFC1E46756}"/>
              </a:ext>
            </a:extLst>
          </p:cNvPr>
          <p:cNvSpPr>
            <a:spLocks noGrp="1"/>
          </p:cNvSpPr>
          <p:nvPr/>
        </p:nvSpPr>
        <p:spPr>
          <a:xfrm>
            <a:off x="876300" y="3267075"/>
            <a:ext cx="1066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13" b="1">
                <a:solidFill>
                  <a:srgbClr val="0B4D63"/>
                </a:solidFill>
              </a:defRPr>
            </a:pPr>
            <a:r>
              <a:rPr sz="1200" b="1">
                <a:solidFill>
                  <a:srgbClr val="0B4D63"/>
                </a:solidFill>
              </a:rPr>
              <a:t>Clin+Cyt</a:t>
            </a:r>
          </a:p>
        </p:txBody>
      </p:sp>
      <p:sp>
        <p:nvSpPr>
          <p:cNvPr id="27" name="feature-table-vline-2-1">
            <a:extLst>
              <a:ext uri="{FF2B5EF4-FFF2-40B4-BE49-F238E27FC236}">
                <a16:creationId xmlns:a16="http://schemas.microsoft.com/office/drawing/2014/main" id="{223DBA97-807E-4FDB-BD81-BA452DB5D5B6}"/>
              </a:ext>
            </a:extLst>
          </p:cNvPr>
          <p:cNvSpPr>
            <a:spLocks noGrp="1"/>
          </p:cNvSpPr>
          <p:nvPr/>
        </p:nvSpPr>
        <p:spPr>
          <a:xfrm>
            <a:off x="2019300" y="3200400"/>
            <a:ext cx="9525" cy="5905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8" name="feature-table-cell-2-1">
            <a:extLst>
              <a:ext uri="{FF2B5EF4-FFF2-40B4-BE49-F238E27FC236}">
                <a16:creationId xmlns:a16="http://schemas.microsoft.com/office/drawing/2014/main" id="{AB7827D2-A259-4192-AC3B-57D6F77A0F6C}"/>
              </a:ext>
            </a:extLst>
          </p:cNvPr>
          <p:cNvSpPr>
            <a:spLocks noGrp="1"/>
          </p:cNvSpPr>
          <p:nvPr/>
        </p:nvSpPr>
        <p:spPr>
          <a:xfrm>
            <a:off x="2114550" y="3267075"/>
            <a:ext cx="3257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13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Clinical variables plus IPSS-R cytogenetic categories</a:t>
            </a:r>
          </a:p>
        </p:txBody>
      </p:sp>
      <p:sp>
        <p:nvSpPr>
          <p:cNvPr id="29" name="feature-table-vline-2-2">
            <a:extLst>
              <a:ext uri="{FF2B5EF4-FFF2-40B4-BE49-F238E27FC236}">
                <a16:creationId xmlns:a16="http://schemas.microsoft.com/office/drawing/2014/main" id="{6DEB426B-C03E-4231-A173-440CF5456EEB}"/>
              </a:ext>
            </a:extLst>
          </p:cNvPr>
          <p:cNvSpPr>
            <a:spLocks noGrp="1"/>
          </p:cNvSpPr>
          <p:nvPr/>
        </p:nvSpPr>
        <p:spPr>
          <a:xfrm>
            <a:off x="5448300" y="3200400"/>
            <a:ext cx="9525" cy="5905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0" name="feature-table-cell-2-2">
            <a:extLst>
              <a:ext uri="{FF2B5EF4-FFF2-40B4-BE49-F238E27FC236}">
                <a16:creationId xmlns:a16="http://schemas.microsoft.com/office/drawing/2014/main" id="{F79955EF-9E1D-4314-AF3C-310F6E6259BF}"/>
              </a:ext>
            </a:extLst>
          </p:cNvPr>
          <p:cNvSpPr>
            <a:spLocks noGrp="1"/>
          </p:cNvSpPr>
          <p:nvPr/>
        </p:nvSpPr>
        <p:spPr>
          <a:xfrm>
            <a:off x="5543550" y="3267075"/>
            <a:ext cx="2971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13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Test value of cytogenetic risk information</a:t>
            </a:r>
          </a:p>
        </p:txBody>
      </p:sp>
      <p:sp>
        <p:nvSpPr>
          <p:cNvPr id="31" name="feature-table-vline-2-3">
            <a:extLst>
              <a:ext uri="{FF2B5EF4-FFF2-40B4-BE49-F238E27FC236}">
                <a16:creationId xmlns:a16="http://schemas.microsoft.com/office/drawing/2014/main" id="{17AF0941-6677-4CB4-AF91-175BFF6B30A5}"/>
              </a:ext>
            </a:extLst>
          </p:cNvPr>
          <p:cNvSpPr>
            <a:spLocks noGrp="1"/>
          </p:cNvSpPr>
          <p:nvPr/>
        </p:nvSpPr>
        <p:spPr>
          <a:xfrm>
            <a:off x="8591550" y="3200400"/>
            <a:ext cx="9525" cy="5905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2" name="feature-table-cell-2-3">
            <a:extLst>
              <a:ext uri="{FF2B5EF4-FFF2-40B4-BE49-F238E27FC236}">
                <a16:creationId xmlns:a16="http://schemas.microsoft.com/office/drawing/2014/main" id="{14506178-8DA7-45E7-8EED-62FB3F877C0A}"/>
              </a:ext>
            </a:extLst>
          </p:cNvPr>
          <p:cNvSpPr>
            <a:spLocks noGrp="1"/>
          </p:cNvSpPr>
          <p:nvPr/>
        </p:nvSpPr>
        <p:spPr>
          <a:xfrm>
            <a:off x="8686800" y="3267075"/>
            <a:ext cx="21621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13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Uses 5 cytogenetic categories</a:t>
            </a:r>
          </a:p>
        </p:txBody>
      </p:sp>
      <p:sp>
        <p:nvSpPr>
          <p:cNvPr id="33" name="feature-table-hline-3">
            <a:extLst>
              <a:ext uri="{FF2B5EF4-FFF2-40B4-BE49-F238E27FC236}">
                <a16:creationId xmlns:a16="http://schemas.microsoft.com/office/drawing/2014/main" id="{B11A560F-3FDC-40A5-86C1-DDEF34CBB718}"/>
              </a:ext>
            </a:extLst>
          </p:cNvPr>
          <p:cNvSpPr>
            <a:spLocks noGrp="1"/>
          </p:cNvSpPr>
          <p:nvPr/>
        </p:nvSpPr>
        <p:spPr>
          <a:xfrm>
            <a:off x="781050" y="4381500"/>
            <a:ext cx="10144125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4" name="feature-table-cell-3-0">
            <a:extLst>
              <a:ext uri="{FF2B5EF4-FFF2-40B4-BE49-F238E27FC236}">
                <a16:creationId xmlns:a16="http://schemas.microsoft.com/office/drawing/2014/main" id="{D9C1589C-8A77-4A30-8344-5083947B0E71}"/>
              </a:ext>
            </a:extLst>
          </p:cNvPr>
          <p:cNvSpPr>
            <a:spLocks noGrp="1"/>
          </p:cNvSpPr>
          <p:nvPr/>
        </p:nvSpPr>
        <p:spPr>
          <a:xfrm>
            <a:off x="876300" y="3857625"/>
            <a:ext cx="1066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13" b="1">
                <a:solidFill>
                  <a:srgbClr val="0B4D63"/>
                </a:solidFill>
              </a:defRPr>
            </a:pPr>
            <a:r>
              <a:rPr sz="1200" b="1">
                <a:solidFill>
                  <a:srgbClr val="0B4D63"/>
                </a:solidFill>
              </a:rPr>
              <a:t>Clin+MG</a:t>
            </a:r>
          </a:p>
        </p:txBody>
      </p:sp>
      <p:sp>
        <p:nvSpPr>
          <p:cNvPr id="35" name="feature-table-vline-3-1">
            <a:extLst>
              <a:ext uri="{FF2B5EF4-FFF2-40B4-BE49-F238E27FC236}">
                <a16:creationId xmlns:a16="http://schemas.microsoft.com/office/drawing/2014/main" id="{911B71BB-3C64-4756-AA7C-3E7929CAF76A}"/>
              </a:ext>
            </a:extLst>
          </p:cNvPr>
          <p:cNvSpPr>
            <a:spLocks noGrp="1"/>
          </p:cNvSpPr>
          <p:nvPr/>
        </p:nvSpPr>
        <p:spPr>
          <a:xfrm>
            <a:off x="2019300" y="3790950"/>
            <a:ext cx="9525" cy="5905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6" name="feature-table-cell-3-1">
            <a:extLst>
              <a:ext uri="{FF2B5EF4-FFF2-40B4-BE49-F238E27FC236}">
                <a16:creationId xmlns:a16="http://schemas.microsoft.com/office/drawing/2014/main" id="{00563A92-CC3B-4D60-A59B-2243B33A3138}"/>
              </a:ext>
            </a:extLst>
          </p:cNvPr>
          <p:cNvSpPr>
            <a:spLocks noGrp="1"/>
          </p:cNvSpPr>
          <p:nvPr/>
        </p:nvSpPr>
        <p:spPr>
          <a:xfrm>
            <a:off x="2114550" y="3857625"/>
            <a:ext cx="3257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13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Clinical variables plus molecular genetic mutation features</a:t>
            </a:r>
          </a:p>
        </p:txBody>
      </p:sp>
      <p:sp>
        <p:nvSpPr>
          <p:cNvPr id="37" name="feature-table-vline-3-2">
            <a:extLst>
              <a:ext uri="{FF2B5EF4-FFF2-40B4-BE49-F238E27FC236}">
                <a16:creationId xmlns:a16="http://schemas.microsoft.com/office/drawing/2014/main" id="{CE61788C-83C2-4284-8217-56216C46545B}"/>
              </a:ext>
            </a:extLst>
          </p:cNvPr>
          <p:cNvSpPr>
            <a:spLocks noGrp="1"/>
          </p:cNvSpPr>
          <p:nvPr/>
        </p:nvSpPr>
        <p:spPr>
          <a:xfrm>
            <a:off x="5448300" y="3790950"/>
            <a:ext cx="9525" cy="5905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8" name="feature-table-cell-3-2">
            <a:extLst>
              <a:ext uri="{FF2B5EF4-FFF2-40B4-BE49-F238E27FC236}">
                <a16:creationId xmlns:a16="http://schemas.microsoft.com/office/drawing/2014/main" id="{C747B696-5E7F-4AEE-B5DE-42C5F684D9C1}"/>
              </a:ext>
            </a:extLst>
          </p:cNvPr>
          <p:cNvSpPr>
            <a:spLocks noGrp="1"/>
          </p:cNvSpPr>
          <p:nvPr/>
        </p:nvSpPr>
        <p:spPr>
          <a:xfrm>
            <a:off x="5543550" y="3857625"/>
            <a:ext cx="2971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13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Test value of genomic information</a:t>
            </a:r>
          </a:p>
        </p:txBody>
      </p:sp>
      <p:sp>
        <p:nvSpPr>
          <p:cNvPr id="39" name="feature-table-vline-3-3">
            <a:extLst>
              <a:ext uri="{FF2B5EF4-FFF2-40B4-BE49-F238E27FC236}">
                <a16:creationId xmlns:a16="http://schemas.microsoft.com/office/drawing/2014/main" id="{03A18A13-6E0C-4585-B665-B985B481E970}"/>
              </a:ext>
            </a:extLst>
          </p:cNvPr>
          <p:cNvSpPr>
            <a:spLocks noGrp="1"/>
          </p:cNvSpPr>
          <p:nvPr/>
        </p:nvSpPr>
        <p:spPr>
          <a:xfrm>
            <a:off x="8591550" y="3790950"/>
            <a:ext cx="9525" cy="5905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0" name="feature-table-cell-3-3">
            <a:extLst>
              <a:ext uri="{FF2B5EF4-FFF2-40B4-BE49-F238E27FC236}">
                <a16:creationId xmlns:a16="http://schemas.microsoft.com/office/drawing/2014/main" id="{FBB9257D-3DE1-4E1F-95B4-A7AD6E65E14D}"/>
              </a:ext>
            </a:extLst>
          </p:cNvPr>
          <p:cNvSpPr>
            <a:spLocks noGrp="1"/>
          </p:cNvSpPr>
          <p:nvPr/>
        </p:nvSpPr>
        <p:spPr>
          <a:xfrm>
            <a:off x="8686800" y="3857625"/>
            <a:ext cx="21621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13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Central to IPSS-M-style prognosis</a:t>
            </a:r>
          </a:p>
        </p:txBody>
      </p:sp>
      <p:sp>
        <p:nvSpPr>
          <p:cNvPr id="41" name="feature-table-stripe-4">
            <a:extLst>
              <a:ext uri="{FF2B5EF4-FFF2-40B4-BE49-F238E27FC236}">
                <a16:creationId xmlns:a16="http://schemas.microsoft.com/office/drawing/2014/main" id="{7FEBBAFE-15E9-48D0-A285-7349A01CF4C6}"/>
              </a:ext>
            </a:extLst>
          </p:cNvPr>
          <p:cNvSpPr>
            <a:spLocks noGrp="1"/>
          </p:cNvSpPr>
          <p:nvPr/>
        </p:nvSpPr>
        <p:spPr>
          <a:xfrm>
            <a:off x="781050" y="4381500"/>
            <a:ext cx="10144125" cy="590550"/>
          </a:xfrm>
          <a:prstGeom prst="rect">
            <a:avLst/>
          </a:prstGeom>
          <a:solidFill>
            <a:srgbClr val="F1F6F8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2" name="feature-table-hline-4">
            <a:extLst>
              <a:ext uri="{FF2B5EF4-FFF2-40B4-BE49-F238E27FC236}">
                <a16:creationId xmlns:a16="http://schemas.microsoft.com/office/drawing/2014/main" id="{6C5E4D4D-F367-4510-B6AC-E383342F1A1A}"/>
              </a:ext>
            </a:extLst>
          </p:cNvPr>
          <p:cNvSpPr>
            <a:spLocks noGrp="1"/>
          </p:cNvSpPr>
          <p:nvPr/>
        </p:nvSpPr>
        <p:spPr>
          <a:xfrm>
            <a:off x="781050" y="4972050"/>
            <a:ext cx="10144125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3" name="feature-table-cell-4-0">
            <a:extLst>
              <a:ext uri="{FF2B5EF4-FFF2-40B4-BE49-F238E27FC236}">
                <a16:creationId xmlns:a16="http://schemas.microsoft.com/office/drawing/2014/main" id="{89926DB1-F7A9-40D3-A3EC-E0D94CB92481}"/>
              </a:ext>
            </a:extLst>
          </p:cNvPr>
          <p:cNvSpPr>
            <a:spLocks noGrp="1"/>
          </p:cNvSpPr>
          <p:nvPr/>
        </p:nvSpPr>
        <p:spPr>
          <a:xfrm>
            <a:off x="876300" y="4448175"/>
            <a:ext cx="1066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13" b="1">
                <a:solidFill>
                  <a:srgbClr val="0B4D63"/>
                </a:solidFill>
              </a:defRPr>
            </a:pPr>
            <a:r>
              <a:rPr sz="1200" b="1">
                <a:solidFill>
                  <a:srgbClr val="0B4D63"/>
                </a:solidFill>
              </a:rPr>
              <a:t>All</a:t>
            </a:r>
          </a:p>
        </p:txBody>
      </p:sp>
      <p:sp>
        <p:nvSpPr>
          <p:cNvPr id="44" name="feature-table-vline-4-1">
            <a:extLst>
              <a:ext uri="{FF2B5EF4-FFF2-40B4-BE49-F238E27FC236}">
                <a16:creationId xmlns:a16="http://schemas.microsoft.com/office/drawing/2014/main" id="{22015503-8777-4E7E-9947-BCBA95C8E1A8}"/>
              </a:ext>
            </a:extLst>
          </p:cNvPr>
          <p:cNvSpPr>
            <a:spLocks noGrp="1"/>
          </p:cNvSpPr>
          <p:nvPr/>
        </p:nvSpPr>
        <p:spPr>
          <a:xfrm>
            <a:off x="2019300" y="4381500"/>
            <a:ext cx="9525" cy="5905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5" name="feature-table-cell-4-1">
            <a:extLst>
              <a:ext uri="{FF2B5EF4-FFF2-40B4-BE49-F238E27FC236}">
                <a16:creationId xmlns:a16="http://schemas.microsoft.com/office/drawing/2014/main" id="{A9BC3073-5558-4824-9B7D-1850596B0700}"/>
              </a:ext>
            </a:extLst>
          </p:cNvPr>
          <p:cNvSpPr>
            <a:spLocks noGrp="1"/>
          </p:cNvSpPr>
          <p:nvPr/>
        </p:nvSpPr>
        <p:spPr>
          <a:xfrm>
            <a:off x="2114550" y="4448175"/>
            <a:ext cx="3257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13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Clinical, cytogenetic, and molecular genetic features</a:t>
            </a:r>
          </a:p>
        </p:txBody>
      </p:sp>
      <p:sp>
        <p:nvSpPr>
          <p:cNvPr id="46" name="feature-table-vline-4-2">
            <a:extLst>
              <a:ext uri="{FF2B5EF4-FFF2-40B4-BE49-F238E27FC236}">
                <a16:creationId xmlns:a16="http://schemas.microsoft.com/office/drawing/2014/main" id="{67B5D079-D38A-49FC-9039-65CD0D1222AA}"/>
              </a:ext>
            </a:extLst>
          </p:cNvPr>
          <p:cNvSpPr>
            <a:spLocks noGrp="1"/>
          </p:cNvSpPr>
          <p:nvPr/>
        </p:nvSpPr>
        <p:spPr>
          <a:xfrm>
            <a:off x="5448300" y="4381500"/>
            <a:ext cx="9525" cy="5905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7" name="feature-table-cell-4-2">
            <a:extLst>
              <a:ext uri="{FF2B5EF4-FFF2-40B4-BE49-F238E27FC236}">
                <a16:creationId xmlns:a16="http://schemas.microsoft.com/office/drawing/2014/main" id="{77CD7BF9-F8CB-4C97-91E9-1A98C831AC01}"/>
              </a:ext>
            </a:extLst>
          </p:cNvPr>
          <p:cNvSpPr>
            <a:spLocks noGrp="1"/>
          </p:cNvSpPr>
          <p:nvPr/>
        </p:nvSpPr>
        <p:spPr>
          <a:xfrm>
            <a:off x="5543550" y="4448175"/>
            <a:ext cx="2971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13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Use the richest available representation</a:t>
            </a:r>
          </a:p>
        </p:txBody>
      </p:sp>
      <p:sp>
        <p:nvSpPr>
          <p:cNvPr id="48" name="feature-table-vline-4-3">
            <a:extLst>
              <a:ext uri="{FF2B5EF4-FFF2-40B4-BE49-F238E27FC236}">
                <a16:creationId xmlns:a16="http://schemas.microsoft.com/office/drawing/2014/main" id="{93593E51-2EE4-4D03-B67E-0BF6E258D864}"/>
              </a:ext>
            </a:extLst>
          </p:cNvPr>
          <p:cNvSpPr>
            <a:spLocks noGrp="1"/>
          </p:cNvSpPr>
          <p:nvPr/>
        </p:nvSpPr>
        <p:spPr>
          <a:xfrm>
            <a:off x="8591550" y="4381500"/>
            <a:ext cx="9525" cy="5905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9" name="feature-table-cell-4-3">
            <a:extLst>
              <a:ext uri="{FF2B5EF4-FFF2-40B4-BE49-F238E27FC236}">
                <a16:creationId xmlns:a16="http://schemas.microsoft.com/office/drawing/2014/main" id="{A93C0324-6D1D-4AC8-807C-982F874EED67}"/>
              </a:ext>
            </a:extLst>
          </p:cNvPr>
          <p:cNvSpPr>
            <a:spLocks noGrp="1"/>
          </p:cNvSpPr>
          <p:nvPr/>
        </p:nvSpPr>
        <p:spPr>
          <a:xfrm>
            <a:off x="8686800" y="4448175"/>
            <a:ext cx="21621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13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Not guaranteed to be best for every endpoint</a:t>
            </a:r>
          </a:p>
        </p:txBody>
      </p:sp>
      <p:sp>
        <p:nvSpPr>
          <p:cNvPr id="50" name="feature-question">
            <a:extLst>
              <a:ext uri="{FF2B5EF4-FFF2-40B4-BE49-F238E27FC236}">
                <a16:creationId xmlns:a16="http://schemas.microsoft.com/office/drawing/2014/main" id="{1E894F71-0AF9-4234-AEA5-01E92A5028DC}"/>
              </a:ext>
            </a:extLst>
          </p:cNvPr>
          <p:cNvSpPr>
            <a:spLocks noGrp="1"/>
          </p:cNvSpPr>
          <p:nvPr/>
        </p:nvSpPr>
        <p:spPr>
          <a:xfrm>
            <a:off x="876300" y="5095875"/>
            <a:ext cx="952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1350" b="1">
                <a:solidFill>
                  <a:srgbClr val="0B2F3F"/>
                </a:solidFill>
              </a:defRPr>
            </a:pPr>
            <a:r>
              <a:rPr sz="1350" b="1">
                <a:solidFill>
                  <a:srgbClr val="0B2F3F"/>
                </a:solidFill>
              </a:rPr>
              <a:t>Feature question: does adding cytogenetic or molecular information improve discrimination beyond clinical variables alone?</a:t>
            </a:r>
          </a:p>
        </p:txBody>
      </p:sp>
      <p:sp>
        <p:nvSpPr>
          <p:cNvPr id="51" name="takeaway-band">
            <a:extLst>
              <a:ext uri="{FF2B5EF4-FFF2-40B4-BE49-F238E27FC236}">
                <a16:creationId xmlns:a16="http://schemas.microsoft.com/office/drawing/2014/main" id="{98425737-A659-47A4-9F9E-6237B4B5F968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820400" cy="55245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2" name="takeaway-label">
            <a:extLst>
              <a:ext uri="{FF2B5EF4-FFF2-40B4-BE49-F238E27FC236}">
                <a16:creationId xmlns:a16="http://schemas.microsoft.com/office/drawing/2014/main" id="{A5D70677-57D9-487D-B2D8-CC2655BB4AEB}"/>
              </a:ext>
            </a:extLst>
          </p:cNvPr>
          <p:cNvSpPr>
            <a:spLocks noGrp="1"/>
          </p:cNvSpPr>
          <p:nvPr/>
        </p:nvSpPr>
        <p:spPr>
          <a:xfrm>
            <a:off x="952500" y="5953125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050" b="1">
                <a:solidFill>
                  <a:srgbClr val="C7E8F2"/>
                </a:solidFill>
              </a:defRPr>
            </a:pPr>
            <a:r>
              <a:rPr sz="1050" b="1">
                <a:solidFill>
                  <a:srgbClr val="C7E8F2"/>
                </a:solidFill>
              </a:rPr>
              <a:t>RQ1 setup</a:t>
            </a:r>
          </a:p>
        </p:txBody>
      </p:sp>
      <p:sp>
        <p:nvSpPr>
          <p:cNvPr id="53" name="takeaway-text">
            <a:extLst>
              <a:ext uri="{FF2B5EF4-FFF2-40B4-BE49-F238E27FC236}">
                <a16:creationId xmlns:a16="http://schemas.microsoft.com/office/drawing/2014/main" id="{24681CF4-718E-4FB7-8B04-12C8F6D5F2F2}"/>
              </a:ext>
            </a:extLst>
          </p:cNvPr>
          <p:cNvSpPr>
            <a:spLocks noGrp="1"/>
          </p:cNvSpPr>
          <p:nvPr/>
        </p:nvSpPr>
        <p:spPr>
          <a:xfrm>
            <a:off x="952500" y="6143625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Feature design turns biological information into an explicit experimental comparison.</a:t>
            </a:r>
          </a:p>
        </p:txBody>
      </p:sp>
      <p:sp>
        <p:nvSpPr>
          <p:cNvPr id="54" name="footer">
            <a:extLst>
              <a:ext uri="{FF2B5EF4-FFF2-40B4-BE49-F238E27FC236}">
                <a16:creationId xmlns:a16="http://schemas.microsoft.com/office/drawing/2014/main" id="{6EEA6208-621F-493A-8260-B4056DF5AD0C}"/>
              </a:ext>
            </a:extLst>
          </p:cNvPr>
          <p:cNvSpPr>
            <a:spLocks noGrp="1"/>
          </p:cNvSpPr>
          <p:nvPr/>
        </p:nvSpPr>
        <p:spPr>
          <a:xfrm>
            <a:off x="8858250" y="65722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r">
              <a:buNone/>
              <a:defRPr sz="750">
                <a:solidFill>
                  <a:srgbClr val="7A8D97"/>
                </a:solidFill>
              </a:defRPr>
            </a:pPr>
            <a:r>
              <a:rPr sz="750">
                <a:solidFill>
                  <a:srgbClr val="7A8D97"/>
                </a:solidFill>
              </a:rPr>
              <a:t>Machine Learning-Based Survival Prediction of Outcomes in MDS</a:t>
            </a:r>
          </a:p>
        </p:txBody>
      </p:sp>
      <p:sp>
        <p:nvSpPr>
          <p:cNvPr id="55" name="source-line-9">
            <a:extLst>
              <a:ext uri="{FF2B5EF4-FFF2-40B4-BE49-F238E27FC236}">
                <a16:creationId xmlns:a16="http://schemas.microsoft.com/office/drawing/2014/main" id="{C9998B45-FA15-4669-971A-DDCB2DEB6151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42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defRPr sz="788">
                <a:solidFill>
                  <a:srgbClr val="7A8D97"/>
                </a:solidFill>
              </a:defRPr>
            </a:pPr>
            <a:r>
              <a:rPr sz="788">
                <a:solidFill>
                  <a:srgbClr val="7A8D97"/>
                </a:solidFill>
              </a:rPr>
              <a:t>Sources: [2], [6]</a:t>
            </a:r>
          </a:p>
        </p:txBody>
      </p:sp>
    </p:spTree>
    <p:extLst>
      <p:ext uri="{BB962C8B-B14F-4D97-AF65-F5344CB8AC3E}">
        <p14:creationId xmlns:p14="http://schemas.microsoft.com/office/powerpoint/2010/main" val="946737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left-accent-bar">
            <a:extLst>
              <a:ext uri="{FF2B5EF4-FFF2-40B4-BE49-F238E27FC236}">
                <a16:creationId xmlns:a16="http://schemas.microsoft.com/office/drawing/2014/main" id="{6056BA16-CFA7-43EF-A8EC-BB75037E04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op-rule">
            <a:extLst>
              <a:ext uri="{FF2B5EF4-FFF2-40B4-BE49-F238E27FC236}">
                <a16:creationId xmlns:a16="http://schemas.microsoft.com/office/drawing/2014/main" id="{E5EB13E8-3D94-40AB-9596-C2A70A41F667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19050"/>
          </a:xfrm>
          <a:prstGeom prst="rect">
            <a:avLst/>
          </a:prstGeom>
          <a:solidFill>
            <a:srgbClr val="DDE8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72FED537-BEB6-461D-A34C-99656C07837A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200" b="1">
                <a:solidFill>
                  <a:srgbClr val="0B4D63"/>
                </a:solidFill>
              </a:defRPr>
            </a:pPr>
            <a:r>
              <a:rPr sz="1200" b="1">
                <a:solidFill>
                  <a:srgbClr val="0B4D63"/>
                </a:solidFill>
              </a:rPr>
              <a:t>SURVIVAL MODELS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4EB1703E-DAA8-45DD-B4F0-7A3FC2BB1F41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2925" b="1">
                <a:solidFill>
                  <a:srgbClr val="0B2F3F"/>
                </a:solidFill>
              </a:defRPr>
            </a:pPr>
            <a:r>
              <a:rPr sz="2925" b="1">
                <a:solidFill>
                  <a:srgbClr val="0B2F3F"/>
                </a:solidFill>
              </a:rPr>
              <a:t>Five Survival Models Span Linear and Deep Approaches</a:t>
            </a:r>
          </a:p>
        </p:txBody>
      </p:sp>
      <p:sp>
        <p:nvSpPr>
          <p:cNvPr id="5" name="setup-line">
            <a:extLst>
              <a:ext uri="{FF2B5EF4-FFF2-40B4-BE49-F238E27FC236}">
                <a16:creationId xmlns:a16="http://schemas.microsoft.com/office/drawing/2014/main" id="{7490491F-AF48-4FF9-A1FD-003F8EB5EA2D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144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1650">
                <a:solidFill>
                  <a:srgbClr val="2F4653"/>
                </a:solidFill>
              </a:defRPr>
            </a:pPr>
            <a:r>
              <a:rPr sz="1650">
                <a:solidFill>
                  <a:srgbClr val="2F4653"/>
                </a:solidFill>
              </a:rPr>
              <a:t>The model set tests whether nonlinear survival models improve discrimination in MDS.</a:t>
            </a:r>
          </a:p>
        </p:txBody>
      </p:sp>
      <p:sp>
        <p:nvSpPr>
          <p:cNvPr id="6" name="model-table-bg">
            <a:extLst>
              <a:ext uri="{FF2B5EF4-FFF2-40B4-BE49-F238E27FC236}">
                <a16:creationId xmlns:a16="http://schemas.microsoft.com/office/drawing/2014/main" id="{495EC319-DE84-48A2-A38B-1E6D5BDFDD81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10144125" cy="2933700"/>
          </a:xfrm>
          <a:prstGeom prst="rect">
            <a:avLst/>
          </a:prstGeom>
          <a:noFill/>
          <a:ln w="9525">
            <a:solidFill>
              <a:srgbClr val="CBDCE3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7" name="model-table-header-bg">
            <a:extLst>
              <a:ext uri="{FF2B5EF4-FFF2-40B4-BE49-F238E27FC236}">
                <a16:creationId xmlns:a16="http://schemas.microsoft.com/office/drawing/2014/main" id="{D904EACA-8A5F-44E5-B1E7-C54C5CB4D19C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10144125" cy="36195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8" name="model-table-hline-0">
            <a:extLst>
              <a:ext uri="{FF2B5EF4-FFF2-40B4-BE49-F238E27FC236}">
                <a16:creationId xmlns:a16="http://schemas.microsoft.com/office/drawing/2014/main" id="{304A649E-9E8D-4373-B3AB-66446D21A7F6}"/>
              </a:ext>
            </a:extLst>
          </p:cNvPr>
          <p:cNvSpPr>
            <a:spLocks noGrp="1"/>
          </p:cNvSpPr>
          <p:nvPr/>
        </p:nvSpPr>
        <p:spPr>
          <a:xfrm>
            <a:off x="781050" y="2609850"/>
            <a:ext cx="10144125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9" name="model-table-cell-0-0">
            <a:extLst>
              <a:ext uri="{FF2B5EF4-FFF2-40B4-BE49-F238E27FC236}">
                <a16:creationId xmlns:a16="http://schemas.microsoft.com/office/drawing/2014/main" id="{31FDF5B9-608C-4D07-8F0F-4BAD916E6195}"/>
              </a:ext>
            </a:extLst>
          </p:cNvPr>
          <p:cNvSpPr>
            <a:spLocks noGrp="1"/>
          </p:cNvSpPr>
          <p:nvPr/>
        </p:nvSpPr>
        <p:spPr>
          <a:xfrm>
            <a:off x="876300" y="2314575"/>
            <a:ext cx="12096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0" name="model-table-vline-0-1">
            <a:extLst>
              <a:ext uri="{FF2B5EF4-FFF2-40B4-BE49-F238E27FC236}">
                <a16:creationId xmlns:a16="http://schemas.microsoft.com/office/drawing/2014/main" id="{C44EE318-A601-4902-85C3-83384F0D407F}"/>
              </a:ext>
            </a:extLst>
          </p:cNvPr>
          <p:cNvSpPr>
            <a:spLocks noGrp="1"/>
          </p:cNvSpPr>
          <p:nvPr/>
        </p:nvSpPr>
        <p:spPr>
          <a:xfrm>
            <a:off x="2162175" y="2247900"/>
            <a:ext cx="9525" cy="3619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1" name="model-table-cell-0-1">
            <a:extLst>
              <a:ext uri="{FF2B5EF4-FFF2-40B4-BE49-F238E27FC236}">
                <a16:creationId xmlns:a16="http://schemas.microsoft.com/office/drawing/2014/main" id="{456DECC4-5B34-42DC-9189-049C6EB55E2F}"/>
              </a:ext>
            </a:extLst>
          </p:cNvPr>
          <p:cNvSpPr>
            <a:spLocks noGrp="1"/>
          </p:cNvSpPr>
          <p:nvPr/>
        </p:nvSpPr>
        <p:spPr>
          <a:xfrm>
            <a:off x="2257425" y="2314575"/>
            <a:ext cx="13049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Family</a:t>
            </a:r>
          </a:p>
        </p:txBody>
      </p:sp>
      <p:sp>
        <p:nvSpPr>
          <p:cNvPr id="12" name="model-table-vline-0-2">
            <a:extLst>
              <a:ext uri="{FF2B5EF4-FFF2-40B4-BE49-F238E27FC236}">
                <a16:creationId xmlns:a16="http://schemas.microsoft.com/office/drawing/2014/main" id="{AEB908B5-A843-43C3-8E1B-1BDACD120DD5}"/>
              </a:ext>
            </a:extLst>
          </p:cNvPr>
          <p:cNvSpPr>
            <a:spLocks noGrp="1"/>
          </p:cNvSpPr>
          <p:nvPr/>
        </p:nvSpPr>
        <p:spPr>
          <a:xfrm>
            <a:off x="3638550" y="2247900"/>
            <a:ext cx="9525" cy="3619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3" name="model-table-cell-0-2">
            <a:extLst>
              <a:ext uri="{FF2B5EF4-FFF2-40B4-BE49-F238E27FC236}">
                <a16:creationId xmlns:a16="http://schemas.microsoft.com/office/drawing/2014/main" id="{25D0CB42-4145-41F8-B2EF-795D9FC3CE2B}"/>
              </a:ext>
            </a:extLst>
          </p:cNvPr>
          <p:cNvSpPr>
            <a:spLocks noGrp="1"/>
          </p:cNvSpPr>
          <p:nvPr/>
        </p:nvSpPr>
        <p:spPr>
          <a:xfrm>
            <a:off x="3733800" y="2314575"/>
            <a:ext cx="2019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Implementation</a:t>
            </a:r>
          </a:p>
        </p:txBody>
      </p:sp>
      <p:sp>
        <p:nvSpPr>
          <p:cNvPr id="14" name="model-table-vline-0-3">
            <a:extLst>
              <a:ext uri="{FF2B5EF4-FFF2-40B4-BE49-F238E27FC236}">
                <a16:creationId xmlns:a16="http://schemas.microsoft.com/office/drawing/2014/main" id="{E03ABC45-17C0-4974-9F71-C4292B4E345E}"/>
              </a:ext>
            </a:extLst>
          </p:cNvPr>
          <p:cNvSpPr>
            <a:spLocks noGrp="1"/>
          </p:cNvSpPr>
          <p:nvPr/>
        </p:nvSpPr>
        <p:spPr>
          <a:xfrm>
            <a:off x="5829300" y="2247900"/>
            <a:ext cx="9525" cy="3619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5" name="model-table-cell-0-3">
            <a:extLst>
              <a:ext uri="{FF2B5EF4-FFF2-40B4-BE49-F238E27FC236}">
                <a16:creationId xmlns:a16="http://schemas.microsoft.com/office/drawing/2014/main" id="{A0464638-D86C-4C2A-9054-843A289A6B54}"/>
              </a:ext>
            </a:extLst>
          </p:cNvPr>
          <p:cNvSpPr>
            <a:spLocks noGrp="1"/>
          </p:cNvSpPr>
          <p:nvPr/>
        </p:nvSpPr>
        <p:spPr>
          <a:xfrm>
            <a:off x="5924550" y="2314575"/>
            <a:ext cx="49244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What it contributes</a:t>
            </a:r>
          </a:p>
        </p:txBody>
      </p:sp>
      <p:sp>
        <p:nvSpPr>
          <p:cNvPr id="16" name="model-table-hline-1">
            <a:extLst>
              <a:ext uri="{FF2B5EF4-FFF2-40B4-BE49-F238E27FC236}">
                <a16:creationId xmlns:a16="http://schemas.microsoft.com/office/drawing/2014/main" id="{4E652215-3305-4206-BDF4-64FFB5D8B3C0}"/>
              </a:ext>
            </a:extLst>
          </p:cNvPr>
          <p:cNvSpPr>
            <a:spLocks noGrp="1"/>
          </p:cNvSpPr>
          <p:nvPr/>
        </p:nvSpPr>
        <p:spPr>
          <a:xfrm>
            <a:off x="781050" y="3124200"/>
            <a:ext cx="10144125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7" name="model-table-cell-1-0">
            <a:extLst>
              <a:ext uri="{FF2B5EF4-FFF2-40B4-BE49-F238E27FC236}">
                <a16:creationId xmlns:a16="http://schemas.microsoft.com/office/drawing/2014/main" id="{9E29A51E-0037-4A98-9E00-E39241D110A3}"/>
              </a:ext>
            </a:extLst>
          </p:cNvPr>
          <p:cNvSpPr>
            <a:spLocks noGrp="1"/>
          </p:cNvSpPr>
          <p:nvPr/>
        </p:nvSpPr>
        <p:spPr>
          <a:xfrm>
            <a:off x="876300" y="2676525"/>
            <a:ext cx="12096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90" b="1">
                <a:solidFill>
                  <a:srgbClr val="0B2F3F"/>
                </a:solidFill>
              </a:defRPr>
            </a:pPr>
            <a:r>
              <a:rPr sz="1200" b="1">
                <a:solidFill>
                  <a:srgbClr val="0B2F3F"/>
                </a:solidFill>
              </a:rPr>
              <a:t>Coxnet</a:t>
            </a:r>
          </a:p>
        </p:txBody>
      </p:sp>
      <p:sp>
        <p:nvSpPr>
          <p:cNvPr id="18" name="model-table-vline-1-1">
            <a:extLst>
              <a:ext uri="{FF2B5EF4-FFF2-40B4-BE49-F238E27FC236}">
                <a16:creationId xmlns:a16="http://schemas.microsoft.com/office/drawing/2014/main" id="{535A8AB2-F801-4108-9870-19A31FE06672}"/>
              </a:ext>
            </a:extLst>
          </p:cNvPr>
          <p:cNvSpPr>
            <a:spLocks noGrp="1"/>
          </p:cNvSpPr>
          <p:nvPr/>
        </p:nvSpPr>
        <p:spPr>
          <a:xfrm>
            <a:off x="2162175" y="2609850"/>
            <a:ext cx="9525" cy="5143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9" name="model-table-cell-1-1">
            <a:extLst>
              <a:ext uri="{FF2B5EF4-FFF2-40B4-BE49-F238E27FC236}">
                <a16:creationId xmlns:a16="http://schemas.microsoft.com/office/drawing/2014/main" id="{3BBF4BE7-607D-4E4D-B89A-1CB17AEEDE9F}"/>
              </a:ext>
            </a:extLst>
          </p:cNvPr>
          <p:cNvSpPr>
            <a:spLocks noGrp="1"/>
          </p:cNvSpPr>
          <p:nvPr/>
        </p:nvSpPr>
        <p:spPr>
          <a:xfrm>
            <a:off x="2257425" y="2676525"/>
            <a:ext cx="13049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9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Linear</a:t>
            </a:r>
          </a:p>
        </p:txBody>
      </p:sp>
      <p:sp>
        <p:nvSpPr>
          <p:cNvPr id="20" name="model-table-vline-1-2">
            <a:extLst>
              <a:ext uri="{FF2B5EF4-FFF2-40B4-BE49-F238E27FC236}">
                <a16:creationId xmlns:a16="http://schemas.microsoft.com/office/drawing/2014/main" id="{1823B64B-A4F7-45F8-A2D8-948D43CB986A}"/>
              </a:ext>
            </a:extLst>
          </p:cNvPr>
          <p:cNvSpPr>
            <a:spLocks noGrp="1"/>
          </p:cNvSpPr>
          <p:nvPr/>
        </p:nvSpPr>
        <p:spPr>
          <a:xfrm>
            <a:off x="3638550" y="2609850"/>
            <a:ext cx="9525" cy="5143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1" name="model-table-cell-1-2">
            <a:extLst>
              <a:ext uri="{FF2B5EF4-FFF2-40B4-BE49-F238E27FC236}">
                <a16:creationId xmlns:a16="http://schemas.microsoft.com/office/drawing/2014/main" id="{70051DBF-0FF4-4960-940D-A354EABF9FE1}"/>
              </a:ext>
            </a:extLst>
          </p:cNvPr>
          <p:cNvSpPr>
            <a:spLocks noGrp="1"/>
          </p:cNvSpPr>
          <p:nvPr/>
        </p:nvSpPr>
        <p:spPr>
          <a:xfrm>
            <a:off x="3733800" y="2676525"/>
            <a:ext cx="201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9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scikit-survival</a:t>
            </a:r>
          </a:p>
        </p:txBody>
      </p:sp>
      <p:sp>
        <p:nvSpPr>
          <p:cNvPr id="22" name="model-table-vline-1-3">
            <a:extLst>
              <a:ext uri="{FF2B5EF4-FFF2-40B4-BE49-F238E27FC236}">
                <a16:creationId xmlns:a16="http://schemas.microsoft.com/office/drawing/2014/main" id="{6FCD65AB-017F-4D87-9D8F-0E460BA656AD}"/>
              </a:ext>
            </a:extLst>
          </p:cNvPr>
          <p:cNvSpPr>
            <a:spLocks noGrp="1"/>
          </p:cNvSpPr>
          <p:nvPr/>
        </p:nvSpPr>
        <p:spPr>
          <a:xfrm>
            <a:off x="5829300" y="2609850"/>
            <a:ext cx="9525" cy="5143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3" name="model-table-cell-1-3">
            <a:extLst>
              <a:ext uri="{FF2B5EF4-FFF2-40B4-BE49-F238E27FC236}">
                <a16:creationId xmlns:a16="http://schemas.microsoft.com/office/drawing/2014/main" id="{AACF1F59-9BA5-4630-9B92-A37E14612601}"/>
              </a:ext>
            </a:extLst>
          </p:cNvPr>
          <p:cNvSpPr>
            <a:spLocks noGrp="1"/>
          </p:cNvSpPr>
          <p:nvPr/>
        </p:nvSpPr>
        <p:spPr>
          <a:xfrm>
            <a:off x="5924550" y="2676525"/>
            <a:ext cx="49244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9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Cox proportional hazards with elastic net regularization; strong regularized baseline</a:t>
            </a:r>
          </a:p>
        </p:txBody>
      </p:sp>
      <p:sp>
        <p:nvSpPr>
          <p:cNvPr id="24" name="model-table-stripe-2">
            <a:extLst>
              <a:ext uri="{FF2B5EF4-FFF2-40B4-BE49-F238E27FC236}">
                <a16:creationId xmlns:a16="http://schemas.microsoft.com/office/drawing/2014/main" id="{843C6846-4949-457A-BF4E-F76210122473}"/>
              </a:ext>
            </a:extLst>
          </p:cNvPr>
          <p:cNvSpPr>
            <a:spLocks noGrp="1"/>
          </p:cNvSpPr>
          <p:nvPr/>
        </p:nvSpPr>
        <p:spPr>
          <a:xfrm>
            <a:off x="781050" y="3124200"/>
            <a:ext cx="10144125" cy="514350"/>
          </a:xfrm>
          <a:prstGeom prst="rect">
            <a:avLst/>
          </a:prstGeom>
          <a:solidFill>
            <a:srgbClr val="F1F6F8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5" name="model-table-hline-2">
            <a:extLst>
              <a:ext uri="{FF2B5EF4-FFF2-40B4-BE49-F238E27FC236}">
                <a16:creationId xmlns:a16="http://schemas.microsoft.com/office/drawing/2014/main" id="{C2D6616E-D4D0-41F1-BA82-83AD81E6D385}"/>
              </a:ext>
            </a:extLst>
          </p:cNvPr>
          <p:cNvSpPr>
            <a:spLocks noGrp="1"/>
          </p:cNvSpPr>
          <p:nvPr/>
        </p:nvSpPr>
        <p:spPr>
          <a:xfrm>
            <a:off x="781050" y="3638550"/>
            <a:ext cx="10144125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6" name="model-table-cell-2-0">
            <a:extLst>
              <a:ext uri="{FF2B5EF4-FFF2-40B4-BE49-F238E27FC236}">
                <a16:creationId xmlns:a16="http://schemas.microsoft.com/office/drawing/2014/main" id="{28BDBF45-3243-40A1-9078-9963B5E1E06F}"/>
              </a:ext>
            </a:extLst>
          </p:cNvPr>
          <p:cNvSpPr>
            <a:spLocks noGrp="1"/>
          </p:cNvSpPr>
          <p:nvPr/>
        </p:nvSpPr>
        <p:spPr>
          <a:xfrm>
            <a:off x="876300" y="3190875"/>
            <a:ext cx="12096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90" b="1">
                <a:solidFill>
                  <a:srgbClr val="0B2F3F"/>
                </a:solidFill>
              </a:defRPr>
            </a:pPr>
            <a:r>
              <a:rPr sz="1200" b="1">
                <a:solidFill>
                  <a:srgbClr val="0B2F3F"/>
                </a:solidFill>
              </a:rPr>
              <a:t>L-MTLR</a:t>
            </a:r>
          </a:p>
        </p:txBody>
      </p:sp>
      <p:sp>
        <p:nvSpPr>
          <p:cNvPr id="27" name="model-table-vline-2-1">
            <a:extLst>
              <a:ext uri="{FF2B5EF4-FFF2-40B4-BE49-F238E27FC236}">
                <a16:creationId xmlns:a16="http://schemas.microsoft.com/office/drawing/2014/main" id="{A4EB8693-B9C6-4A29-B09C-78D6482F72BC}"/>
              </a:ext>
            </a:extLst>
          </p:cNvPr>
          <p:cNvSpPr>
            <a:spLocks noGrp="1"/>
          </p:cNvSpPr>
          <p:nvPr/>
        </p:nvSpPr>
        <p:spPr>
          <a:xfrm>
            <a:off x="2162175" y="3124200"/>
            <a:ext cx="9525" cy="5143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8" name="model-table-cell-2-1">
            <a:extLst>
              <a:ext uri="{FF2B5EF4-FFF2-40B4-BE49-F238E27FC236}">
                <a16:creationId xmlns:a16="http://schemas.microsoft.com/office/drawing/2014/main" id="{ECE40A3C-4C8C-4466-9131-0E888403D0B8}"/>
              </a:ext>
            </a:extLst>
          </p:cNvPr>
          <p:cNvSpPr>
            <a:spLocks noGrp="1"/>
          </p:cNvSpPr>
          <p:nvPr/>
        </p:nvSpPr>
        <p:spPr>
          <a:xfrm>
            <a:off x="2257425" y="3190875"/>
            <a:ext cx="13049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9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Linear</a:t>
            </a:r>
          </a:p>
        </p:txBody>
      </p:sp>
      <p:sp>
        <p:nvSpPr>
          <p:cNvPr id="29" name="model-table-vline-2-2">
            <a:extLst>
              <a:ext uri="{FF2B5EF4-FFF2-40B4-BE49-F238E27FC236}">
                <a16:creationId xmlns:a16="http://schemas.microsoft.com/office/drawing/2014/main" id="{E71D8AAD-B326-40BB-A01F-A8453E2A78CB}"/>
              </a:ext>
            </a:extLst>
          </p:cNvPr>
          <p:cNvSpPr>
            <a:spLocks noGrp="1"/>
          </p:cNvSpPr>
          <p:nvPr/>
        </p:nvSpPr>
        <p:spPr>
          <a:xfrm>
            <a:off x="3638550" y="3124200"/>
            <a:ext cx="9525" cy="5143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0" name="model-table-cell-2-2">
            <a:extLst>
              <a:ext uri="{FF2B5EF4-FFF2-40B4-BE49-F238E27FC236}">
                <a16:creationId xmlns:a16="http://schemas.microsoft.com/office/drawing/2014/main" id="{E7D6E8C6-9A69-4536-A646-6210900DED15}"/>
              </a:ext>
            </a:extLst>
          </p:cNvPr>
          <p:cNvSpPr>
            <a:spLocks noGrp="1"/>
          </p:cNvSpPr>
          <p:nvPr/>
        </p:nvSpPr>
        <p:spPr>
          <a:xfrm>
            <a:off x="3733800" y="3190875"/>
            <a:ext cx="201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9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pysurvival</a:t>
            </a:r>
          </a:p>
        </p:txBody>
      </p:sp>
      <p:sp>
        <p:nvSpPr>
          <p:cNvPr id="31" name="model-table-vline-2-3">
            <a:extLst>
              <a:ext uri="{FF2B5EF4-FFF2-40B4-BE49-F238E27FC236}">
                <a16:creationId xmlns:a16="http://schemas.microsoft.com/office/drawing/2014/main" id="{44B8929C-000B-4D07-AC95-B5E3E832410D}"/>
              </a:ext>
            </a:extLst>
          </p:cNvPr>
          <p:cNvSpPr>
            <a:spLocks noGrp="1"/>
          </p:cNvSpPr>
          <p:nvPr/>
        </p:nvSpPr>
        <p:spPr>
          <a:xfrm>
            <a:off x="5829300" y="3124200"/>
            <a:ext cx="9525" cy="5143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2" name="model-table-cell-2-3">
            <a:extLst>
              <a:ext uri="{FF2B5EF4-FFF2-40B4-BE49-F238E27FC236}">
                <a16:creationId xmlns:a16="http://schemas.microsoft.com/office/drawing/2014/main" id="{6FADF6BB-CF9C-4317-A8F2-0DCB54FA16E8}"/>
              </a:ext>
            </a:extLst>
          </p:cNvPr>
          <p:cNvSpPr>
            <a:spLocks noGrp="1"/>
          </p:cNvSpPr>
          <p:nvPr/>
        </p:nvSpPr>
        <p:spPr>
          <a:xfrm>
            <a:off x="5924550" y="3190875"/>
            <a:ext cx="49244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9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Linear multi-task logistic regression for discrete-time survival prediction</a:t>
            </a:r>
          </a:p>
        </p:txBody>
      </p:sp>
      <p:sp>
        <p:nvSpPr>
          <p:cNvPr id="33" name="model-table-hline-3">
            <a:extLst>
              <a:ext uri="{FF2B5EF4-FFF2-40B4-BE49-F238E27FC236}">
                <a16:creationId xmlns:a16="http://schemas.microsoft.com/office/drawing/2014/main" id="{700B9311-D8FF-441B-9E6F-5BC7838CAB19}"/>
              </a:ext>
            </a:extLst>
          </p:cNvPr>
          <p:cNvSpPr>
            <a:spLocks noGrp="1"/>
          </p:cNvSpPr>
          <p:nvPr/>
        </p:nvSpPr>
        <p:spPr>
          <a:xfrm>
            <a:off x="781050" y="4152900"/>
            <a:ext cx="10144125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4" name="model-table-cell-3-0">
            <a:extLst>
              <a:ext uri="{FF2B5EF4-FFF2-40B4-BE49-F238E27FC236}">
                <a16:creationId xmlns:a16="http://schemas.microsoft.com/office/drawing/2014/main" id="{5191442D-25F7-43C0-BA27-372254F8E5FC}"/>
              </a:ext>
            </a:extLst>
          </p:cNvPr>
          <p:cNvSpPr>
            <a:spLocks noGrp="1"/>
          </p:cNvSpPr>
          <p:nvPr/>
        </p:nvSpPr>
        <p:spPr>
          <a:xfrm>
            <a:off x="876300" y="3705225"/>
            <a:ext cx="12096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90" b="1">
                <a:solidFill>
                  <a:srgbClr val="0B2F3F"/>
                </a:solidFill>
              </a:defRPr>
            </a:pPr>
            <a:r>
              <a:rPr sz="1200" b="1">
                <a:solidFill>
                  <a:srgbClr val="0B2F3F"/>
                </a:solidFill>
              </a:rPr>
              <a:t>DeepSurv</a:t>
            </a:r>
          </a:p>
        </p:txBody>
      </p:sp>
      <p:sp>
        <p:nvSpPr>
          <p:cNvPr id="35" name="model-table-vline-3-1">
            <a:extLst>
              <a:ext uri="{FF2B5EF4-FFF2-40B4-BE49-F238E27FC236}">
                <a16:creationId xmlns:a16="http://schemas.microsoft.com/office/drawing/2014/main" id="{EA8FB142-8DA6-4A25-BA73-F4FAB3E32384}"/>
              </a:ext>
            </a:extLst>
          </p:cNvPr>
          <p:cNvSpPr>
            <a:spLocks noGrp="1"/>
          </p:cNvSpPr>
          <p:nvPr/>
        </p:nvSpPr>
        <p:spPr>
          <a:xfrm>
            <a:off x="2162175" y="3638550"/>
            <a:ext cx="9525" cy="5143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6" name="model-table-cell-3-1">
            <a:extLst>
              <a:ext uri="{FF2B5EF4-FFF2-40B4-BE49-F238E27FC236}">
                <a16:creationId xmlns:a16="http://schemas.microsoft.com/office/drawing/2014/main" id="{F4E09FBA-4D66-4F5F-B2FA-AF915B9173B0}"/>
              </a:ext>
            </a:extLst>
          </p:cNvPr>
          <p:cNvSpPr>
            <a:spLocks noGrp="1"/>
          </p:cNvSpPr>
          <p:nvPr/>
        </p:nvSpPr>
        <p:spPr>
          <a:xfrm>
            <a:off x="2257425" y="3705225"/>
            <a:ext cx="13049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9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Deep</a:t>
            </a:r>
          </a:p>
        </p:txBody>
      </p:sp>
      <p:sp>
        <p:nvSpPr>
          <p:cNvPr id="37" name="model-table-vline-3-2">
            <a:extLst>
              <a:ext uri="{FF2B5EF4-FFF2-40B4-BE49-F238E27FC236}">
                <a16:creationId xmlns:a16="http://schemas.microsoft.com/office/drawing/2014/main" id="{C252D9DA-C561-4CFB-B365-BE5CF00858D2}"/>
              </a:ext>
            </a:extLst>
          </p:cNvPr>
          <p:cNvSpPr>
            <a:spLocks noGrp="1"/>
          </p:cNvSpPr>
          <p:nvPr/>
        </p:nvSpPr>
        <p:spPr>
          <a:xfrm>
            <a:off x="3638550" y="3638550"/>
            <a:ext cx="9525" cy="5143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8" name="model-table-cell-3-2">
            <a:extLst>
              <a:ext uri="{FF2B5EF4-FFF2-40B4-BE49-F238E27FC236}">
                <a16:creationId xmlns:a16="http://schemas.microsoft.com/office/drawing/2014/main" id="{37B64A2E-0792-4DE1-A97C-3D2795FC0A46}"/>
              </a:ext>
            </a:extLst>
          </p:cNvPr>
          <p:cNvSpPr>
            <a:spLocks noGrp="1"/>
          </p:cNvSpPr>
          <p:nvPr/>
        </p:nvSpPr>
        <p:spPr>
          <a:xfrm>
            <a:off x="3733800" y="3705225"/>
            <a:ext cx="201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9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pycox</a:t>
            </a:r>
          </a:p>
        </p:txBody>
      </p:sp>
      <p:sp>
        <p:nvSpPr>
          <p:cNvPr id="39" name="model-table-vline-3-3">
            <a:extLst>
              <a:ext uri="{FF2B5EF4-FFF2-40B4-BE49-F238E27FC236}">
                <a16:creationId xmlns:a16="http://schemas.microsoft.com/office/drawing/2014/main" id="{00607F47-3B1F-4E95-BD51-415019B57A41}"/>
              </a:ext>
            </a:extLst>
          </p:cNvPr>
          <p:cNvSpPr>
            <a:spLocks noGrp="1"/>
          </p:cNvSpPr>
          <p:nvPr/>
        </p:nvSpPr>
        <p:spPr>
          <a:xfrm>
            <a:off x="5829300" y="3638550"/>
            <a:ext cx="9525" cy="5143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0" name="model-table-cell-3-3">
            <a:extLst>
              <a:ext uri="{FF2B5EF4-FFF2-40B4-BE49-F238E27FC236}">
                <a16:creationId xmlns:a16="http://schemas.microsoft.com/office/drawing/2014/main" id="{96806A3E-903A-469D-9C1A-D0FFB6F12932}"/>
              </a:ext>
            </a:extLst>
          </p:cNvPr>
          <p:cNvSpPr>
            <a:spLocks noGrp="1"/>
          </p:cNvSpPr>
          <p:nvPr/>
        </p:nvSpPr>
        <p:spPr>
          <a:xfrm>
            <a:off x="5924550" y="3705225"/>
            <a:ext cx="49244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9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Neural-network extension of CoxPH for nonlinear risk functions</a:t>
            </a:r>
          </a:p>
        </p:txBody>
      </p:sp>
      <p:sp>
        <p:nvSpPr>
          <p:cNvPr id="41" name="model-table-stripe-4">
            <a:extLst>
              <a:ext uri="{FF2B5EF4-FFF2-40B4-BE49-F238E27FC236}">
                <a16:creationId xmlns:a16="http://schemas.microsoft.com/office/drawing/2014/main" id="{2591B963-8BED-40AA-A5F3-17F226627B87}"/>
              </a:ext>
            </a:extLst>
          </p:cNvPr>
          <p:cNvSpPr>
            <a:spLocks noGrp="1"/>
          </p:cNvSpPr>
          <p:nvPr/>
        </p:nvSpPr>
        <p:spPr>
          <a:xfrm>
            <a:off x="781050" y="4152900"/>
            <a:ext cx="10144125" cy="514350"/>
          </a:xfrm>
          <a:prstGeom prst="rect">
            <a:avLst/>
          </a:prstGeom>
          <a:solidFill>
            <a:srgbClr val="F1F6F8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2" name="model-table-hline-4">
            <a:extLst>
              <a:ext uri="{FF2B5EF4-FFF2-40B4-BE49-F238E27FC236}">
                <a16:creationId xmlns:a16="http://schemas.microsoft.com/office/drawing/2014/main" id="{C3408730-800D-43A6-9CF5-88592F775E67}"/>
              </a:ext>
            </a:extLst>
          </p:cNvPr>
          <p:cNvSpPr>
            <a:spLocks noGrp="1"/>
          </p:cNvSpPr>
          <p:nvPr/>
        </p:nvSpPr>
        <p:spPr>
          <a:xfrm>
            <a:off x="781050" y="4667250"/>
            <a:ext cx="10144125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3" name="model-table-cell-4-0">
            <a:extLst>
              <a:ext uri="{FF2B5EF4-FFF2-40B4-BE49-F238E27FC236}">
                <a16:creationId xmlns:a16="http://schemas.microsoft.com/office/drawing/2014/main" id="{850AD11F-21B6-48B9-A49E-1A278A542AF8}"/>
              </a:ext>
            </a:extLst>
          </p:cNvPr>
          <p:cNvSpPr>
            <a:spLocks noGrp="1"/>
          </p:cNvSpPr>
          <p:nvPr/>
        </p:nvSpPr>
        <p:spPr>
          <a:xfrm>
            <a:off x="876300" y="4219575"/>
            <a:ext cx="12096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90" b="1">
                <a:solidFill>
                  <a:srgbClr val="0B2F3F"/>
                </a:solidFill>
              </a:defRPr>
            </a:pPr>
            <a:r>
              <a:rPr sz="1200" b="1">
                <a:solidFill>
                  <a:srgbClr val="0B2F3F"/>
                </a:solidFill>
              </a:rPr>
              <a:t>N-MTLR</a:t>
            </a:r>
          </a:p>
        </p:txBody>
      </p:sp>
      <p:sp>
        <p:nvSpPr>
          <p:cNvPr id="44" name="model-table-vline-4-1">
            <a:extLst>
              <a:ext uri="{FF2B5EF4-FFF2-40B4-BE49-F238E27FC236}">
                <a16:creationId xmlns:a16="http://schemas.microsoft.com/office/drawing/2014/main" id="{C839B4D9-DD8E-45C1-B73E-C4BE7170DE90}"/>
              </a:ext>
            </a:extLst>
          </p:cNvPr>
          <p:cNvSpPr>
            <a:spLocks noGrp="1"/>
          </p:cNvSpPr>
          <p:nvPr/>
        </p:nvSpPr>
        <p:spPr>
          <a:xfrm>
            <a:off x="2162175" y="4152900"/>
            <a:ext cx="9525" cy="5143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5" name="model-table-cell-4-1">
            <a:extLst>
              <a:ext uri="{FF2B5EF4-FFF2-40B4-BE49-F238E27FC236}">
                <a16:creationId xmlns:a16="http://schemas.microsoft.com/office/drawing/2014/main" id="{6B4CC988-81FF-4093-BC59-8C736A771FD5}"/>
              </a:ext>
            </a:extLst>
          </p:cNvPr>
          <p:cNvSpPr>
            <a:spLocks noGrp="1"/>
          </p:cNvSpPr>
          <p:nvPr/>
        </p:nvSpPr>
        <p:spPr>
          <a:xfrm>
            <a:off x="2257425" y="4219575"/>
            <a:ext cx="13049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9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Deep</a:t>
            </a:r>
          </a:p>
        </p:txBody>
      </p:sp>
      <p:sp>
        <p:nvSpPr>
          <p:cNvPr id="46" name="model-table-vline-4-2">
            <a:extLst>
              <a:ext uri="{FF2B5EF4-FFF2-40B4-BE49-F238E27FC236}">
                <a16:creationId xmlns:a16="http://schemas.microsoft.com/office/drawing/2014/main" id="{9FCF3FAA-CFB1-4265-ACBC-416529004217}"/>
              </a:ext>
            </a:extLst>
          </p:cNvPr>
          <p:cNvSpPr>
            <a:spLocks noGrp="1"/>
          </p:cNvSpPr>
          <p:nvPr/>
        </p:nvSpPr>
        <p:spPr>
          <a:xfrm>
            <a:off x="3638550" y="4152900"/>
            <a:ext cx="9525" cy="5143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7" name="model-table-cell-4-2">
            <a:extLst>
              <a:ext uri="{FF2B5EF4-FFF2-40B4-BE49-F238E27FC236}">
                <a16:creationId xmlns:a16="http://schemas.microsoft.com/office/drawing/2014/main" id="{B11096FC-929A-4150-B1C3-0B65CA406255}"/>
              </a:ext>
            </a:extLst>
          </p:cNvPr>
          <p:cNvSpPr>
            <a:spLocks noGrp="1"/>
          </p:cNvSpPr>
          <p:nvPr/>
        </p:nvSpPr>
        <p:spPr>
          <a:xfrm>
            <a:off x="3733800" y="4219575"/>
            <a:ext cx="201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9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pycox</a:t>
            </a:r>
          </a:p>
        </p:txBody>
      </p:sp>
      <p:sp>
        <p:nvSpPr>
          <p:cNvPr id="48" name="model-table-vline-4-3">
            <a:extLst>
              <a:ext uri="{FF2B5EF4-FFF2-40B4-BE49-F238E27FC236}">
                <a16:creationId xmlns:a16="http://schemas.microsoft.com/office/drawing/2014/main" id="{2D7E85BF-001A-439D-8FD6-DE24E139BA78}"/>
              </a:ext>
            </a:extLst>
          </p:cNvPr>
          <p:cNvSpPr>
            <a:spLocks noGrp="1"/>
          </p:cNvSpPr>
          <p:nvPr/>
        </p:nvSpPr>
        <p:spPr>
          <a:xfrm>
            <a:off x="5829300" y="4152900"/>
            <a:ext cx="9525" cy="5143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9" name="model-table-cell-4-3">
            <a:extLst>
              <a:ext uri="{FF2B5EF4-FFF2-40B4-BE49-F238E27FC236}">
                <a16:creationId xmlns:a16="http://schemas.microsoft.com/office/drawing/2014/main" id="{1971CA21-7791-4BFA-8C18-DB534D724540}"/>
              </a:ext>
            </a:extLst>
          </p:cNvPr>
          <p:cNvSpPr>
            <a:spLocks noGrp="1"/>
          </p:cNvSpPr>
          <p:nvPr/>
        </p:nvSpPr>
        <p:spPr>
          <a:xfrm>
            <a:off x="5924550" y="4219575"/>
            <a:ext cx="49244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9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Neural-network multi-task logistic regression for flexible survival distributions</a:t>
            </a:r>
          </a:p>
        </p:txBody>
      </p:sp>
      <p:sp>
        <p:nvSpPr>
          <p:cNvPr id="50" name="model-table-hline-5">
            <a:extLst>
              <a:ext uri="{FF2B5EF4-FFF2-40B4-BE49-F238E27FC236}">
                <a16:creationId xmlns:a16="http://schemas.microsoft.com/office/drawing/2014/main" id="{1869B2CD-B53A-47A4-80A8-3F6300E884AC}"/>
              </a:ext>
            </a:extLst>
          </p:cNvPr>
          <p:cNvSpPr>
            <a:spLocks noGrp="1"/>
          </p:cNvSpPr>
          <p:nvPr/>
        </p:nvSpPr>
        <p:spPr>
          <a:xfrm>
            <a:off x="781050" y="5181600"/>
            <a:ext cx="10144125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51" name="model-table-cell-5-0">
            <a:extLst>
              <a:ext uri="{FF2B5EF4-FFF2-40B4-BE49-F238E27FC236}">
                <a16:creationId xmlns:a16="http://schemas.microsoft.com/office/drawing/2014/main" id="{A34881BD-08AB-4FFB-813D-51E02B735706}"/>
              </a:ext>
            </a:extLst>
          </p:cNvPr>
          <p:cNvSpPr>
            <a:spLocks noGrp="1"/>
          </p:cNvSpPr>
          <p:nvPr/>
        </p:nvSpPr>
        <p:spPr>
          <a:xfrm>
            <a:off x="876300" y="4733925"/>
            <a:ext cx="12096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90" b="1">
                <a:solidFill>
                  <a:srgbClr val="0B2F3F"/>
                </a:solidFill>
              </a:defRPr>
            </a:pPr>
            <a:r>
              <a:rPr sz="1200" b="1">
                <a:solidFill>
                  <a:srgbClr val="0B2F3F"/>
                </a:solidFill>
              </a:rPr>
              <a:t>PC Hazard</a:t>
            </a:r>
          </a:p>
        </p:txBody>
      </p:sp>
      <p:sp>
        <p:nvSpPr>
          <p:cNvPr id="52" name="model-table-vline-5-1">
            <a:extLst>
              <a:ext uri="{FF2B5EF4-FFF2-40B4-BE49-F238E27FC236}">
                <a16:creationId xmlns:a16="http://schemas.microsoft.com/office/drawing/2014/main" id="{B27829BF-4F56-4F43-9C79-E2322F6309C1}"/>
              </a:ext>
            </a:extLst>
          </p:cNvPr>
          <p:cNvSpPr>
            <a:spLocks noGrp="1"/>
          </p:cNvSpPr>
          <p:nvPr/>
        </p:nvSpPr>
        <p:spPr>
          <a:xfrm>
            <a:off x="2162175" y="4667250"/>
            <a:ext cx="9525" cy="5143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53" name="model-table-cell-5-1">
            <a:extLst>
              <a:ext uri="{FF2B5EF4-FFF2-40B4-BE49-F238E27FC236}">
                <a16:creationId xmlns:a16="http://schemas.microsoft.com/office/drawing/2014/main" id="{A5B3EDE4-3F9D-4ED0-993D-510E79D6A1CE}"/>
              </a:ext>
            </a:extLst>
          </p:cNvPr>
          <p:cNvSpPr>
            <a:spLocks noGrp="1"/>
          </p:cNvSpPr>
          <p:nvPr/>
        </p:nvSpPr>
        <p:spPr>
          <a:xfrm>
            <a:off x="2257425" y="4733925"/>
            <a:ext cx="13049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9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Deep</a:t>
            </a:r>
          </a:p>
        </p:txBody>
      </p:sp>
      <p:sp>
        <p:nvSpPr>
          <p:cNvPr id="54" name="model-table-vline-5-2">
            <a:extLst>
              <a:ext uri="{FF2B5EF4-FFF2-40B4-BE49-F238E27FC236}">
                <a16:creationId xmlns:a16="http://schemas.microsoft.com/office/drawing/2014/main" id="{A46DCE55-2E0D-4018-BAD6-F7EAF4DF6A23}"/>
              </a:ext>
            </a:extLst>
          </p:cNvPr>
          <p:cNvSpPr>
            <a:spLocks noGrp="1"/>
          </p:cNvSpPr>
          <p:nvPr/>
        </p:nvSpPr>
        <p:spPr>
          <a:xfrm>
            <a:off x="3638550" y="4667250"/>
            <a:ext cx="9525" cy="5143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55" name="model-table-cell-5-2">
            <a:extLst>
              <a:ext uri="{FF2B5EF4-FFF2-40B4-BE49-F238E27FC236}">
                <a16:creationId xmlns:a16="http://schemas.microsoft.com/office/drawing/2014/main" id="{3B3A5A0A-EB10-43A7-9AEE-30107FA4B25B}"/>
              </a:ext>
            </a:extLst>
          </p:cNvPr>
          <p:cNvSpPr>
            <a:spLocks noGrp="1"/>
          </p:cNvSpPr>
          <p:nvPr/>
        </p:nvSpPr>
        <p:spPr>
          <a:xfrm>
            <a:off x="3733800" y="4733925"/>
            <a:ext cx="201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9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pycox</a:t>
            </a:r>
          </a:p>
        </p:txBody>
      </p:sp>
      <p:sp>
        <p:nvSpPr>
          <p:cNvPr id="56" name="model-table-vline-5-3">
            <a:extLst>
              <a:ext uri="{FF2B5EF4-FFF2-40B4-BE49-F238E27FC236}">
                <a16:creationId xmlns:a16="http://schemas.microsoft.com/office/drawing/2014/main" id="{76AA9BFB-7B12-4473-9736-F67F6E280A57}"/>
              </a:ext>
            </a:extLst>
          </p:cNvPr>
          <p:cNvSpPr>
            <a:spLocks noGrp="1"/>
          </p:cNvSpPr>
          <p:nvPr/>
        </p:nvSpPr>
        <p:spPr>
          <a:xfrm>
            <a:off x="5829300" y="4667250"/>
            <a:ext cx="9525" cy="5143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57" name="model-table-cell-5-3">
            <a:extLst>
              <a:ext uri="{FF2B5EF4-FFF2-40B4-BE49-F238E27FC236}">
                <a16:creationId xmlns:a16="http://schemas.microsoft.com/office/drawing/2014/main" id="{5C137326-AA78-4BC3-9332-BFDA2EE06C19}"/>
              </a:ext>
            </a:extLst>
          </p:cNvPr>
          <p:cNvSpPr>
            <a:spLocks noGrp="1"/>
          </p:cNvSpPr>
          <p:nvPr/>
        </p:nvSpPr>
        <p:spPr>
          <a:xfrm>
            <a:off x="5924550" y="4733925"/>
            <a:ext cx="49244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9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Neural model with piecewise constant hazard over time intervals</a:t>
            </a:r>
          </a:p>
        </p:txBody>
      </p:sp>
      <p:sp>
        <p:nvSpPr>
          <p:cNvPr id="58" name="model-comparison-note">
            <a:extLst>
              <a:ext uri="{FF2B5EF4-FFF2-40B4-BE49-F238E27FC236}">
                <a16:creationId xmlns:a16="http://schemas.microsoft.com/office/drawing/2014/main" id="{B3D9D1AC-FD74-4393-873D-451A0B6C858F}"/>
              </a:ext>
            </a:extLst>
          </p:cNvPr>
          <p:cNvSpPr>
            <a:spLocks noGrp="1"/>
          </p:cNvSpPr>
          <p:nvPr/>
        </p:nvSpPr>
        <p:spPr>
          <a:xfrm>
            <a:off x="876300" y="5295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1350" b="1">
                <a:solidFill>
                  <a:srgbClr val="0B2F3F"/>
                </a:solidFill>
              </a:defRPr>
            </a:pPr>
            <a:r>
              <a:rPr sz="1350" b="1">
                <a:solidFill>
                  <a:srgbClr val="0B2F3F"/>
                </a:solidFill>
              </a:rPr>
              <a:t>The comparison is not only deep vs linear; it also tests different survival-objective formulations.</a:t>
            </a:r>
          </a:p>
        </p:txBody>
      </p:sp>
      <p:sp>
        <p:nvSpPr>
          <p:cNvPr id="59" name="takeaway-band">
            <a:extLst>
              <a:ext uri="{FF2B5EF4-FFF2-40B4-BE49-F238E27FC236}">
                <a16:creationId xmlns:a16="http://schemas.microsoft.com/office/drawing/2014/main" id="{EEFFF872-B7F8-4636-9E7B-0453F98CC775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820400" cy="55245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0" name="takeaway-label">
            <a:extLst>
              <a:ext uri="{FF2B5EF4-FFF2-40B4-BE49-F238E27FC236}">
                <a16:creationId xmlns:a16="http://schemas.microsoft.com/office/drawing/2014/main" id="{3AAA407F-6661-40E2-BB67-39875EBD4263}"/>
              </a:ext>
            </a:extLst>
          </p:cNvPr>
          <p:cNvSpPr>
            <a:spLocks noGrp="1"/>
          </p:cNvSpPr>
          <p:nvPr/>
        </p:nvSpPr>
        <p:spPr>
          <a:xfrm>
            <a:off x="952500" y="5953125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050" b="1">
                <a:solidFill>
                  <a:srgbClr val="C7E8F2"/>
                </a:solidFill>
              </a:defRPr>
            </a:pPr>
            <a:r>
              <a:rPr sz="1050" b="1">
                <a:solidFill>
                  <a:srgbClr val="C7E8F2"/>
                </a:solidFill>
              </a:rPr>
              <a:t>RQ2 setup</a:t>
            </a:r>
          </a:p>
        </p:txBody>
      </p:sp>
      <p:sp>
        <p:nvSpPr>
          <p:cNvPr id="61" name="takeaway-text">
            <a:extLst>
              <a:ext uri="{FF2B5EF4-FFF2-40B4-BE49-F238E27FC236}">
                <a16:creationId xmlns:a16="http://schemas.microsoft.com/office/drawing/2014/main" id="{077F3DBB-8630-460E-AC5A-0EC5481F0B86}"/>
              </a:ext>
            </a:extLst>
          </p:cNvPr>
          <p:cNvSpPr>
            <a:spLocks noGrp="1"/>
          </p:cNvSpPr>
          <p:nvPr/>
        </p:nvSpPr>
        <p:spPr>
          <a:xfrm>
            <a:off x="952500" y="6143625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Model choice is evaluated under the same endpoints, feature sets, and test metric.</a:t>
            </a:r>
          </a:p>
        </p:txBody>
      </p:sp>
      <p:sp>
        <p:nvSpPr>
          <p:cNvPr id="62" name="footer">
            <a:extLst>
              <a:ext uri="{FF2B5EF4-FFF2-40B4-BE49-F238E27FC236}">
                <a16:creationId xmlns:a16="http://schemas.microsoft.com/office/drawing/2014/main" id="{D0511716-D740-4404-A78D-59C0C4281AAB}"/>
              </a:ext>
            </a:extLst>
          </p:cNvPr>
          <p:cNvSpPr>
            <a:spLocks noGrp="1"/>
          </p:cNvSpPr>
          <p:nvPr/>
        </p:nvSpPr>
        <p:spPr>
          <a:xfrm>
            <a:off x="8858250" y="65722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r">
              <a:buNone/>
              <a:defRPr sz="750">
                <a:solidFill>
                  <a:srgbClr val="7A8D97"/>
                </a:solidFill>
              </a:defRPr>
            </a:pPr>
            <a:r>
              <a:rPr sz="750">
                <a:solidFill>
                  <a:srgbClr val="7A8D97"/>
                </a:solidFill>
              </a:rPr>
              <a:t>Machine Learning-Based Survival Prediction of Outcomes in MDS</a:t>
            </a:r>
          </a:p>
        </p:txBody>
      </p:sp>
      <p:sp>
        <p:nvSpPr>
          <p:cNvPr id="63" name="source-line-10">
            <a:extLst>
              <a:ext uri="{FF2B5EF4-FFF2-40B4-BE49-F238E27FC236}">
                <a16:creationId xmlns:a16="http://schemas.microsoft.com/office/drawing/2014/main" id="{26AF200D-E8C4-494D-AA81-48A4B87EE9A7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42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defRPr sz="788">
                <a:solidFill>
                  <a:srgbClr val="7A8D97"/>
                </a:solidFill>
              </a:defRPr>
            </a:pPr>
            <a:r>
              <a:rPr sz="788">
                <a:solidFill>
                  <a:srgbClr val="7A8D97"/>
                </a:solidFill>
              </a:rPr>
              <a:t>Sources: [3], [4], [8], [9], [10], [12], [14], [16]</a:t>
            </a:r>
          </a:p>
        </p:txBody>
      </p:sp>
    </p:spTree>
    <p:extLst>
      <p:ext uri="{BB962C8B-B14F-4D97-AF65-F5344CB8AC3E}">
        <p14:creationId xmlns:p14="http://schemas.microsoft.com/office/powerpoint/2010/main" val="946737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left-accent-bar">
            <a:extLst>
              <a:ext uri="{FF2B5EF4-FFF2-40B4-BE49-F238E27FC236}">
                <a16:creationId xmlns:a16="http://schemas.microsoft.com/office/drawing/2014/main" id="{491E4018-5778-4CD8-A326-8F096DC642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op-rule">
            <a:extLst>
              <a:ext uri="{FF2B5EF4-FFF2-40B4-BE49-F238E27FC236}">
                <a16:creationId xmlns:a16="http://schemas.microsoft.com/office/drawing/2014/main" id="{62351DE8-3687-440B-B19A-ABF903421EA0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19050"/>
          </a:xfrm>
          <a:prstGeom prst="rect">
            <a:avLst/>
          </a:prstGeom>
          <a:solidFill>
            <a:srgbClr val="DDE8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68709C0E-D707-4D31-9CA0-68BCC8932983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200" b="1">
                <a:solidFill>
                  <a:srgbClr val="0B4D63"/>
                </a:solidFill>
              </a:defRPr>
            </a:pPr>
            <a:r>
              <a:rPr sz="1200" b="1">
                <a:solidFill>
                  <a:srgbClr val="0B4D63"/>
                </a:solidFill>
              </a:rPr>
              <a:t>EVALUATION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7CBD1CDD-E77E-4125-AD07-DFED765C2BC0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2925" b="1">
                <a:solidFill>
                  <a:srgbClr val="0B2F3F"/>
                </a:solidFill>
              </a:defRPr>
            </a:pPr>
            <a:r>
              <a:rPr sz="2925" b="1">
                <a:solidFill>
                  <a:srgbClr val="0B2F3F"/>
                </a:solidFill>
              </a:rPr>
              <a:t>Training, Tuning, and Test Evaluation</a:t>
            </a:r>
          </a:p>
        </p:txBody>
      </p:sp>
      <p:sp>
        <p:nvSpPr>
          <p:cNvPr id="5" name="setup-line">
            <a:extLst>
              <a:ext uri="{FF2B5EF4-FFF2-40B4-BE49-F238E27FC236}">
                <a16:creationId xmlns:a16="http://schemas.microsoft.com/office/drawing/2014/main" id="{34BB4E1E-1AA7-4468-ABE2-5F153C504FB5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144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1650">
                <a:solidFill>
                  <a:srgbClr val="2F4653"/>
                </a:solidFill>
              </a:defRPr>
            </a:pPr>
            <a:r>
              <a:rPr sz="1650">
                <a:solidFill>
                  <a:srgbClr val="2F4653"/>
                </a:solidFill>
              </a:rPr>
              <a:t>The evaluation uses held-out test C-index after validation-based hyperparameter tuning.</a:t>
            </a:r>
          </a:p>
        </p:txBody>
      </p:sp>
      <p:sp>
        <p:nvSpPr>
          <p:cNvPr id="6" name="section-rule-Data split">
            <a:extLst>
              <a:ext uri="{FF2B5EF4-FFF2-40B4-BE49-F238E27FC236}">
                <a16:creationId xmlns:a16="http://schemas.microsoft.com/office/drawing/2014/main" id="{5E8B1A32-C6F5-49BD-88E5-2C0C7B016500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2571750" cy="20955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ection-title-Data split">
            <a:extLst>
              <a:ext uri="{FF2B5EF4-FFF2-40B4-BE49-F238E27FC236}">
                <a16:creationId xmlns:a16="http://schemas.microsoft.com/office/drawing/2014/main" id="{18139E34-2D51-47A3-9975-724AFCBA88F4}"/>
              </a:ext>
            </a:extLst>
          </p:cNvPr>
          <p:cNvSpPr>
            <a:spLocks noGrp="1"/>
          </p:cNvSpPr>
          <p:nvPr/>
        </p:nvSpPr>
        <p:spPr>
          <a:xfrm>
            <a:off x="876300" y="23622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125" b="1">
                <a:solidFill>
                  <a:srgbClr val="0B4D63"/>
                </a:solidFill>
              </a:defRPr>
            </a:pPr>
            <a:r>
              <a:rPr sz="1125" b="1">
                <a:solidFill>
                  <a:srgbClr val="0B4D63"/>
                </a:solidFill>
              </a:rPr>
              <a:t>DATA SPLIT</a:t>
            </a:r>
          </a:p>
        </p:txBody>
      </p:sp>
      <p:sp>
        <p:nvSpPr>
          <p:cNvPr id="8" name="split-text">
            <a:extLst>
              <a:ext uri="{FF2B5EF4-FFF2-40B4-BE49-F238E27FC236}">
                <a16:creationId xmlns:a16="http://schemas.microsoft.com/office/drawing/2014/main" id="{975239F8-B8F0-493D-8469-E8A8577A6A60}"/>
              </a:ext>
            </a:extLst>
          </p:cNvPr>
          <p:cNvSpPr>
            <a:spLocks noGrp="1"/>
          </p:cNvSpPr>
          <p:nvPr/>
        </p:nvSpPr>
        <p:spPr>
          <a:xfrm>
            <a:off x="876300" y="2781300"/>
            <a:ext cx="2381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950" b="1">
                <a:solidFill>
                  <a:srgbClr val="0B2F3F"/>
                </a:solidFill>
              </a:defRPr>
            </a:pPr>
            <a:r>
              <a:rPr sz="1950" b="1">
                <a:solidFill>
                  <a:srgbClr val="0B2F3F"/>
                </a:solidFill>
              </a:rPr>
              <a:t>60% train</a:t>
            </a:r>
          </a:p>
          <a:p>
            <a:pPr algn="l">
              <a:buNone/>
              <a:defRPr sz="1950" b="1">
                <a:solidFill>
                  <a:srgbClr val="0B2F3F"/>
                </a:solidFill>
              </a:defRPr>
            </a:pPr>
            <a:r>
              <a:rPr sz="1950" b="1">
                <a:solidFill>
                  <a:srgbClr val="0B2F3F"/>
                </a:solidFill>
              </a:rPr>
              <a:t>20% validation</a:t>
            </a:r>
          </a:p>
          <a:p>
            <a:pPr algn="l">
              <a:buNone/>
              <a:defRPr sz="1950" b="1">
                <a:solidFill>
                  <a:srgbClr val="0B2F3F"/>
                </a:solidFill>
              </a:defRPr>
            </a:pPr>
            <a:r>
              <a:rPr sz="1950" b="1">
                <a:solidFill>
                  <a:srgbClr val="0B2F3F"/>
                </a:solidFill>
              </a:rPr>
              <a:t>20% test</a:t>
            </a:r>
          </a:p>
        </p:txBody>
      </p:sp>
      <p:sp>
        <p:nvSpPr>
          <p:cNvPr id="9" name="split-body">
            <a:extLst>
              <a:ext uri="{FF2B5EF4-FFF2-40B4-BE49-F238E27FC236}">
                <a16:creationId xmlns:a16="http://schemas.microsoft.com/office/drawing/2014/main" id="{C9ABB300-4451-4861-A301-61E91FD99BB0}"/>
              </a:ext>
            </a:extLst>
          </p:cNvPr>
          <p:cNvSpPr>
            <a:spLocks noGrp="1"/>
          </p:cNvSpPr>
          <p:nvPr/>
        </p:nvSpPr>
        <p:spPr>
          <a:xfrm>
            <a:off x="876300" y="3857625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200">
                <a:solidFill>
                  <a:srgbClr val="314B59"/>
                </a:solidFill>
              </a:defRPr>
            </a:pPr>
            <a:r>
              <a:rPr sz="1200" dirty="0">
                <a:solidFill>
                  <a:srgbClr val="314B59"/>
                </a:solidFill>
              </a:rPr>
              <a:t>Validation data select hyperparameters; final models retrain on train plus validation before test evaluation.</a:t>
            </a:r>
          </a:p>
        </p:txBody>
      </p:sp>
      <p:sp>
        <p:nvSpPr>
          <p:cNvPr id="10" name="section-rule-Hyperparameter search">
            <a:extLst>
              <a:ext uri="{FF2B5EF4-FFF2-40B4-BE49-F238E27FC236}">
                <a16:creationId xmlns:a16="http://schemas.microsoft.com/office/drawing/2014/main" id="{5E4FA6B4-FCBF-4CCD-B923-3A9E0F29304F}"/>
              </a:ext>
            </a:extLst>
          </p:cNvPr>
          <p:cNvSpPr>
            <a:spLocks noGrp="1"/>
          </p:cNvSpPr>
          <p:nvPr/>
        </p:nvSpPr>
        <p:spPr>
          <a:xfrm>
            <a:off x="4267200" y="2266950"/>
            <a:ext cx="3143250" cy="20955"/>
          </a:xfrm>
          <a:prstGeom prst="rect">
            <a:avLst/>
          </a:prstGeom>
          <a:solidFill>
            <a:srgbClr val="B45F2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ection-title-Hyperparameter search">
            <a:extLst>
              <a:ext uri="{FF2B5EF4-FFF2-40B4-BE49-F238E27FC236}">
                <a16:creationId xmlns:a16="http://schemas.microsoft.com/office/drawing/2014/main" id="{C8C8A0C2-0C15-477C-ADFD-1D6B92636C76}"/>
              </a:ext>
            </a:extLst>
          </p:cNvPr>
          <p:cNvSpPr>
            <a:spLocks noGrp="1"/>
          </p:cNvSpPr>
          <p:nvPr/>
        </p:nvSpPr>
        <p:spPr>
          <a:xfrm>
            <a:off x="4267200" y="23622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125" b="1">
                <a:solidFill>
                  <a:srgbClr val="B45F2A"/>
                </a:solidFill>
              </a:defRPr>
            </a:pPr>
            <a:r>
              <a:rPr sz="1125" b="1">
                <a:solidFill>
                  <a:srgbClr val="B45F2A"/>
                </a:solidFill>
              </a:rPr>
              <a:t>HYPERPARAMETER SEARCH</a:t>
            </a:r>
          </a:p>
        </p:txBody>
      </p:sp>
      <p:sp>
        <p:nvSpPr>
          <p:cNvPr id="12" name="hp-dot-0">
            <a:extLst>
              <a:ext uri="{FF2B5EF4-FFF2-40B4-BE49-F238E27FC236}">
                <a16:creationId xmlns:a16="http://schemas.microsoft.com/office/drawing/2014/main" id="{68A41D85-4469-4B77-86C7-88B9B7CDB034}"/>
              </a:ext>
            </a:extLst>
          </p:cNvPr>
          <p:cNvSpPr>
            <a:spLocks noGrp="1"/>
          </p:cNvSpPr>
          <p:nvPr/>
        </p:nvSpPr>
        <p:spPr>
          <a:xfrm>
            <a:off x="4267200" y="27813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buNone/>
              <a:defRPr sz="1500" b="1">
                <a:solidFill>
                  <a:srgbClr val="B45F2A"/>
                </a:solidFill>
              </a:defRPr>
            </a:pPr>
            <a:r>
              <a:rPr sz="1500" b="1">
                <a:solidFill>
                  <a:srgbClr val="B45F2A"/>
                </a:solidFill>
              </a:rPr>
              <a:t>•</a:t>
            </a:r>
          </a:p>
        </p:txBody>
      </p:sp>
      <p:sp>
        <p:nvSpPr>
          <p:cNvPr id="13" name="hp-title-0">
            <a:extLst>
              <a:ext uri="{FF2B5EF4-FFF2-40B4-BE49-F238E27FC236}">
                <a16:creationId xmlns:a16="http://schemas.microsoft.com/office/drawing/2014/main" id="{EA4E858B-08B9-4A2D-BCF0-325879C8647E}"/>
              </a:ext>
            </a:extLst>
          </p:cNvPr>
          <p:cNvSpPr>
            <a:spLocks noGrp="1"/>
          </p:cNvSpPr>
          <p:nvPr/>
        </p:nvSpPr>
        <p:spPr>
          <a:xfrm>
            <a:off x="4495800" y="27813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350" b="1">
                <a:solidFill>
                  <a:srgbClr val="0B2F3F"/>
                </a:solidFill>
              </a:defRPr>
            </a:pPr>
            <a:r>
              <a:rPr sz="1350" b="1">
                <a:solidFill>
                  <a:srgbClr val="0B2F3F"/>
                </a:solidFill>
              </a:rPr>
              <a:t>Random search</a:t>
            </a:r>
          </a:p>
        </p:txBody>
      </p:sp>
      <p:sp>
        <p:nvSpPr>
          <p:cNvPr id="14" name="hp-body-0">
            <a:extLst>
              <a:ext uri="{FF2B5EF4-FFF2-40B4-BE49-F238E27FC236}">
                <a16:creationId xmlns:a16="http://schemas.microsoft.com/office/drawing/2014/main" id="{327D76F4-E3F8-4A40-AC0B-47CD18575C40}"/>
              </a:ext>
            </a:extLst>
          </p:cNvPr>
          <p:cNvSpPr>
            <a:spLocks noGrp="1"/>
          </p:cNvSpPr>
          <p:nvPr/>
        </p:nvSpPr>
        <p:spPr>
          <a:xfrm>
            <a:off x="4495800" y="30099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238">
                <a:solidFill>
                  <a:srgbClr val="314B59"/>
                </a:solidFill>
              </a:defRPr>
            </a:pPr>
            <a:r>
              <a:rPr sz="1238">
                <a:solidFill>
                  <a:srgbClr val="314B59"/>
                </a:solidFill>
              </a:rPr>
              <a:t>1,000 configurations for most models.</a:t>
            </a:r>
          </a:p>
        </p:txBody>
      </p:sp>
      <p:sp>
        <p:nvSpPr>
          <p:cNvPr id="15" name="hp-dot-1">
            <a:extLst>
              <a:ext uri="{FF2B5EF4-FFF2-40B4-BE49-F238E27FC236}">
                <a16:creationId xmlns:a16="http://schemas.microsoft.com/office/drawing/2014/main" id="{A52A6209-4496-4316-9884-833B87A29C58}"/>
              </a:ext>
            </a:extLst>
          </p:cNvPr>
          <p:cNvSpPr>
            <a:spLocks noGrp="1"/>
          </p:cNvSpPr>
          <p:nvPr/>
        </p:nvSpPr>
        <p:spPr>
          <a:xfrm>
            <a:off x="4267200" y="348615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buNone/>
              <a:defRPr sz="1500" b="1">
                <a:solidFill>
                  <a:srgbClr val="B45F2A"/>
                </a:solidFill>
              </a:defRPr>
            </a:pPr>
            <a:r>
              <a:rPr sz="1500" b="1">
                <a:solidFill>
                  <a:srgbClr val="B45F2A"/>
                </a:solidFill>
              </a:rPr>
              <a:t>•</a:t>
            </a:r>
          </a:p>
        </p:txBody>
      </p:sp>
      <p:sp>
        <p:nvSpPr>
          <p:cNvPr id="16" name="hp-title-1">
            <a:extLst>
              <a:ext uri="{FF2B5EF4-FFF2-40B4-BE49-F238E27FC236}">
                <a16:creationId xmlns:a16="http://schemas.microsoft.com/office/drawing/2014/main" id="{7B0083DD-571A-4A65-AFC0-93A777F33065}"/>
              </a:ext>
            </a:extLst>
          </p:cNvPr>
          <p:cNvSpPr>
            <a:spLocks noGrp="1"/>
          </p:cNvSpPr>
          <p:nvPr/>
        </p:nvSpPr>
        <p:spPr>
          <a:xfrm>
            <a:off x="4495800" y="348615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350" b="1">
                <a:solidFill>
                  <a:srgbClr val="0B2F3F"/>
                </a:solidFill>
              </a:defRPr>
            </a:pPr>
            <a:r>
              <a:rPr sz="1350" b="1">
                <a:solidFill>
                  <a:srgbClr val="0B2F3F"/>
                </a:solidFill>
              </a:rPr>
              <a:t>Neural networks</a:t>
            </a:r>
          </a:p>
        </p:txBody>
      </p:sp>
      <p:sp>
        <p:nvSpPr>
          <p:cNvPr id="17" name="hp-body-1">
            <a:extLst>
              <a:ext uri="{FF2B5EF4-FFF2-40B4-BE49-F238E27FC236}">
                <a16:creationId xmlns:a16="http://schemas.microsoft.com/office/drawing/2014/main" id="{E145793A-12AE-46B6-9C32-A7CFBD1DC05D}"/>
              </a:ext>
            </a:extLst>
          </p:cNvPr>
          <p:cNvSpPr>
            <a:spLocks noGrp="1"/>
          </p:cNvSpPr>
          <p:nvPr/>
        </p:nvSpPr>
        <p:spPr>
          <a:xfrm>
            <a:off x="4495800" y="371475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238">
                <a:solidFill>
                  <a:srgbClr val="314B59"/>
                </a:solidFill>
              </a:defRPr>
            </a:pPr>
            <a:r>
              <a:rPr sz="1238">
                <a:solidFill>
                  <a:srgbClr val="314B59"/>
                </a:solidFill>
              </a:rPr>
              <a:t>1-10 hidden layers; 1-256 nodes per layer.</a:t>
            </a:r>
          </a:p>
        </p:txBody>
      </p:sp>
      <p:sp>
        <p:nvSpPr>
          <p:cNvPr id="18" name="hp-dot-2">
            <a:extLst>
              <a:ext uri="{FF2B5EF4-FFF2-40B4-BE49-F238E27FC236}">
                <a16:creationId xmlns:a16="http://schemas.microsoft.com/office/drawing/2014/main" id="{F2B215A6-C217-4ACD-A3A5-7B5364509A25}"/>
              </a:ext>
            </a:extLst>
          </p:cNvPr>
          <p:cNvSpPr>
            <a:spLocks noGrp="1"/>
          </p:cNvSpPr>
          <p:nvPr/>
        </p:nvSpPr>
        <p:spPr>
          <a:xfrm>
            <a:off x="4267200" y="41910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buNone/>
              <a:defRPr sz="1500" b="1">
                <a:solidFill>
                  <a:srgbClr val="B45F2A"/>
                </a:solidFill>
              </a:defRPr>
            </a:pPr>
            <a:r>
              <a:rPr sz="1500" b="1">
                <a:solidFill>
                  <a:srgbClr val="B45F2A"/>
                </a:solidFill>
              </a:rPr>
              <a:t>•</a:t>
            </a:r>
          </a:p>
        </p:txBody>
      </p:sp>
      <p:sp>
        <p:nvSpPr>
          <p:cNvPr id="19" name="hp-title-2">
            <a:extLst>
              <a:ext uri="{FF2B5EF4-FFF2-40B4-BE49-F238E27FC236}">
                <a16:creationId xmlns:a16="http://schemas.microsoft.com/office/drawing/2014/main" id="{3E21C33F-7F08-4870-A961-9E7B07E9A05E}"/>
              </a:ext>
            </a:extLst>
          </p:cNvPr>
          <p:cNvSpPr>
            <a:spLocks noGrp="1"/>
          </p:cNvSpPr>
          <p:nvPr/>
        </p:nvSpPr>
        <p:spPr>
          <a:xfrm>
            <a:off x="4495800" y="41910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350" b="1">
                <a:solidFill>
                  <a:srgbClr val="0B2F3F"/>
                </a:solidFill>
              </a:defRPr>
            </a:pPr>
            <a:r>
              <a:rPr sz="1350" b="1">
                <a:solidFill>
                  <a:srgbClr val="0B2F3F"/>
                </a:solidFill>
              </a:rPr>
              <a:t>Discrete-time models</a:t>
            </a:r>
          </a:p>
        </p:txBody>
      </p:sp>
      <p:sp>
        <p:nvSpPr>
          <p:cNvPr id="20" name="hp-body-2">
            <a:extLst>
              <a:ext uri="{FF2B5EF4-FFF2-40B4-BE49-F238E27FC236}">
                <a16:creationId xmlns:a16="http://schemas.microsoft.com/office/drawing/2014/main" id="{039D079D-3823-49D4-908E-A618B07F47C4}"/>
              </a:ext>
            </a:extLst>
          </p:cNvPr>
          <p:cNvSpPr>
            <a:spLocks noGrp="1"/>
          </p:cNvSpPr>
          <p:nvPr/>
        </p:nvSpPr>
        <p:spPr>
          <a:xfrm>
            <a:off x="4495800" y="44196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238">
                <a:solidFill>
                  <a:srgbClr val="314B59"/>
                </a:solidFill>
              </a:defRPr>
            </a:pPr>
            <a:r>
              <a:rPr sz="1238">
                <a:solidFill>
                  <a:srgbClr val="314B59"/>
                </a:solidFill>
              </a:rPr>
              <a:t>5-100 time bins explored.</a:t>
            </a:r>
          </a:p>
        </p:txBody>
      </p:sp>
      <p:sp>
        <p:nvSpPr>
          <p:cNvPr id="21" name="section-rule-Metric">
            <a:extLst>
              <a:ext uri="{FF2B5EF4-FFF2-40B4-BE49-F238E27FC236}">
                <a16:creationId xmlns:a16="http://schemas.microsoft.com/office/drawing/2014/main" id="{6E286862-D3C3-4652-A5CD-C8387B78B128}"/>
              </a:ext>
            </a:extLst>
          </p:cNvPr>
          <p:cNvSpPr>
            <a:spLocks noGrp="1"/>
          </p:cNvSpPr>
          <p:nvPr/>
        </p:nvSpPr>
        <p:spPr>
          <a:xfrm>
            <a:off x="7981950" y="2266950"/>
            <a:ext cx="2857500" cy="20955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ection-title-Metric">
            <a:extLst>
              <a:ext uri="{FF2B5EF4-FFF2-40B4-BE49-F238E27FC236}">
                <a16:creationId xmlns:a16="http://schemas.microsoft.com/office/drawing/2014/main" id="{8C6FFA0B-968E-4E9D-B1FB-E385829A2C97}"/>
              </a:ext>
            </a:extLst>
          </p:cNvPr>
          <p:cNvSpPr>
            <a:spLocks noGrp="1"/>
          </p:cNvSpPr>
          <p:nvPr/>
        </p:nvSpPr>
        <p:spPr>
          <a:xfrm>
            <a:off x="7981950" y="23622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125" b="1">
                <a:solidFill>
                  <a:srgbClr val="0B4D63"/>
                </a:solidFill>
              </a:defRPr>
            </a:pPr>
            <a:r>
              <a:rPr sz="1125" b="1">
                <a:solidFill>
                  <a:srgbClr val="0B4D63"/>
                </a:solidFill>
              </a:rPr>
              <a:t>METRIC</a:t>
            </a:r>
          </a:p>
        </p:txBody>
      </p:sp>
      <p:sp>
        <p:nvSpPr>
          <p:cNvPr id="23" name="metric-title">
            <a:extLst>
              <a:ext uri="{FF2B5EF4-FFF2-40B4-BE49-F238E27FC236}">
                <a16:creationId xmlns:a16="http://schemas.microsoft.com/office/drawing/2014/main" id="{3EEBC43B-E359-4840-BA14-CF6360F8F41A}"/>
              </a:ext>
            </a:extLst>
          </p:cNvPr>
          <p:cNvSpPr>
            <a:spLocks noGrp="1"/>
          </p:cNvSpPr>
          <p:nvPr/>
        </p:nvSpPr>
        <p:spPr>
          <a:xfrm>
            <a:off x="7981950" y="278130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buNone/>
              <a:defRPr sz="2400" b="1">
                <a:solidFill>
                  <a:srgbClr val="0B2F3F"/>
                </a:solidFill>
              </a:defRPr>
            </a:pPr>
            <a:r>
              <a:rPr sz="2400" b="1">
                <a:solidFill>
                  <a:srgbClr val="0B2F3F"/>
                </a:solidFill>
              </a:rPr>
              <a:t>C-index</a:t>
            </a:r>
          </a:p>
        </p:txBody>
      </p:sp>
      <p:sp>
        <p:nvSpPr>
          <p:cNvPr id="24" name="metric-body">
            <a:extLst>
              <a:ext uri="{FF2B5EF4-FFF2-40B4-BE49-F238E27FC236}">
                <a16:creationId xmlns:a16="http://schemas.microsoft.com/office/drawing/2014/main" id="{EDEC0400-A76E-4C28-A078-1C165A3C13E2}"/>
              </a:ext>
            </a:extLst>
          </p:cNvPr>
          <p:cNvSpPr>
            <a:spLocks noGrp="1"/>
          </p:cNvSpPr>
          <p:nvPr/>
        </p:nvSpPr>
        <p:spPr>
          <a:xfrm>
            <a:off x="7981950" y="3219450"/>
            <a:ext cx="2952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200">
                <a:solidFill>
                  <a:srgbClr val="314B59"/>
                </a:solidFill>
              </a:defRPr>
            </a:pPr>
            <a:r>
              <a:rPr sz="1200">
                <a:solidFill>
                  <a:srgbClr val="314B59"/>
                </a:solidFill>
              </a:rPr>
              <a:t>Measures discrimination: how well predicted risk orders patients by observed survival time.</a:t>
            </a:r>
          </a:p>
        </p:txBody>
      </p:sp>
      <p:sp>
        <p:nvSpPr>
          <p:cNvPr id="25" name="metric-caveat">
            <a:extLst>
              <a:ext uri="{FF2B5EF4-FFF2-40B4-BE49-F238E27FC236}">
                <a16:creationId xmlns:a16="http://schemas.microsoft.com/office/drawing/2014/main" id="{34CB8AAF-13BC-4718-BC8E-53BFCF23297A}"/>
              </a:ext>
            </a:extLst>
          </p:cNvPr>
          <p:cNvSpPr>
            <a:spLocks noGrp="1"/>
          </p:cNvSpPr>
          <p:nvPr/>
        </p:nvSpPr>
        <p:spPr>
          <a:xfrm>
            <a:off x="7981950" y="4171950"/>
            <a:ext cx="2952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200" b="1">
                <a:solidFill>
                  <a:srgbClr val="B45F2A"/>
                </a:solidFill>
              </a:defRPr>
            </a:pPr>
            <a:r>
              <a:rPr sz="1200" b="1">
                <a:solidFill>
                  <a:srgbClr val="B45F2A"/>
                </a:solidFill>
              </a:rPr>
              <a:t>Caveat: high C-index does not guarantee well-calibrated survival probabilities.</a:t>
            </a:r>
          </a:p>
        </p:txBody>
      </p:sp>
      <p:sp>
        <p:nvSpPr>
          <p:cNvPr id="26" name="takeaway-band">
            <a:extLst>
              <a:ext uri="{FF2B5EF4-FFF2-40B4-BE49-F238E27FC236}">
                <a16:creationId xmlns:a16="http://schemas.microsoft.com/office/drawing/2014/main" id="{FDB40CF3-A42A-416B-BA45-D199FA127B5E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820400" cy="55245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7" name="takeaway-label">
            <a:extLst>
              <a:ext uri="{FF2B5EF4-FFF2-40B4-BE49-F238E27FC236}">
                <a16:creationId xmlns:a16="http://schemas.microsoft.com/office/drawing/2014/main" id="{A3FD1426-DA74-40DE-8D66-CF7FCE6B93D3}"/>
              </a:ext>
            </a:extLst>
          </p:cNvPr>
          <p:cNvSpPr>
            <a:spLocks noGrp="1"/>
          </p:cNvSpPr>
          <p:nvPr/>
        </p:nvSpPr>
        <p:spPr>
          <a:xfrm>
            <a:off x="952500" y="5953125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050" b="1">
                <a:solidFill>
                  <a:srgbClr val="C7E8F2"/>
                </a:solidFill>
              </a:defRPr>
            </a:pPr>
            <a:r>
              <a:rPr sz="1050" b="1">
                <a:solidFill>
                  <a:srgbClr val="C7E8F2"/>
                </a:solidFill>
              </a:rPr>
              <a:t>Evaluation caveat</a:t>
            </a:r>
          </a:p>
        </p:txBody>
      </p:sp>
      <p:sp>
        <p:nvSpPr>
          <p:cNvPr id="28" name="takeaway-text">
            <a:extLst>
              <a:ext uri="{FF2B5EF4-FFF2-40B4-BE49-F238E27FC236}">
                <a16:creationId xmlns:a16="http://schemas.microsoft.com/office/drawing/2014/main" id="{3434CAAF-6068-48F2-BBFD-C4D208C98165}"/>
              </a:ext>
            </a:extLst>
          </p:cNvPr>
          <p:cNvSpPr>
            <a:spLocks noGrp="1"/>
          </p:cNvSpPr>
          <p:nvPr/>
        </p:nvSpPr>
        <p:spPr>
          <a:xfrm>
            <a:off x="952500" y="6143625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The reported results primarily measure patient-risk discrimination.</a:t>
            </a:r>
          </a:p>
        </p:txBody>
      </p:sp>
      <p:sp>
        <p:nvSpPr>
          <p:cNvPr id="29" name="footer">
            <a:extLst>
              <a:ext uri="{FF2B5EF4-FFF2-40B4-BE49-F238E27FC236}">
                <a16:creationId xmlns:a16="http://schemas.microsoft.com/office/drawing/2014/main" id="{1F509502-C4F7-4C20-BD55-65BE859B0BE0}"/>
              </a:ext>
            </a:extLst>
          </p:cNvPr>
          <p:cNvSpPr>
            <a:spLocks noGrp="1"/>
          </p:cNvSpPr>
          <p:nvPr/>
        </p:nvSpPr>
        <p:spPr>
          <a:xfrm>
            <a:off x="8858250" y="65722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r">
              <a:buNone/>
              <a:defRPr sz="750">
                <a:solidFill>
                  <a:srgbClr val="7A8D97"/>
                </a:solidFill>
              </a:defRPr>
            </a:pPr>
            <a:r>
              <a:rPr sz="750">
                <a:solidFill>
                  <a:srgbClr val="7A8D97"/>
                </a:solidFill>
              </a:rPr>
              <a:t>Machine Learning-Based Survival Prediction of Outcomes in MDS</a:t>
            </a:r>
          </a:p>
        </p:txBody>
      </p:sp>
      <p:sp>
        <p:nvSpPr>
          <p:cNvPr id="30" name="source-line-11">
            <a:extLst>
              <a:ext uri="{FF2B5EF4-FFF2-40B4-BE49-F238E27FC236}">
                <a16:creationId xmlns:a16="http://schemas.microsoft.com/office/drawing/2014/main" id="{2B5DB9A6-D51D-453C-9BBF-E0EBFAEB1252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42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defRPr sz="788">
                <a:solidFill>
                  <a:srgbClr val="7A8D97"/>
                </a:solidFill>
              </a:defRPr>
            </a:pPr>
            <a:r>
              <a:rPr sz="788">
                <a:solidFill>
                  <a:srgbClr val="7A8D97"/>
                </a:solidFill>
              </a:rPr>
              <a:t>Sources: [5], [7]</a:t>
            </a:r>
          </a:p>
        </p:txBody>
      </p:sp>
    </p:spTree>
    <p:extLst>
      <p:ext uri="{BB962C8B-B14F-4D97-AF65-F5344CB8AC3E}">
        <p14:creationId xmlns:p14="http://schemas.microsoft.com/office/powerpoint/2010/main" val="946737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eft-accent-bar">
            <a:extLst>
              <a:ext uri="{FF2B5EF4-FFF2-40B4-BE49-F238E27FC236}">
                <a16:creationId xmlns:a16="http://schemas.microsoft.com/office/drawing/2014/main" id="{7B2116B9-47CF-4244-9AC4-AB62F4C40B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op-rule">
            <a:extLst>
              <a:ext uri="{FF2B5EF4-FFF2-40B4-BE49-F238E27FC236}">
                <a16:creationId xmlns:a16="http://schemas.microsoft.com/office/drawing/2014/main" id="{B143AF14-A954-49B3-9DF4-C69213A3427E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19050"/>
          </a:xfrm>
          <a:prstGeom prst="rect">
            <a:avLst/>
          </a:prstGeom>
          <a:solidFill>
            <a:srgbClr val="DDE8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C0EEADDE-1926-46AD-BA77-5B5F860F5B7D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200" b="1">
                <a:solidFill>
                  <a:srgbClr val="0B4D63"/>
                </a:solidFill>
              </a:defRPr>
            </a:pPr>
            <a:r>
              <a:rPr sz="1200" b="1">
                <a:solidFill>
                  <a:srgbClr val="0B4D63"/>
                </a:solidFill>
              </a:rPr>
              <a:t>RESULTS: RQ1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2EB63964-23A0-408F-9427-0332844B305C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2925" b="1">
                <a:solidFill>
                  <a:srgbClr val="0B2F3F"/>
                </a:solidFill>
              </a:defRPr>
            </a:pPr>
            <a:r>
              <a:rPr sz="2925" b="1">
                <a:solidFill>
                  <a:srgbClr val="0B2F3F"/>
                </a:solidFill>
              </a:rPr>
              <a:t>Molecular Features Drive the Best Accuracy</a:t>
            </a:r>
          </a:p>
        </p:txBody>
      </p:sp>
      <p:sp>
        <p:nvSpPr>
          <p:cNvPr id="5" name="setup-line">
            <a:extLst>
              <a:ext uri="{FF2B5EF4-FFF2-40B4-BE49-F238E27FC236}">
                <a16:creationId xmlns:a16="http://schemas.microsoft.com/office/drawing/2014/main" id="{0E6F2659-F517-4C3F-AB99-687CB170F7A9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144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1650">
                <a:solidFill>
                  <a:srgbClr val="2F4653"/>
                </a:solidFill>
              </a:defRPr>
            </a:pPr>
            <a:r>
              <a:rPr sz="1650" dirty="0">
                <a:solidFill>
                  <a:srgbClr val="2F4653"/>
                </a:solidFill>
              </a:rPr>
              <a:t>The best C-index values usually occur when molecular genetic features are included.</a:t>
            </a:r>
          </a:p>
        </p:txBody>
      </p:sp>
      <p:sp>
        <p:nvSpPr>
          <p:cNvPr id="6" name="chart-caption">
            <a:extLst>
              <a:ext uri="{FF2B5EF4-FFF2-40B4-BE49-F238E27FC236}">
                <a16:creationId xmlns:a16="http://schemas.microsoft.com/office/drawing/2014/main" id="{AA5630B9-5227-4451-AA9F-F69531A88E9A}"/>
              </a:ext>
            </a:extLst>
          </p:cNvPr>
          <p:cNvSpPr>
            <a:spLocks noGrp="1"/>
          </p:cNvSpPr>
          <p:nvPr/>
        </p:nvSpPr>
        <p:spPr>
          <a:xfrm>
            <a:off x="1836201" y="2238375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200" b="1">
                <a:solidFill>
                  <a:srgbClr val="0B4D63"/>
                </a:solidFill>
              </a:defRPr>
            </a:pPr>
            <a:r>
              <a:rPr sz="1200" b="1" dirty="0">
                <a:solidFill>
                  <a:srgbClr val="0B4D63"/>
                </a:solidFill>
              </a:rPr>
              <a:t>Best C-index across models for each feature set</a:t>
            </a:r>
          </a:p>
        </p:txBody>
      </p:sp>
      <p:graphicFrame>
        <p:nvGraphicFramePr>
          <p:cNvPr id="53" name="Chart"/>
          <p:cNvGraphicFramePr/>
          <p:nvPr/>
        </p:nvGraphicFramePr>
        <p:xfrm>
          <a:off x="781050" y="2571750"/>
          <a:ext cx="6191250" cy="2428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feature-result-table-bg">
            <a:extLst>
              <a:ext uri="{FF2B5EF4-FFF2-40B4-BE49-F238E27FC236}">
                <a16:creationId xmlns:a16="http://schemas.microsoft.com/office/drawing/2014/main" id="{A4D62E70-ADFC-4926-BB08-0332FC22CA58}"/>
              </a:ext>
            </a:extLst>
          </p:cNvPr>
          <p:cNvSpPr>
            <a:spLocks noGrp="1"/>
          </p:cNvSpPr>
          <p:nvPr/>
        </p:nvSpPr>
        <p:spPr>
          <a:xfrm>
            <a:off x="7448550" y="2438400"/>
            <a:ext cx="3714750" cy="1771650"/>
          </a:xfrm>
          <a:prstGeom prst="rect">
            <a:avLst/>
          </a:prstGeom>
          <a:noFill/>
          <a:ln w="9525">
            <a:solidFill>
              <a:srgbClr val="CBDCE3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9" name="feature-result-table-header-bg">
            <a:extLst>
              <a:ext uri="{FF2B5EF4-FFF2-40B4-BE49-F238E27FC236}">
                <a16:creationId xmlns:a16="http://schemas.microsoft.com/office/drawing/2014/main" id="{05972391-0F58-4442-AAB7-67447F3D5037}"/>
              </a:ext>
            </a:extLst>
          </p:cNvPr>
          <p:cNvSpPr>
            <a:spLocks noGrp="1"/>
          </p:cNvSpPr>
          <p:nvPr/>
        </p:nvSpPr>
        <p:spPr>
          <a:xfrm>
            <a:off x="7448550" y="2438400"/>
            <a:ext cx="3714750" cy="34290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0" name="feature-result-table-hline-0">
            <a:extLst>
              <a:ext uri="{FF2B5EF4-FFF2-40B4-BE49-F238E27FC236}">
                <a16:creationId xmlns:a16="http://schemas.microsoft.com/office/drawing/2014/main" id="{3702BBF5-0747-4C10-8307-D7FE07166182}"/>
              </a:ext>
            </a:extLst>
          </p:cNvPr>
          <p:cNvSpPr>
            <a:spLocks noGrp="1"/>
          </p:cNvSpPr>
          <p:nvPr/>
        </p:nvSpPr>
        <p:spPr>
          <a:xfrm>
            <a:off x="7448550" y="2781300"/>
            <a:ext cx="37147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1" name="feature-result-table-cell-0-0">
            <a:extLst>
              <a:ext uri="{FF2B5EF4-FFF2-40B4-BE49-F238E27FC236}">
                <a16:creationId xmlns:a16="http://schemas.microsoft.com/office/drawing/2014/main" id="{AA1B03B2-89BA-48A5-935F-D42A483BB0A9}"/>
              </a:ext>
            </a:extLst>
          </p:cNvPr>
          <p:cNvSpPr>
            <a:spLocks noGrp="1"/>
          </p:cNvSpPr>
          <p:nvPr/>
        </p:nvSpPr>
        <p:spPr>
          <a:xfrm>
            <a:off x="7543800" y="2505075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Endpoint</a:t>
            </a:r>
          </a:p>
        </p:txBody>
      </p:sp>
      <p:sp>
        <p:nvSpPr>
          <p:cNvPr id="12" name="feature-result-table-vline-0-1">
            <a:extLst>
              <a:ext uri="{FF2B5EF4-FFF2-40B4-BE49-F238E27FC236}">
                <a16:creationId xmlns:a16="http://schemas.microsoft.com/office/drawing/2014/main" id="{C8204201-6B4F-443F-BD62-3143749D1295}"/>
              </a:ext>
            </a:extLst>
          </p:cNvPr>
          <p:cNvSpPr>
            <a:spLocks noGrp="1"/>
          </p:cNvSpPr>
          <p:nvPr/>
        </p:nvSpPr>
        <p:spPr>
          <a:xfrm>
            <a:off x="8496300" y="2438400"/>
            <a:ext cx="9525" cy="3429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3" name="feature-result-table-cell-0-1">
            <a:extLst>
              <a:ext uri="{FF2B5EF4-FFF2-40B4-BE49-F238E27FC236}">
                <a16:creationId xmlns:a16="http://schemas.microsoft.com/office/drawing/2014/main" id="{4E541902-FEEA-42FB-99E5-6D1231A62A17}"/>
              </a:ext>
            </a:extLst>
          </p:cNvPr>
          <p:cNvSpPr>
            <a:spLocks noGrp="1"/>
          </p:cNvSpPr>
          <p:nvPr/>
        </p:nvSpPr>
        <p:spPr>
          <a:xfrm>
            <a:off x="8591550" y="2505075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Best feature set</a:t>
            </a:r>
          </a:p>
        </p:txBody>
      </p:sp>
      <p:sp>
        <p:nvSpPr>
          <p:cNvPr id="14" name="feature-result-table-vline-0-2">
            <a:extLst>
              <a:ext uri="{FF2B5EF4-FFF2-40B4-BE49-F238E27FC236}">
                <a16:creationId xmlns:a16="http://schemas.microsoft.com/office/drawing/2014/main" id="{B5EEDDAD-83E5-4D82-B6EF-06DD4EABE8B3}"/>
              </a:ext>
            </a:extLst>
          </p:cNvPr>
          <p:cNvSpPr>
            <a:spLocks noGrp="1"/>
          </p:cNvSpPr>
          <p:nvPr/>
        </p:nvSpPr>
        <p:spPr>
          <a:xfrm>
            <a:off x="10020300" y="2438400"/>
            <a:ext cx="9525" cy="3429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5" name="feature-result-table-cell-0-2">
            <a:extLst>
              <a:ext uri="{FF2B5EF4-FFF2-40B4-BE49-F238E27FC236}">
                <a16:creationId xmlns:a16="http://schemas.microsoft.com/office/drawing/2014/main" id="{5949D009-49EC-48DE-97F2-BE475AB7E24D}"/>
              </a:ext>
            </a:extLst>
          </p:cNvPr>
          <p:cNvSpPr>
            <a:spLocks noGrp="1"/>
          </p:cNvSpPr>
          <p:nvPr/>
        </p:nvSpPr>
        <p:spPr>
          <a:xfrm>
            <a:off x="10115550" y="2505075"/>
            <a:ext cx="971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C-index</a:t>
            </a:r>
          </a:p>
        </p:txBody>
      </p:sp>
      <p:sp>
        <p:nvSpPr>
          <p:cNvPr id="16" name="feature-result-table-hline-1">
            <a:extLst>
              <a:ext uri="{FF2B5EF4-FFF2-40B4-BE49-F238E27FC236}">
                <a16:creationId xmlns:a16="http://schemas.microsoft.com/office/drawing/2014/main" id="{01A5D251-86A3-497F-9365-0E14FE5AA41C}"/>
              </a:ext>
            </a:extLst>
          </p:cNvPr>
          <p:cNvSpPr>
            <a:spLocks noGrp="1"/>
          </p:cNvSpPr>
          <p:nvPr/>
        </p:nvSpPr>
        <p:spPr>
          <a:xfrm>
            <a:off x="7448550" y="3257550"/>
            <a:ext cx="37147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7" name="feature-result-table-cell-1-0">
            <a:extLst>
              <a:ext uri="{FF2B5EF4-FFF2-40B4-BE49-F238E27FC236}">
                <a16:creationId xmlns:a16="http://schemas.microsoft.com/office/drawing/2014/main" id="{B94B6431-044E-4291-8F5D-8EBC49D93EF8}"/>
              </a:ext>
            </a:extLst>
          </p:cNvPr>
          <p:cNvSpPr>
            <a:spLocks noGrp="1"/>
          </p:cNvSpPr>
          <p:nvPr/>
        </p:nvSpPr>
        <p:spPr>
          <a:xfrm>
            <a:off x="7543800" y="2847975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1">
                <a:solidFill>
                  <a:srgbClr val="B45F2A"/>
                </a:solidFill>
              </a:defRPr>
            </a:pPr>
            <a:r>
              <a:rPr sz="1200" b="1">
                <a:solidFill>
                  <a:srgbClr val="B45F2A"/>
                </a:solidFill>
              </a:rPr>
              <a:t>OS</a:t>
            </a:r>
          </a:p>
        </p:txBody>
      </p:sp>
      <p:sp>
        <p:nvSpPr>
          <p:cNvPr id="18" name="feature-result-table-vline-1-1">
            <a:extLst>
              <a:ext uri="{FF2B5EF4-FFF2-40B4-BE49-F238E27FC236}">
                <a16:creationId xmlns:a16="http://schemas.microsoft.com/office/drawing/2014/main" id="{9C5351BF-7723-46F7-8DD6-3AE3FB18A0E7}"/>
              </a:ext>
            </a:extLst>
          </p:cNvPr>
          <p:cNvSpPr>
            <a:spLocks noGrp="1"/>
          </p:cNvSpPr>
          <p:nvPr/>
        </p:nvSpPr>
        <p:spPr>
          <a:xfrm>
            <a:off x="8496300" y="2781300"/>
            <a:ext cx="9525" cy="4762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9" name="feature-result-table-cell-1-1">
            <a:extLst>
              <a:ext uri="{FF2B5EF4-FFF2-40B4-BE49-F238E27FC236}">
                <a16:creationId xmlns:a16="http://schemas.microsoft.com/office/drawing/2014/main" id="{4DD314C4-2452-4FCE-BDFE-6E273AA5F43A}"/>
              </a:ext>
            </a:extLst>
          </p:cNvPr>
          <p:cNvSpPr>
            <a:spLocks noGrp="1"/>
          </p:cNvSpPr>
          <p:nvPr/>
        </p:nvSpPr>
        <p:spPr>
          <a:xfrm>
            <a:off x="8591550" y="284797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All</a:t>
            </a:r>
          </a:p>
        </p:txBody>
      </p:sp>
      <p:sp>
        <p:nvSpPr>
          <p:cNvPr id="20" name="feature-result-table-vline-1-2">
            <a:extLst>
              <a:ext uri="{FF2B5EF4-FFF2-40B4-BE49-F238E27FC236}">
                <a16:creationId xmlns:a16="http://schemas.microsoft.com/office/drawing/2014/main" id="{2D8D2BFA-079C-4B52-91B8-DE29ADFC4E87}"/>
              </a:ext>
            </a:extLst>
          </p:cNvPr>
          <p:cNvSpPr>
            <a:spLocks noGrp="1"/>
          </p:cNvSpPr>
          <p:nvPr/>
        </p:nvSpPr>
        <p:spPr>
          <a:xfrm>
            <a:off x="10020300" y="2781300"/>
            <a:ext cx="9525" cy="4762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1" name="feature-result-table-cell-1-2">
            <a:extLst>
              <a:ext uri="{FF2B5EF4-FFF2-40B4-BE49-F238E27FC236}">
                <a16:creationId xmlns:a16="http://schemas.microsoft.com/office/drawing/2014/main" id="{8923A0DD-B0C8-43BF-8FA5-20CDC3656958}"/>
              </a:ext>
            </a:extLst>
          </p:cNvPr>
          <p:cNvSpPr>
            <a:spLocks noGrp="1"/>
          </p:cNvSpPr>
          <p:nvPr/>
        </p:nvSpPr>
        <p:spPr>
          <a:xfrm>
            <a:off x="10115550" y="2847975"/>
            <a:ext cx="971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0.777</a:t>
            </a:r>
          </a:p>
        </p:txBody>
      </p:sp>
      <p:sp>
        <p:nvSpPr>
          <p:cNvPr id="22" name="feature-result-table-stripe-2">
            <a:extLst>
              <a:ext uri="{FF2B5EF4-FFF2-40B4-BE49-F238E27FC236}">
                <a16:creationId xmlns:a16="http://schemas.microsoft.com/office/drawing/2014/main" id="{CBBC16AB-048C-4E98-B673-43E15F3255A1}"/>
              </a:ext>
            </a:extLst>
          </p:cNvPr>
          <p:cNvSpPr>
            <a:spLocks noGrp="1"/>
          </p:cNvSpPr>
          <p:nvPr/>
        </p:nvSpPr>
        <p:spPr>
          <a:xfrm>
            <a:off x="7448550" y="3257550"/>
            <a:ext cx="3714750" cy="476250"/>
          </a:xfrm>
          <a:prstGeom prst="rect">
            <a:avLst/>
          </a:prstGeom>
          <a:solidFill>
            <a:srgbClr val="F1F6F8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3" name="feature-result-table-hline-2">
            <a:extLst>
              <a:ext uri="{FF2B5EF4-FFF2-40B4-BE49-F238E27FC236}">
                <a16:creationId xmlns:a16="http://schemas.microsoft.com/office/drawing/2014/main" id="{182CFF9E-C2BD-4E9D-A711-6855134F4CD9}"/>
              </a:ext>
            </a:extLst>
          </p:cNvPr>
          <p:cNvSpPr>
            <a:spLocks noGrp="1"/>
          </p:cNvSpPr>
          <p:nvPr/>
        </p:nvSpPr>
        <p:spPr>
          <a:xfrm>
            <a:off x="7448550" y="3733800"/>
            <a:ext cx="37147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4" name="feature-result-table-cell-2-0">
            <a:extLst>
              <a:ext uri="{FF2B5EF4-FFF2-40B4-BE49-F238E27FC236}">
                <a16:creationId xmlns:a16="http://schemas.microsoft.com/office/drawing/2014/main" id="{F70E8E39-F8EF-4ED0-8A92-AC2452986D95}"/>
              </a:ext>
            </a:extLst>
          </p:cNvPr>
          <p:cNvSpPr>
            <a:spLocks noGrp="1"/>
          </p:cNvSpPr>
          <p:nvPr/>
        </p:nvSpPr>
        <p:spPr>
          <a:xfrm>
            <a:off x="7543800" y="3324225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1">
                <a:solidFill>
                  <a:srgbClr val="B45F2A"/>
                </a:solidFill>
              </a:defRPr>
            </a:pPr>
            <a:r>
              <a:rPr sz="1200" b="1">
                <a:solidFill>
                  <a:srgbClr val="B45F2A"/>
                </a:solidFill>
              </a:rPr>
              <a:t>LFS</a:t>
            </a:r>
          </a:p>
        </p:txBody>
      </p:sp>
      <p:sp>
        <p:nvSpPr>
          <p:cNvPr id="25" name="feature-result-table-vline-2-1">
            <a:extLst>
              <a:ext uri="{FF2B5EF4-FFF2-40B4-BE49-F238E27FC236}">
                <a16:creationId xmlns:a16="http://schemas.microsoft.com/office/drawing/2014/main" id="{ADF145CA-3058-4921-8E81-532BBF0DE47C}"/>
              </a:ext>
            </a:extLst>
          </p:cNvPr>
          <p:cNvSpPr>
            <a:spLocks noGrp="1"/>
          </p:cNvSpPr>
          <p:nvPr/>
        </p:nvSpPr>
        <p:spPr>
          <a:xfrm>
            <a:off x="8496300" y="3257550"/>
            <a:ext cx="9525" cy="4762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6" name="feature-result-table-cell-2-1">
            <a:extLst>
              <a:ext uri="{FF2B5EF4-FFF2-40B4-BE49-F238E27FC236}">
                <a16:creationId xmlns:a16="http://schemas.microsoft.com/office/drawing/2014/main" id="{26B5DDC6-E9DE-4F67-A8D1-372A6C8D3F78}"/>
              </a:ext>
            </a:extLst>
          </p:cNvPr>
          <p:cNvSpPr>
            <a:spLocks noGrp="1"/>
          </p:cNvSpPr>
          <p:nvPr/>
        </p:nvSpPr>
        <p:spPr>
          <a:xfrm>
            <a:off x="8591550" y="332422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Clin+MG</a:t>
            </a:r>
          </a:p>
        </p:txBody>
      </p:sp>
      <p:sp>
        <p:nvSpPr>
          <p:cNvPr id="27" name="feature-result-table-vline-2-2">
            <a:extLst>
              <a:ext uri="{FF2B5EF4-FFF2-40B4-BE49-F238E27FC236}">
                <a16:creationId xmlns:a16="http://schemas.microsoft.com/office/drawing/2014/main" id="{0780C974-DCC2-4B07-B5CA-979CCAE7BD19}"/>
              </a:ext>
            </a:extLst>
          </p:cNvPr>
          <p:cNvSpPr>
            <a:spLocks noGrp="1"/>
          </p:cNvSpPr>
          <p:nvPr/>
        </p:nvSpPr>
        <p:spPr>
          <a:xfrm>
            <a:off x="10020300" y="3257550"/>
            <a:ext cx="9525" cy="4762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8" name="feature-result-table-cell-2-2">
            <a:extLst>
              <a:ext uri="{FF2B5EF4-FFF2-40B4-BE49-F238E27FC236}">
                <a16:creationId xmlns:a16="http://schemas.microsoft.com/office/drawing/2014/main" id="{247C5877-559D-4DD0-89EF-010AC3F7A435}"/>
              </a:ext>
            </a:extLst>
          </p:cNvPr>
          <p:cNvSpPr>
            <a:spLocks noGrp="1"/>
          </p:cNvSpPr>
          <p:nvPr/>
        </p:nvSpPr>
        <p:spPr>
          <a:xfrm>
            <a:off x="10115550" y="3324225"/>
            <a:ext cx="971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0.793</a:t>
            </a:r>
          </a:p>
        </p:txBody>
      </p:sp>
      <p:sp>
        <p:nvSpPr>
          <p:cNvPr id="29" name="feature-result-table-hline-3">
            <a:extLst>
              <a:ext uri="{FF2B5EF4-FFF2-40B4-BE49-F238E27FC236}">
                <a16:creationId xmlns:a16="http://schemas.microsoft.com/office/drawing/2014/main" id="{DA454BA6-DD6A-417D-AED9-2FFE6B1D10EC}"/>
              </a:ext>
            </a:extLst>
          </p:cNvPr>
          <p:cNvSpPr>
            <a:spLocks noGrp="1"/>
          </p:cNvSpPr>
          <p:nvPr/>
        </p:nvSpPr>
        <p:spPr>
          <a:xfrm>
            <a:off x="7448550" y="4210050"/>
            <a:ext cx="37147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0" name="feature-result-table-cell-3-0">
            <a:extLst>
              <a:ext uri="{FF2B5EF4-FFF2-40B4-BE49-F238E27FC236}">
                <a16:creationId xmlns:a16="http://schemas.microsoft.com/office/drawing/2014/main" id="{A8C2984F-0BA9-4ECF-93A7-EAA1E10F8B77}"/>
              </a:ext>
            </a:extLst>
          </p:cNvPr>
          <p:cNvSpPr>
            <a:spLocks noGrp="1"/>
          </p:cNvSpPr>
          <p:nvPr/>
        </p:nvSpPr>
        <p:spPr>
          <a:xfrm>
            <a:off x="7543800" y="3800475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1">
                <a:solidFill>
                  <a:srgbClr val="B45F2A"/>
                </a:solidFill>
              </a:defRPr>
            </a:pPr>
            <a:r>
              <a:rPr sz="1200" b="1">
                <a:solidFill>
                  <a:srgbClr val="B45F2A"/>
                </a:solidFill>
              </a:rPr>
              <a:t>AMLt</a:t>
            </a:r>
          </a:p>
        </p:txBody>
      </p:sp>
      <p:sp>
        <p:nvSpPr>
          <p:cNvPr id="31" name="feature-result-table-vline-3-1">
            <a:extLst>
              <a:ext uri="{FF2B5EF4-FFF2-40B4-BE49-F238E27FC236}">
                <a16:creationId xmlns:a16="http://schemas.microsoft.com/office/drawing/2014/main" id="{A0784FD0-8B96-439C-B6EA-5A6807222436}"/>
              </a:ext>
            </a:extLst>
          </p:cNvPr>
          <p:cNvSpPr>
            <a:spLocks noGrp="1"/>
          </p:cNvSpPr>
          <p:nvPr/>
        </p:nvSpPr>
        <p:spPr>
          <a:xfrm>
            <a:off x="8496300" y="3733800"/>
            <a:ext cx="9525" cy="4762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2" name="feature-result-table-cell-3-1">
            <a:extLst>
              <a:ext uri="{FF2B5EF4-FFF2-40B4-BE49-F238E27FC236}">
                <a16:creationId xmlns:a16="http://schemas.microsoft.com/office/drawing/2014/main" id="{5D556F64-6AC8-4A94-81D2-9A6762AF249C}"/>
              </a:ext>
            </a:extLst>
          </p:cNvPr>
          <p:cNvSpPr>
            <a:spLocks noGrp="1"/>
          </p:cNvSpPr>
          <p:nvPr/>
        </p:nvSpPr>
        <p:spPr>
          <a:xfrm>
            <a:off x="8591550" y="380047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All</a:t>
            </a:r>
          </a:p>
        </p:txBody>
      </p:sp>
      <p:sp>
        <p:nvSpPr>
          <p:cNvPr id="33" name="feature-result-table-vline-3-2">
            <a:extLst>
              <a:ext uri="{FF2B5EF4-FFF2-40B4-BE49-F238E27FC236}">
                <a16:creationId xmlns:a16="http://schemas.microsoft.com/office/drawing/2014/main" id="{7FA4535F-B307-4780-992B-91E14F2854EE}"/>
              </a:ext>
            </a:extLst>
          </p:cNvPr>
          <p:cNvSpPr>
            <a:spLocks noGrp="1"/>
          </p:cNvSpPr>
          <p:nvPr/>
        </p:nvSpPr>
        <p:spPr>
          <a:xfrm>
            <a:off x="10020300" y="3733800"/>
            <a:ext cx="9525" cy="4762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4" name="feature-result-table-cell-3-2">
            <a:extLst>
              <a:ext uri="{FF2B5EF4-FFF2-40B4-BE49-F238E27FC236}">
                <a16:creationId xmlns:a16="http://schemas.microsoft.com/office/drawing/2014/main" id="{79E0DA46-34F7-48EF-AE69-D531931CDDD5}"/>
              </a:ext>
            </a:extLst>
          </p:cNvPr>
          <p:cNvSpPr>
            <a:spLocks noGrp="1"/>
          </p:cNvSpPr>
          <p:nvPr/>
        </p:nvSpPr>
        <p:spPr>
          <a:xfrm>
            <a:off x="10115550" y="3800475"/>
            <a:ext cx="971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0.875</a:t>
            </a:r>
          </a:p>
        </p:txBody>
      </p:sp>
      <p:sp>
        <p:nvSpPr>
          <p:cNvPr id="35" name="rq1-findings-dot-0">
            <a:extLst>
              <a:ext uri="{FF2B5EF4-FFF2-40B4-BE49-F238E27FC236}">
                <a16:creationId xmlns:a16="http://schemas.microsoft.com/office/drawing/2014/main" id="{70C5DE89-B93E-411B-A05B-2644CAF1ADE0}"/>
              </a:ext>
            </a:extLst>
          </p:cNvPr>
          <p:cNvSpPr>
            <a:spLocks noGrp="1"/>
          </p:cNvSpPr>
          <p:nvPr/>
        </p:nvSpPr>
        <p:spPr>
          <a:xfrm>
            <a:off x="7477125" y="435522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buNone/>
              <a:defRPr sz="1500" b="1">
                <a:solidFill>
                  <a:srgbClr val="0B4D63"/>
                </a:solidFill>
              </a:defRPr>
            </a:pPr>
            <a:r>
              <a:rPr sz="1500" b="1">
                <a:solidFill>
                  <a:srgbClr val="0B4D63"/>
                </a:solidFill>
              </a:rPr>
              <a:t>•</a:t>
            </a:r>
          </a:p>
        </p:txBody>
      </p:sp>
      <p:sp>
        <p:nvSpPr>
          <p:cNvPr id="36" name="rq1-findings-title-0">
            <a:extLst>
              <a:ext uri="{FF2B5EF4-FFF2-40B4-BE49-F238E27FC236}">
                <a16:creationId xmlns:a16="http://schemas.microsoft.com/office/drawing/2014/main" id="{325B19B6-F54D-42D6-8C9C-390A97210B55}"/>
              </a:ext>
            </a:extLst>
          </p:cNvPr>
          <p:cNvSpPr>
            <a:spLocks noGrp="1"/>
          </p:cNvSpPr>
          <p:nvPr/>
        </p:nvSpPr>
        <p:spPr>
          <a:xfrm>
            <a:off x="7705725" y="435522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350" b="1">
                <a:solidFill>
                  <a:srgbClr val="0B2F3F"/>
                </a:solidFill>
              </a:defRPr>
            </a:pPr>
            <a:r>
              <a:rPr sz="1350" b="1">
                <a:solidFill>
                  <a:srgbClr val="0B2F3F"/>
                </a:solidFill>
              </a:rPr>
              <a:t>Cytogenetics helps</a:t>
            </a:r>
          </a:p>
        </p:txBody>
      </p:sp>
      <p:sp>
        <p:nvSpPr>
          <p:cNvPr id="37" name="rq1-findings-body-0">
            <a:extLst>
              <a:ext uri="{FF2B5EF4-FFF2-40B4-BE49-F238E27FC236}">
                <a16:creationId xmlns:a16="http://schemas.microsoft.com/office/drawing/2014/main" id="{E6D1E796-3F77-45C2-BCF2-820698850083}"/>
              </a:ext>
            </a:extLst>
          </p:cNvPr>
          <p:cNvSpPr>
            <a:spLocks noGrp="1"/>
          </p:cNvSpPr>
          <p:nvPr/>
        </p:nvSpPr>
        <p:spPr>
          <a:xfrm>
            <a:off x="7705725" y="458382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238">
                <a:solidFill>
                  <a:srgbClr val="314B59"/>
                </a:solidFill>
              </a:defRPr>
            </a:pPr>
            <a:r>
              <a:rPr sz="1238">
                <a:solidFill>
                  <a:srgbClr val="314B59"/>
                </a:solidFill>
              </a:rPr>
              <a:t>Clin+Cyt generally improves over clinical features alone.</a:t>
            </a:r>
          </a:p>
        </p:txBody>
      </p:sp>
      <p:sp>
        <p:nvSpPr>
          <p:cNvPr id="38" name="rq1-findings-dot-1">
            <a:extLst>
              <a:ext uri="{FF2B5EF4-FFF2-40B4-BE49-F238E27FC236}">
                <a16:creationId xmlns:a16="http://schemas.microsoft.com/office/drawing/2014/main" id="{A5EFCC6D-86CA-4989-9554-3D616B9A264E}"/>
              </a:ext>
            </a:extLst>
          </p:cNvPr>
          <p:cNvSpPr>
            <a:spLocks noGrp="1"/>
          </p:cNvSpPr>
          <p:nvPr/>
        </p:nvSpPr>
        <p:spPr>
          <a:xfrm>
            <a:off x="7477125" y="513627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buNone/>
              <a:defRPr sz="1500" b="1">
                <a:solidFill>
                  <a:srgbClr val="B45F2A"/>
                </a:solidFill>
              </a:defRPr>
            </a:pPr>
            <a:r>
              <a:rPr sz="1500" b="1">
                <a:solidFill>
                  <a:srgbClr val="B45F2A"/>
                </a:solidFill>
              </a:rPr>
              <a:t>•</a:t>
            </a:r>
          </a:p>
        </p:txBody>
      </p:sp>
      <p:sp>
        <p:nvSpPr>
          <p:cNvPr id="39" name="rq1-findings-title-1">
            <a:extLst>
              <a:ext uri="{FF2B5EF4-FFF2-40B4-BE49-F238E27FC236}">
                <a16:creationId xmlns:a16="http://schemas.microsoft.com/office/drawing/2014/main" id="{736EE319-0EE7-4510-BFCE-C553944CC79D}"/>
              </a:ext>
            </a:extLst>
          </p:cNvPr>
          <p:cNvSpPr>
            <a:spLocks noGrp="1"/>
          </p:cNvSpPr>
          <p:nvPr/>
        </p:nvSpPr>
        <p:spPr>
          <a:xfrm>
            <a:off x="7705725" y="513627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350" b="1">
                <a:solidFill>
                  <a:srgbClr val="0B2F3F"/>
                </a:solidFill>
              </a:defRPr>
            </a:pPr>
            <a:r>
              <a:rPr sz="1350" b="1">
                <a:solidFill>
                  <a:srgbClr val="0B2F3F"/>
                </a:solidFill>
              </a:rPr>
              <a:t>Molecular genetics helps more</a:t>
            </a:r>
          </a:p>
        </p:txBody>
      </p:sp>
      <p:sp>
        <p:nvSpPr>
          <p:cNvPr id="40" name="rq1-findings-body-1">
            <a:extLst>
              <a:ext uri="{FF2B5EF4-FFF2-40B4-BE49-F238E27FC236}">
                <a16:creationId xmlns:a16="http://schemas.microsoft.com/office/drawing/2014/main" id="{8C7E9A40-44C9-4DC3-81C0-ACCEFAB02137}"/>
              </a:ext>
            </a:extLst>
          </p:cNvPr>
          <p:cNvSpPr>
            <a:spLocks noGrp="1"/>
          </p:cNvSpPr>
          <p:nvPr/>
        </p:nvSpPr>
        <p:spPr>
          <a:xfrm>
            <a:off x="7705725" y="536487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238">
                <a:solidFill>
                  <a:srgbClr val="314B59"/>
                </a:solidFill>
              </a:defRPr>
            </a:pPr>
            <a:r>
              <a:rPr sz="1238">
                <a:solidFill>
                  <a:srgbClr val="314B59"/>
                </a:solidFill>
              </a:rPr>
              <a:t>The top values all use molecular genetic features.</a:t>
            </a:r>
          </a:p>
        </p:txBody>
      </p:sp>
      <p:sp>
        <p:nvSpPr>
          <p:cNvPr id="41" name="takeaway-band">
            <a:extLst>
              <a:ext uri="{FF2B5EF4-FFF2-40B4-BE49-F238E27FC236}">
                <a16:creationId xmlns:a16="http://schemas.microsoft.com/office/drawing/2014/main" id="{8E104B85-6FF4-4409-B82F-8BAE6B645690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820400" cy="55245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2" name="takeaway-label">
            <a:extLst>
              <a:ext uri="{FF2B5EF4-FFF2-40B4-BE49-F238E27FC236}">
                <a16:creationId xmlns:a16="http://schemas.microsoft.com/office/drawing/2014/main" id="{8018B579-22AB-43FE-AAC3-CF333325EB30}"/>
              </a:ext>
            </a:extLst>
          </p:cNvPr>
          <p:cNvSpPr>
            <a:spLocks noGrp="1"/>
          </p:cNvSpPr>
          <p:nvPr/>
        </p:nvSpPr>
        <p:spPr>
          <a:xfrm>
            <a:off x="952500" y="5953125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050" b="1">
                <a:solidFill>
                  <a:srgbClr val="C7E8F2"/>
                </a:solidFill>
              </a:defRPr>
            </a:pPr>
            <a:r>
              <a:rPr sz="1050" b="1">
                <a:solidFill>
                  <a:srgbClr val="C7E8F2"/>
                </a:solidFill>
              </a:rPr>
              <a:t>RQ1 answer</a:t>
            </a:r>
          </a:p>
        </p:txBody>
      </p:sp>
      <p:sp>
        <p:nvSpPr>
          <p:cNvPr id="43" name="takeaway-text">
            <a:extLst>
              <a:ext uri="{FF2B5EF4-FFF2-40B4-BE49-F238E27FC236}">
                <a16:creationId xmlns:a16="http://schemas.microsoft.com/office/drawing/2014/main" id="{9E090DC3-B327-4ACC-B66D-67428C07369C}"/>
              </a:ext>
            </a:extLst>
          </p:cNvPr>
          <p:cNvSpPr>
            <a:spLocks noGrp="1"/>
          </p:cNvSpPr>
          <p:nvPr/>
        </p:nvSpPr>
        <p:spPr>
          <a:xfrm>
            <a:off x="952500" y="6143625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Molecular genetic information is important for maximizing prediction accuracy.</a:t>
            </a:r>
          </a:p>
        </p:txBody>
      </p:sp>
      <p:sp>
        <p:nvSpPr>
          <p:cNvPr id="44" name="footer">
            <a:extLst>
              <a:ext uri="{FF2B5EF4-FFF2-40B4-BE49-F238E27FC236}">
                <a16:creationId xmlns:a16="http://schemas.microsoft.com/office/drawing/2014/main" id="{74BE4899-24B5-4A5D-859B-F8E45CAD84F1}"/>
              </a:ext>
            </a:extLst>
          </p:cNvPr>
          <p:cNvSpPr>
            <a:spLocks noGrp="1"/>
          </p:cNvSpPr>
          <p:nvPr/>
        </p:nvSpPr>
        <p:spPr>
          <a:xfrm>
            <a:off x="8858250" y="65722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r">
              <a:buNone/>
              <a:defRPr sz="750">
                <a:solidFill>
                  <a:srgbClr val="7A8D97"/>
                </a:solidFill>
              </a:defRPr>
            </a:pPr>
            <a:r>
              <a:rPr sz="750">
                <a:solidFill>
                  <a:srgbClr val="7A8D97"/>
                </a:solidFill>
              </a:rPr>
              <a:t>Machine Learning-Based Survival Prediction of Outcomes in MDS</a:t>
            </a:r>
          </a:p>
        </p:txBody>
      </p:sp>
      <p:sp>
        <p:nvSpPr>
          <p:cNvPr id="46" name="source-line-12">
            <a:extLst>
              <a:ext uri="{FF2B5EF4-FFF2-40B4-BE49-F238E27FC236}">
                <a16:creationId xmlns:a16="http://schemas.microsoft.com/office/drawing/2014/main" id="{8149578F-4C29-488C-B0A0-54B97A314F6D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42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defRPr sz="788">
                <a:solidFill>
                  <a:srgbClr val="7A8D97"/>
                </a:solidFill>
              </a:defRPr>
            </a:pPr>
            <a:r>
              <a:rPr sz="788">
                <a:solidFill>
                  <a:srgbClr val="7A8D97"/>
                </a:solidFill>
              </a:rPr>
              <a:t>Sources: [2], [6], [7]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9F7720-A513-1F10-65B7-F3022E9ACE4F}"/>
              </a:ext>
            </a:extLst>
          </p:cNvPr>
          <p:cNvSpPr txBox="1"/>
          <p:nvPr/>
        </p:nvSpPr>
        <p:spPr>
          <a:xfrm rot="16200000">
            <a:off x="361951" y="3471989"/>
            <a:ext cx="6477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2F4653"/>
                </a:solidFill>
              </a:rPr>
              <a:t>C-index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46737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eft-accent-bar">
            <a:extLst>
              <a:ext uri="{FF2B5EF4-FFF2-40B4-BE49-F238E27FC236}">
                <a16:creationId xmlns:a16="http://schemas.microsoft.com/office/drawing/2014/main" id="{6CC69B79-F6A2-41CF-81BC-F45CC6E2CF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op-rule">
            <a:extLst>
              <a:ext uri="{FF2B5EF4-FFF2-40B4-BE49-F238E27FC236}">
                <a16:creationId xmlns:a16="http://schemas.microsoft.com/office/drawing/2014/main" id="{71535E8B-54F4-4CBC-ACDB-E1590F488283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19050"/>
          </a:xfrm>
          <a:prstGeom prst="rect">
            <a:avLst/>
          </a:prstGeom>
          <a:solidFill>
            <a:srgbClr val="DDE8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AAF72D1D-F873-4E0B-B4E2-6E658E1327A1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200" b="1">
                <a:solidFill>
                  <a:srgbClr val="0B4D63"/>
                </a:solidFill>
              </a:defRPr>
            </a:pPr>
            <a:r>
              <a:rPr sz="1200" b="1">
                <a:solidFill>
                  <a:srgbClr val="0B4D63"/>
                </a:solidFill>
              </a:rPr>
              <a:t>RESULTS: RQ2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B27B85C2-0BD5-4FDF-BEE3-39564B462896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2925" b="1">
                <a:solidFill>
                  <a:srgbClr val="0B2F3F"/>
                </a:solidFill>
              </a:defRPr>
            </a:pPr>
            <a:r>
              <a:rPr sz="2925" b="1">
                <a:solidFill>
                  <a:srgbClr val="0B2F3F"/>
                </a:solidFill>
              </a:rPr>
              <a:t>Deep Survival Models Achieve the Strongest Results</a:t>
            </a:r>
          </a:p>
        </p:txBody>
      </p:sp>
      <p:sp>
        <p:nvSpPr>
          <p:cNvPr id="5" name="setup-line">
            <a:extLst>
              <a:ext uri="{FF2B5EF4-FFF2-40B4-BE49-F238E27FC236}">
                <a16:creationId xmlns:a16="http://schemas.microsoft.com/office/drawing/2014/main" id="{8FFD84C4-4D81-40B0-A76A-EC31FAE49F32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144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1650">
                <a:solidFill>
                  <a:srgbClr val="2F4653"/>
                </a:solidFill>
              </a:defRPr>
            </a:pPr>
            <a:r>
              <a:rPr sz="1650">
                <a:solidFill>
                  <a:srgbClr val="2F4653"/>
                </a:solidFill>
              </a:rPr>
              <a:t>The best deep model exceeds the best linear model for each endpoint.</a:t>
            </a:r>
          </a:p>
        </p:txBody>
      </p:sp>
      <p:graphicFrame>
        <p:nvGraphicFramePr>
          <p:cNvPr id="55" name="Chart"/>
          <p:cNvGraphicFramePr/>
          <p:nvPr/>
        </p:nvGraphicFramePr>
        <p:xfrm>
          <a:off x="781050" y="2457450"/>
          <a:ext cx="5905500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best-model-table-bg">
            <a:extLst>
              <a:ext uri="{FF2B5EF4-FFF2-40B4-BE49-F238E27FC236}">
                <a16:creationId xmlns:a16="http://schemas.microsoft.com/office/drawing/2014/main" id="{E157BFF2-32BD-46B2-BA57-C25F0B9D26AB}"/>
              </a:ext>
            </a:extLst>
          </p:cNvPr>
          <p:cNvSpPr>
            <a:spLocks noGrp="1"/>
          </p:cNvSpPr>
          <p:nvPr/>
        </p:nvSpPr>
        <p:spPr>
          <a:xfrm>
            <a:off x="7162800" y="2343150"/>
            <a:ext cx="4572000" cy="1828800"/>
          </a:xfrm>
          <a:prstGeom prst="rect">
            <a:avLst/>
          </a:prstGeom>
          <a:noFill/>
          <a:ln w="9525">
            <a:solidFill>
              <a:srgbClr val="CBDCE3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8" name="best-model-table-header-bg">
            <a:extLst>
              <a:ext uri="{FF2B5EF4-FFF2-40B4-BE49-F238E27FC236}">
                <a16:creationId xmlns:a16="http://schemas.microsoft.com/office/drawing/2014/main" id="{1EE84B79-4B73-440D-A72F-AD92165177EC}"/>
              </a:ext>
            </a:extLst>
          </p:cNvPr>
          <p:cNvSpPr>
            <a:spLocks noGrp="1"/>
          </p:cNvSpPr>
          <p:nvPr/>
        </p:nvSpPr>
        <p:spPr>
          <a:xfrm>
            <a:off x="7162800" y="2343150"/>
            <a:ext cx="4572000" cy="34290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9" name="best-model-table-hline-0">
            <a:extLst>
              <a:ext uri="{FF2B5EF4-FFF2-40B4-BE49-F238E27FC236}">
                <a16:creationId xmlns:a16="http://schemas.microsoft.com/office/drawing/2014/main" id="{E11728DF-ADD9-464F-A18B-05E8A75D8ECE}"/>
              </a:ext>
            </a:extLst>
          </p:cNvPr>
          <p:cNvSpPr>
            <a:spLocks noGrp="1"/>
          </p:cNvSpPr>
          <p:nvPr/>
        </p:nvSpPr>
        <p:spPr>
          <a:xfrm>
            <a:off x="7162800" y="2686050"/>
            <a:ext cx="457200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0" name="best-model-table-cell-0-0">
            <a:extLst>
              <a:ext uri="{FF2B5EF4-FFF2-40B4-BE49-F238E27FC236}">
                <a16:creationId xmlns:a16="http://schemas.microsoft.com/office/drawing/2014/main" id="{8639C6A1-9A8D-4ED2-9EA9-163F9890016D}"/>
              </a:ext>
            </a:extLst>
          </p:cNvPr>
          <p:cNvSpPr>
            <a:spLocks noGrp="1"/>
          </p:cNvSpPr>
          <p:nvPr/>
        </p:nvSpPr>
        <p:spPr>
          <a:xfrm>
            <a:off x="7258050" y="2409825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38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Endpt</a:t>
            </a:r>
          </a:p>
        </p:txBody>
      </p:sp>
      <p:sp>
        <p:nvSpPr>
          <p:cNvPr id="11" name="best-model-table-vline-0-1">
            <a:extLst>
              <a:ext uri="{FF2B5EF4-FFF2-40B4-BE49-F238E27FC236}">
                <a16:creationId xmlns:a16="http://schemas.microsoft.com/office/drawing/2014/main" id="{8F8C7739-CE72-498F-B3E6-3CC0DEDE7F3F}"/>
              </a:ext>
            </a:extLst>
          </p:cNvPr>
          <p:cNvSpPr>
            <a:spLocks noGrp="1"/>
          </p:cNvSpPr>
          <p:nvPr/>
        </p:nvSpPr>
        <p:spPr>
          <a:xfrm>
            <a:off x="8115300" y="2343150"/>
            <a:ext cx="9525" cy="3429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2" name="best-model-table-cell-0-1">
            <a:extLst>
              <a:ext uri="{FF2B5EF4-FFF2-40B4-BE49-F238E27FC236}">
                <a16:creationId xmlns:a16="http://schemas.microsoft.com/office/drawing/2014/main" id="{2E9190C9-0870-4EB1-85BC-27C7B661DFB6}"/>
              </a:ext>
            </a:extLst>
          </p:cNvPr>
          <p:cNvSpPr>
            <a:spLocks noGrp="1"/>
          </p:cNvSpPr>
          <p:nvPr/>
        </p:nvSpPr>
        <p:spPr>
          <a:xfrm>
            <a:off x="8210550" y="2409825"/>
            <a:ext cx="15906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38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Best model + features</a:t>
            </a:r>
          </a:p>
        </p:txBody>
      </p:sp>
      <p:sp>
        <p:nvSpPr>
          <p:cNvPr id="13" name="best-model-table-vline-0-2">
            <a:extLst>
              <a:ext uri="{FF2B5EF4-FFF2-40B4-BE49-F238E27FC236}">
                <a16:creationId xmlns:a16="http://schemas.microsoft.com/office/drawing/2014/main" id="{6097EB5A-E2C9-4A9A-9040-A57905C365B8}"/>
              </a:ext>
            </a:extLst>
          </p:cNvPr>
          <p:cNvSpPr>
            <a:spLocks noGrp="1"/>
          </p:cNvSpPr>
          <p:nvPr/>
        </p:nvSpPr>
        <p:spPr>
          <a:xfrm>
            <a:off x="9877425" y="2343150"/>
            <a:ext cx="9525" cy="3429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4" name="best-model-table-cell-0-2">
            <a:extLst>
              <a:ext uri="{FF2B5EF4-FFF2-40B4-BE49-F238E27FC236}">
                <a16:creationId xmlns:a16="http://schemas.microsoft.com/office/drawing/2014/main" id="{F289EDDD-4C54-420F-A1E7-5642A7381AED}"/>
              </a:ext>
            </a:extLst>
          </p:cNvPr>
          <p:cNvSpPr>
            <a:spLocks noGrp="1"/>
          </p:cNvSpPr>
          <p:nvPr/>
        </p:nvSpPr>
        <p:spPr>
          <a:xfrm>
            <a:off x="9972675" y="2409825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38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C-index</a:t>
            </a:r>
          </a:p>
        </p:txBody>
      </p:sp>
      <p:sp>
        <p:nvSpPr>
          <p:cNvPr id="15" name="best-model-table-vline-0-3">
            <a:extLst>
              <a:ext uri="{FF2B5EF4-FFF2-40B4-BE49-F238E27FC236}">
                <a16:creationId xmlns:a16="http://schemas.microsoft.com/office/drawing/2014/main" id="{B94C602D-652B-49FB-81BB-EA00EB5276B2}"/>
              </a:ext>
            </a:extLst>
          </p:cNvPr>
          <p:cNvSpPr>
            <a:spLocks noGrp="1"/>
          </p:cNvSpPr>
          <p:nvPr/>
        </p:nvSpPr>
        <p:spPr>
          <a:xfrm>
            <a:off x="10925175" y="2343150"/>
            <a:ext cx="9525" cy="3429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6" name="best-model-table-cell-0-3">
            <a:extLst>
              <a:ext uri="{FF2B5EF4-FFF2-40B4-BE49-F238E27FC236}">
                <a16:creationId xmlns:a16="http://schemas.microsoft.com/office/drawing/2014/main" id="{BA3C0762-E7F8-4E58-B6E2-BB0EA0B411E3}"/>
              </a:ext>
            </a:extLst>
          </p:cNvPr>
          <p:cNvSpPr>
            <a:spLocks noGrp="1"/>
          </p:cNvSpPr>
          <p:nvPr/>
        </p:nvSpPr>
        <p:spPr>
          <a:xfrm>
            <a:off x="11020425" y="2409825"/>
            <a:ext cx="6381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38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Gain</a:t>
            </a:r>
          </a:p>
        </p:txBody>
      </p:sp>
      <p:sp>
        <p:nvSpPr>
          <p:cNvPr id="17" name="best-model-table-hline-1">
            <a:extLst>
              <a:ext uri="{FF2B5EF4-FFF2-40B4-BE49-F238E27FC236}">
                <a16:creationId xmlns:a16="http://schemas.microsoft.com/office/drawing/2014/main" id="{809874A7-B35D-470A-A1F8-21025153382C}"/>
              </a:ext>
            </a:extLst>
          </p:cNvPr>
          <p:cNvSpPr>
            <a:spLocks noGrp="1"/>
          </p:cNvSpPr>
          <p:nvPr/>
        </p:nvSpPr>
        <p:spPr>
          <a:xfrm>
            <a:off x="7162800" y="3181350"/>
            <a:ext cx="457200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8" name="best-model-table-cell-1-0">
            <a:extLst>
              <a:ext uri="{FF2B5EF4-FFF2-40B4-BE49-F238E27FC236}">
                <a16:creationId xmlns:a16="http://schemas.microsoft.com/office/drawing/2014/main" id="{17E8FA78-B31B-4590-B691-245886F02471}"/>
              </a:ext>
            </a:extLst>
          </p:cNvPr>
          <p:cNvSpPr>
            <a:spLocks noGrp="1"/>
          </p:cNvSpPr>
          <p:nvPr/>
        </p:nvSpPr>
        <p:spPr>
          <a:xfrm>
            <a:off x="7258050" y="2752725"/>
            <a:ext cx="781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B45F2A"/>
                </a:solidFill>
              </a:defRPr>
            </a:pPr>
            <a:r>
              <a:rPr sz="1200" b="1">
                <a:solidFill>
                  <a:srgbClr val="B45F2A"/>
                </a:solidFill>
              </a:rPr>
              <a:t>OS</a:t>
            </a:r>
          </a:p>
        </p:txBody>
      </p:sp>
      <p:sp>
        <p:nvSpPr>
          <p:cNvPr id="19" name="best-model-table-vline-1-1">
            <a:extLst>
              <a:ext uri="{FF2B5EF4-FFF2-40B4-BE49-F238E27FC236}">
                <a16:creationId xmlns:a16="http://schemas.microsoft.com/office/drawing/2014/main" id="{C824C69C-C04A-4BDF-B76B-AF0B4A0C8A1C}"/>
              </a:ext>
            </a:extLst>
          </p:cNvPr>
          <p:cNvSpPr>
            <a:spLocks noGrp="1"/>
          </p:cNvSpPr>
          <p:nvPr/>
        </p:nvSpPr>
        <p:spPr>
          <a:xfrm>
            <a:off x="8115300" y="2686050"/>
            <a:ext cx="9525" cy="4953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0" name="best-model-table-cell-1-1">
            <a:extLst>
              <a:ext uri="{FF2B5EF4-FFF2-40B4-BE49-F238E27FC236}">
                <a16:creationId xmlns:a16="http://schemas.microsoft.com/office/drawing/2014/main" id="{11860A93-14EF-404F-9F31-E9F58A819B17}"/>
              </a:ext>
            </a:extLst>
          </p:cNvPr>
          <p:cNvSpPr>
            <a:spLocks noGrp="1"/>
          </p:cNvSpPr>
          <p:nvPr/>
        </p:nvSpPr>
        <p:spPr>
          <a:xfrm>
            <a:off x="8210550" y="2752725"/>
            <a:ext cx="15906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N-MTLR + All</a:t>
            </a:r>
          </a:p>
        </p:txBody>
      </p:sp>
      <p:sp>
        <p:nvSpPr>
          <p:cNvPr id="21" name="best-model-table-vline-1-2">
            <a:extLst>
              <a:ext uri="{FF2B5EF4-FFF2-40B4-BE49-F238E27FC236}">
                <a16:creationId xmlns:a16="http://schemas.microsoft.com/office/drawing/2014/main" id="{3F27D5ED-2E91-42F8-8C6D-96F30730281F}"/>
              </a:ext>
            </a:extLst>
          </p:cNvPr>
          <p:cNvSpPr>
            <a:spLocks noGrp="1"/>
          </p:cNvSpPr>
          <p:nvPr/>
        </p:nvSpPr>
        <p:spPr>
          <a:xfrm>
            <a:off x="9877425" y="2686050"/>
            <a:ext cx="9525" cy="4953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2" name="best-model-table-cell-1-2">
            <a:extLst>
              <a:ext uri="{FF2B5EF4-FFF2-40B4-BE49-F238E27FC236}">
                <a16:creationId xmlns:a16="http://schemas.microsoft.com/office/drawing/2014/main" id="{A2242A4E-C1E6-4E73-AC24-220A9C77E256}"/>
              </a:ext>
            </a:extLst>
          </p:cNvPr>
          <p:cNvSpPr>
            <a:spLocks noGrp="1"/>
          </p:cNvSpPr>
          <p:nvPr/>
        </p:nvSpPr>
        <p:spPr>
          <a:xfrm>
            <a:off x="9972675" y="2752725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0.777</a:t>
            </a:r>
          </a:p>
        </p:txBody>
      </p:sp>
      <p:sp>
        <p:nvSpPr>
          <p:cNvPr id="23" name="best-model-table-vline-1-3">
            <a:extLst>
              <a:ext uri="{FF2B5EF4-FFF2-40B4-BE49-F238E27FC236}">
                <a16:creationId xmlns:a16="http://schemas.microsoft.com/office/drawing/2014/main" id="{7A99F0A4-5142-4F73-87F1-08FF2A809743}"/>
              </a:ext>
            </a:extLst>
          </p:cNvPr>
          <p:cNvSpPr>
            <a:spLocks noGrp="1"/>
          </p:cNvSpPr>
          <p:nvPr/>
        </p:nvSpPr>
        <p:spPr>
          <a:xfrm>
            <a:off x="10925175" y="2686050"/>
            <a:ext cx="9525" cy="4953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4" name="best-model-table-cell-1-3">
            <a:extLst>
              <a:ext uri="{FF2B5EF4-FFF2-40B4-BE49-F238E27FC236}">
                <a16:creationId xmlns:a16="http://schemas.microsoft.com/office/drawing/2014/main" id="{7676D956-CC59-495A-909A-DF812EE163C0}"/>
              </a:ext>
            </a:extLst>
          </p:cNvPr>
          <p:cNvSpPr>
            <a:spLocks noGrp="1"/>
          </p:cNvSpPr>
          <p:nvPr/>
        </p:nvSpPr>
        <p:spPr>
          <a:xfrm>
            <a:off x="11020425" y="2752725"/>
            <a:ext cx="6381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+0.054</a:t>
            </a:r>
          </a:p>
        </p:txBody>
      </p:sp>
      <p:sp>
        <p:nvSpPr>
          <p:cNvPr id="25" name="best-model-table-stripe-2">
            <a:extLst>
              <a:ext uri="{FF2B5EF4-FFF2-40B4-BE49-F238E27FC236}">
                <a16:creationId xmlns:a16="http://schemas.microsoft.com/office/drawing/2014/main" id="{A082507F-B58E-4541-B99B-2B0F52669ADC}"/>
              </a:ext>
            </a:extLst>
          </p:cNvPr>
          <p:cNvSpPr>
            <a:spLocks noGrp="1"/>
          </p:cNvSpPr>
          <p:nvPr/>
        </p:nvSpPr>
        <p:spPr>
          <a:xfrm>
            <a:off x="7162800" y="3181350"/>
            <a:ext cx="4572000" cy="495300"/>
          </a:xfrm>
          <a:prstGeom prst="rect">
            <a:avLst/>
          </a:prstGeom>
          <a:solidFill>
            <a:srgbClr val="F1F6F8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6" name="best-model-table-hline-2">
            <a:extLst>
              <a:ext uri="{FF2B5EF4-FFF2-40B4-BE49-F238E27FC236}">
                <a16:creationId xmlns:a16="http://schemas.microsoft.com/office/drawing/2014/main" id="{B75E49C5-DDAB-4215-8D25-27789B681C3E}"/>
              </a:ext>
            </a:extLst>
          </p:cNvPr>
          <p:cNvSpPr>
            <a:spLocks noGrp="1"/>
          </p:cNvSpPr>
          <p:nvPr/>
        </p:nvSpPr>
        <p:spPr>
          <a:xfrm>
            <a:off x="7162800" y="3676650"/>
            <a:ext cx="457200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7" name="best-model-table-cell-2-0">
            <a:extLst>
              <a:ext uri="{FF2B5EF4-FFF2-40B4-BE49-F238E27FC236}">
                <a16:creationId xmlns:a16="http://schemas.microsoft.com/office/drawing/2014/main" id="{B58C8E44-98E3-47D4-8048-0CF9FF657682}"/>
              </a:ext>
            </a:extLst>
          </p:cNvPr>
          <p:cNvSpPr>
            <a:spLocks noGrp="1"/>
          </p:cNvSpPr>
          <p:nvPr/>
        </p:nvSpPr>
        <p:spPr>
          <a:xfrm>
            <a:off x="7258050" y="3248025"/>
            <a:ext cx="781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B45F2A"/>
                </a:solidFill>
              </a:defRPr>
            </a:pPr>
            <a:r>
              <a:rPr sz="1200" b="1">
                <a:solidFill>
                  <a:srgbClr val="B45F2A"/>
                </a:solidFill>
              </a:rPr>
              <a:t>LFS</a:t>
            </a:r>
          </a:p>
        </p:txBody>
      </p:sp>
      <p:sp>
        <p:nvSpPr>
          <p:cNvPr id="28" name="best-model-table-vline-2-1">
            <a:extLst>
              <a:ext uri="{FF2B5EF4-FFF2-40B4-BE49-F238E27FC236}">
                <a16:creationId xmlns:a16="http://schemas.microsoft.com/office/drawing/2014/main" id="{42FD7D87-52A6-4FA6-A2DC-E6E86EFD0767}"/>
              </a:ext>
            </a:extLst>
          </p:cNvPr>
          <p:cNvSpPr>
            <a:spLocks noGrp="1"/>
          </p:cNvSpPr>
          <p:nvPr/>
        </p:nvSpPr>
        <p:spPr>
          <a:xfrm>
            <a:off x="8115300" y="3181350"/>
            <a:ext cx="9525" cy="4953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9" name="best-model-table-cell-2-1">
            <a:extLst>
              <a:ext uri="{FF2B5EF4-FFF2-40B4-BE49-F238E27FC236}">
                <a16:creationId xmlns:a16="http://schemas.microsoft.com/office/drawing/2014/main" id="{9E3E0C41-8D92-46BA-B82D-0DCE942F029C}"/>
              </a:ext>
            </a:extLst>
          </p:cNvPr>
          <p:cNvSpPr>
            <a:spLocks noGrp="1"/>
          </p:cNvSpPr>
          <p:nvPr/>
        </p:nvSpPr>
        <p:spPr>
          <a:xfrm>
            <a:off x="8210550" y="3248025"/>
            <a:ext cx="15906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DeepSurv + Clin+MG</a:t>
            </a:r>
          </a:p>
        </p:txBody>
      </p:sp>
      <p:sp>
        <p:nvSpPr>
          <p:cNvPr id="30" name="best-model-table-vline-2-2">
            <a:extLst>
              <a:ext uri="{FF2B5EF4-FFF2-40B4-BE49-F238E27FC236}">
                <a16:creationId xmlns:a16="http://schemas.microsoft.com/office/drawing/2014/main" id="{ED9D7C65-6DDB-44DB-AF24-5A95BB371609}"/>
              </a:ext>
            </a:extLst>
          </p:cNvPr>
          <p:cNvSpPr>
            <a:spLocks noGrp="1"/>
          </p:cNvSpPr>
          <p:nvPr/>
        </p:nvSpPr>
        <p:spPr>
          <a:xfrm>
            <a:off x="9877425" y="3181350"/>
            <a:ext cx="9525" cy="4953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1" name="best-model-table-cell-2-2">
            <a:extLst>
              <a:ext uri="{FF2B5EF4-FFF2-40B4-BE49-F238E27FC236}">
                <a16:creationId xmlns:a16="http://schemas.microsoft.com/office/drawing/2014/main" id="{FABB0C0C-34B5-42A5-8048-7DC4F37D9EC4}"/>
              </a:ext>
            </a:extLst>
          </p:cNvPr>
          <p:cNvSpPr>
            <a:spLocks noGrp="1"/>
          </p:cNvSpPr>
          <p:nvPr/>
        </p:nvSpPr>
        <p:spPr>
          <a:xfrm>
            <a:off x="9972675" y="3248025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0.793</a:t>
            </a:r>
          </a:p>
        </p:txBody>
      </p:sp>
      <p:sp>
        <p:nvSpPr>
          <p:cNvPr id="32" name="best-model-table-vline-2-3">
            <a:extLst>
              <a:ext uri="{FF2B5EF4-FFF2-40B4-BE49-F238E27FC236}">
                <a16:creationId xmlns:a16="http://schemas.microsoft.com/office/drawing/2014/main" id="{8AAC39B2-9CEC-429A-9AE9-DEE1D99C41C5}"/>
              </a:ext>
            </a:extLst>
          </p:cNvPr>
          <p:cNvSpPr>
            <a:spLocks noGrp="1"/>
          </p:cNvSpPr>
          <p:nvPr/>
        </p:nvSpPr>
        <p:spPr>
          <a:xfrm>
            <a:off x="10925175" y="3181350"/>
            <a:ext cx="9525" cy="4953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3" name="best-model-table-cell-2-3">
            <a:extLst>
              <a:ext uri="{FF2B5EF4-FFF2-40B4-BE49-F238E27FC236}">
                <a16:creationId xmlns:a16="http://schemas.microsoft.com/office/drawing/2014/main" id="{7455B98A-A958-467B-8CA9-4FB3EA296FEB}"/>
              </a:ext>
            </a:extLst>
          </p:cNvPr>
          <p:cNvSpPr>
            <a:spLocks noGrp="1"/>
          </p:cNvSpPr>
          <p:nvPr/>
        </p:nvSpPr>
        <p:spPr>
          <a:xfrm>
            <a:off x="11020425" y="3248025"/>
            <a:ext cx="6381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+0.066</a:t>
            </a:r>
          </a:p>
        </p:txBody>
      </p:sp>
      <p:sp>
        <p:nvSpPr>
          <p:cNvPr id="34" name="best-model-table-hline-3">
            <a:extLst>
              <a:ext uri="{FF2B5EF4-FFF2-40B4-BE49-F238E27FC236}">
                <a16:creationId xmlns:a16="http://schemas.microsoft.com/office/drawing/2014/main" id="{F63A68F6-051D-44F3-A0E7-3B8CF810DB81}"/>
              </a:ext>
            </a:extLst>
          </p:cNvPr>
          <p:cNvSpPr>
            <a:spLocks noGrp="1"/>
          </p:cNvSpPr>
          <p:nvPr/>
        </p:nvSpPr>
        <p:spPr>
          <a:xfrm>
            <a:off x="7162800" y="4171950"/>
            <a:ext cx="457200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5" name="best-model-table-cell-3-0">
            <a:extLst>
              <a:ext uri="{FF2B5EF4-FFF2-40B4-BE49-F238E27FC236}">
                <a16:creationId xmlns:a16="http://schemas.microsoft.com/office/drawing/2014/main" id="{D25CB9C2-4B3D-444C-AAD3-520F31B0465E}"/>
              </a:ext>
            </a:extLst>
          </p:cNvPr>
          <p:cNvSpPr>
            <a:spLocks noGrp="1"/>
          </p:cNvSpPr>
          <p:nvPr/>
        </p:nvSpPr>
        <p:spPr>
          <a:xfrm>
            <a:off x="7258050" y="3743325"/>
            <a:ext cx="781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B45F2A"/>
                </a:solidFill>
              </a:defRPr>
            </a:pPr>
            <a:r>
              <a:rPr sz="1200" b="1">
                <a:solidFill>
                  <a:srgbClr val="B45F2A"/>
                </a:solidFill>
              </a:rPr>
              <a:t>AMLt</a:t>
            </a:r>
          </a:p>
        </p:txBody>
      </p:sp>
      <p:sp>
        <p:nvSpPr>
          <p:cNvPr id="36" name="best-model-table-vline-3-1">
            <a:extLst>
              <a:ext uri="{FF2B5EF4-FFF2-40B4-BE49-F238E27FC236}">
                <a16:creationId xmlns:a16="http://schemas.microsoft.com/office/drawing/2014/main" id="{28CA42DB-76AA-4C2C-A374-A063026E8A07}"/>
              </a:ext>
            </a:extLst>
          </p:cNvPr>
          <p:cNvSpPr>
            <a:spLocks noGrp="1"/>
          </p:cNvSpPr>
          <p:nvPr/>
        </p:nvSpPr>
        <p:spPr>
          <a:xfrm>
            <a:off x="8115300" y="3676650"/>
            <a:ext cx="9525" cy="4953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7" name="best-model-table-cell-3-1">
            <a:extLst>
              <a:ext uri="{FF2B5EF4-FFF2-40B4-BE49-F238E27FC236}">
                <a16:creationId xmlns:a16="http://schemas.microsoft.com/office/drawing/2014/main" id="{E0C068DD-B4C6-4923-935E-CEA9E5F11B3F}"/>
              </a:ext>
            </a:extLst>
          </p:cNvPr>
          <p:cNvSpPr>
            <a:spLocks noGrp="1"/>
          </p:cNvSpPr>
          <p:nvPr/>
        </p:nvSpPr>
        <p:spPr>
          <a:xfrm>
            <a:off x="8210550" y="3743325"/>
            <a:ext cx="15906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N-MTLR + All</a:t>
            </a:r>
          </a:p>
        </p:txBody>
      </p:sp>
      <p:sp>
        <p:nvSpPr>
          <p:cNvPr id="38" name="best-model-table-vline-3-2">
            <a:extLst>
              <a:ext uri="{FF2B5EF4-FFF2-40B4-BE49-F238E27FC236}">
                <a16:creationId xmlns:a16="http://schemas.microsoft.com/office/drawing/2014/main" id="{1CFC2FC3-F3DB-48D3-B5FF-C833DE3F5250}"/>
              </a:ext>
            </a:extLst>
          </p:cNvPr>
          <p:cNvSpPr>
            <a:spLocks noGrp="1"/>
          </p:cNvSpPr>
          <p:nvPr/>
        </p:nvSpPr>
        <p:spPr>
          <a:xfrm>
            <a:off x="9877425" y="3676650"/>
            <a:ext cx="9525" cy="4953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9" name="best-model-table-cell-3-2">
            <a:extLst>
              <a:ext uri="{FF2B5EF4-FFF2-40B4-BE49-F238E27FC236}">
                <a16:creationId xmlns:a16="http://schemas.microsoft.com/office/drawing/2014/main" id="{1F0953BB-B61D-4D32-BDA2-5444194957B4}"/>
              </a:ext>
            </a:extLst>
          </p:cNvPr>
          <p:cNvSpPr>
            <a:spLocks noGrp="1"/>
          </p:cNvSpPr>
          <p:nvPr/>
        </p:nvSpPr>
        <p:spPr>
          <a:xfrm>
            <a:off x="9972675" y="3743325"/>
            <a:ext cx="876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0.875</a:t>
            </a:r>
          </a:p>
        </p:txBody>
      </p:sp>
      <p:sp>
        <p:nvSpPr>
          <p:cNvPr id="40" name="best-model-table-vline-3-3">
            <a:extLst>
              <a:ext uri="{FF2B5EF4-FFF2-40B4-BE49-F238E27FC236}">
                <a16:creationId xmlns:a16="http://schemas.microsoft.com/office/drawing/2014/main" id="{CAE443BD-C889-4055-BBBE-818305FCF6CC}"/>
              </a:ext>
            </a:extLst>
          </p:cNvPr>
          <p:cNvSpPr>
            <a:spLocks noGrp="1"/>
          </p:cNvSpPr>
          <p:nvPr/>
        </p:nvSpPr>
        <p:spPr>
          <a:xfrm>
            <a:off x="10925175" y="3676650"/>
            <a:ext cx="9525" cy="4953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1" name="best-model-table-cell-3-3">
            <a:extLst>
              <a:ext uri="{FF2B5EF4-FFF2-40B4-BE49-F238E27FC236}">
                <a16:creationId xmlns:a16="http://schemas.microsoft.com/office/drawing/2014/main" id="{40BFD271-AEA7-444E-933E-606706EDFECE}"/>
              </a:ext>
            </a:extLst>
          </p:cNvPr>
          <p:cNvSpPr>
            <a:spLocks noGrp="1"/>
          </p:cNvSpPr>
          <p:nvPr/>
        </p:nvSpPr>
        <p:spPr>
          <a:xfrm>
            <a:off x="11020425" y="3743325"/>
            <a:ext cx="6381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+0.051</a:t>
            </a:r>
          </a:p>
        </p:txBody>
      </p:sp>
      <p:sp>
        <p:nvSpPr>
          <p:cNvPr id="42" name="model-result-note">
            <a:extLst>
              <a:ext uri="{FF2B5EF4-FFF2-40B4-BE49-F238E27FC236}">
                <a16:creationId xmlns:a16="http://schemas.microsoft.com/office/drawing/2014/main" id="{56B09878-B0C9-4A69-BF6D-A73B6B9EEA8A}"/>
              </a:ext>
            </a:extLst>
          </p:cNvPr>
          <p:cNvSpPr>
            <a:spLocks noGrp="1"/>
          </p:cNvSpPr>
          <p:nvPr/>
        </p:nvSpPr>
        <p:spPr>
          <a:xfrm>
            <a:off x="7239000" y="4238625"/>
            <a:ext cx="3619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350" b="1">
                <a:solidFill>
                  <a:srgbClr val="0B2F3F"/>
                </a:solidFill>
              </a:defRPr>
            </a:pPr>
            <a:r>
              <a:rPr sz="1350" b="1">
                <a:solidFill>
                  <a:srgbClr val="0B2F3F"/>
                </a:solidFill>
              </a:rPr>
              <a:t>DeepSurv performs best for LFS, while N-MTLR leads OS and AML transformation.</a:t>
            </a:r>
          </a:p>
        </p:txBody>
      </p:sp>
      <p:sp>
        <p:nvSpPr>
          <p:cNvPr id="43" name="linear-note">
            <a:extLst>
              <a:ext uri="{FF2B5EF4-FFF2-40B4-BE49-F238E27FC236}">
                <a16:creationId xmlns:a16="http://schemas.microsoft.com/office/drawing/2014/main" id="{0EDF5FDD-CF92-440A-A0BA-0D04D876752A}"/>
              </a:ext>
            </a:extLst>
          </p:cNvPr>
          <p:cNvSpPr>
            <a:spLocks noGrp="1"/>
          </p:cNvSpPr>
          <p:nvPr/>
        </p:nvSpPr>
        <p:spPr>
          <a:xfrm>
            <a:off x="7239000" y="4895850"/>
            <a:ext cx="361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200">
                <a:solidFill>
                  <a:srgbClr val="314B59"/>
                </a:solidFill>
              </a:defRPr>
            </a:pPr>
            <a:r>
              <a:rPr sz="1200">
                <a:solidFill>
                  <a:srgbClr val="314B59"/>
                </a:solidFill>
              </a:rPr>
              <a:t>Linear models remain useful baselines, but the top results come from nonlinear survival models.</a:t>
            </a:r>
          </a:p>
        </p:txBody>
      </p:sp>
      <p:sp>
        <p:nvSpPr>
          <p:cNvPr id="44" name="takeaway-band">
            <a:extLst>
              <a:ext uri="{FF2B5EF4-FFF2-40B4-BE49-F238E27FC236}">
                <a16:creationId xmlns:a16="http://schemas.microsoft.com/office/drawing/2014/main" id="{09AF7C3D-902E-431E-A2EC-07847E087229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820400" cy="55245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5" name="takeaway-label">
            <a:extLst>
              <a:ext uri="{FF2B5EF4-FFF2-40B4-BE49-F238E27FC236}">
                <a16:creationId xmlns:a16="http://schemas.microsoft.com/office/drawing/2014/main" id="{B9A8AA70-8AF4-4116-8DEC-7E28B5CB0B5C}"/>
              </a:ext>
            </a:extLst>
          </p:cNvPr>
          <p:cNvSpPr>
            <a:spLocks noGrp="1"/>
          </p:cNvSpPr>
          <p:nvPr/>
        </p:nvSpPr>
        <p:spPr>
          <a:xfrm>
            <a:off x="952500" y="5953125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050" b="1">
                <a:solidFill>
                  <a:srgbClr val="C7E8F2"/>
                </a:solidFill>
              </a:defRPr>
            </a:pPr>
            <a:r>
              <a:rPr sz="1050" b="1">
                <a:solidFill>
                  <a:srgbClr val="C7E8F2"/>
                </a:solidFill>
              </a:rPr>
              <a:t>RQ2 answer</a:t>
            </a:r>
          </a:p>
        </p:txBody>
      </p:sp>
      <p:sp>
        <p:nvSpPr>
          <p:cNvPr id="46" name="takeaway-text">
            <a:extLst>
              <a:ext uri="{FF2B5EF4-FFF2-40B4-BE49-F238E27FC236}">
                <a16:creationId xmlns:a16="http://schemas.microsoft.com/office/drawing/2014/main" id="{A11E8728-1AE6-41DA-8E47-DD2E8C6E38AC}"/>
              </a:ext>
            </a:extLst>
          </p:cNvPr>
          <p:cNvSpPr>
            <a:spLocks noGrp="1"/>
          </p:cNvSpPr>
          <p:nvPr/>
        </p:nvSpPr>
        <p:spPr>
          <a:xfrm>
            <a:off x="952500" y="6143625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DeepSurv and N-MTLR are the strongest model families in this experiment.</a:t>
            </a:r>
          </a:p>
        </p:txBody>
      </p:sp>
      <p:sp>
        <p:nvSpPr>
          <p:cNvPr id="47" name="footer">
            <a:extLst>
              <a:ext uri="{FF2B5EF4-FFF2-40B4-BE49-F238E27FC236}">
                <a16:creationId xmlns:a16="http://schemas.microsoft.com/office/drawing/2014/main" id="{81CF72A1-5816-4E0C-B60E-28E46FDA6331}"/>
              </a:ext>
            </a:extLst>
          </p:cNvPr>
          <p:cNvSpPr>
            <a:spLocks noGrp="1"/>
          </p:cNvSpPr>
          <p:nvPr/>
        </p:nvSpPr>
        <p:spPr>
          <a:xfrm>
            <a:off x="8858250" y="65722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r">
              <a:buNone/>
              <a:defRPr sz="750">
                <a:solidFill>
                  <a:srgbClr val="7A8D97"/>
                </a:solidFill>
              </a:defRPr>
            </a:pPr>
            <a:r>
              <a:rPr sz="750">
                <a:solidFill>
                  <a:srgbClr val="7A8D97"/>
                </a:solidFill>
              </a:rPr>
              <a:t>Machine Learning-Based Survival Prediction of Outcomes in MDS</a:t>
            </a:r>
          </a:p>
        </p:txBody>
      </p:sp>
      <p:sp>
        <p:nvSpPr>
          <p:cNvPr id="49" name="source-line-13">
            <a:extLst>
              <a:ext uri="{FF2B5EF4-FFF2-40B4-BE49-F238E27FC236}">
                <a16:creationId xmlns:a16="http://schemas.microsoft.com/office/drawing/2014/main" id="{C203D8BB-6464-4DED-A421-E0AE85363DD7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42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defRPr sz="788">
                <a:solidFill>
                  <a:srgbClr val="7A8D97"/>
                </a:solidFill>
              </a:defRPr>
            </a:pPr>
            <a:r>
              <a:rPr sz="788">
                <a:solidFill>
                  <a:srgbClr val="7A8D97"/>
                </a:solidFill>
              </a:rPr>
              <a:t>Sources: [3], [7], [8], [9], [10], [12], [14], [16]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15F06F3-3E94-1A26-A2AF-C04EFE33DE8A}"/>
              </a:ext>
            </a:extLst>
          </p:cNvPr>
          <p:cNvSpPr txBox="1"/>
          <p:nvPr/>
        </p:nvSpPr>
        <p:spPr>
          <a:xfrm rot="16200000">
            <a:off x="361951" y="3471989"/>
            <a:ext cx="6477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2F4653"/>
                </a:solidFill>
              </a:rPr>
              <a:t>C-index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46737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eft-accent-bar">
            <a:extLst>
              <a:ext uri="{FF2B5EF4-FFF2-40B4-BE49-F238E27FC236}">
                <a16:creationId xmlns:a16="http://schemas.microsoft.com/office/drawing/2014/main" id="{02E584D0-A688-481F-ACAC-669E5CF153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op-rule">
            <a:extLst>
              <a:ext uri="{FF2B5EF4-FFF2-40B4-BE49-F238E27FC236}">
                <a16:creationId xmlns:a16="http://schemas.microsoft.com/office/drawing/2014/main" id="{57E004DA-D213-4184-B906-36D7338D107C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19050"/>
          </a:xfrm>
          <a:prstGeom prst="rect">
            <a:avLst/>
          </a:prstGeom>
          <a:solidFill>
            <a:srgbClr val="DDE8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32C9F9C8-812A-400C-9652-185B56275877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200" b="1">
                <a:solidFill>
                  <a:srgbClr val="0B4D63"/>
                </a:solidFill>
              </a:defRPr>
            </a:pPr>
            <a:r>
              <a:rPr sz="1200" b="1">
                <a:solidFill>
                  <a:srgbClr val="0B4D63"/>
                </a:solidFill>
              </a:rPr>
              <a:t>RESULTS: RQ3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AB0C2174-E40B-4D37-9B39-7C334DC359DA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2925" b="1">
                <a:solidFill>
                  <a:srgbClr val="0B2F3F"/>
                </a:solidFill>
              </a:defRPr>
            </a:pPr>
            <a:r>
              <a:rPr sz="2925" b="1">
                <a:solidFill>
                  <a:srgbClr val="0B2F3F"/>
                </a:solidFill>
              </a:rPr>
              <a:t>Best ML Models Outperform IPSS-M</a:t>
            </a:r>
          </a:p>
        </p:txBody>
      </p:sp>
      <p:sp>
        <p:nvSpPr>
          <p:cNvPr id="5" name="setup-line">
            <a:extLst>
              <a:ext uri="{FF2B5EF4-FFF2-40B4-BE49-F238E27FC236}">
                <a16:creationId xmlns:a16="http://schemas.microsoft.com/office/drawing/2014/main" id="{C1CD17EC-930B-4450-B988-F1AA9C29117D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144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1650">
                <a:solidFill>
                  <a:srgbClr val="2F4653"/>
                </a:solidFill>
              </a:defRPr>
            </a:pPr>
            <a:r>
              <a:rPr sz="1650">
                <a:solidFill>
                  <a:srgbClr val="2F4653"/>
                </a:solidFill>
              </a:rPr>
              <a:t>Compared with IPSS-M, the best ML models improve C-index across all three endpoints.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="781050" y="2457450"/>
          <a:ext cx="5810250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ipss-table-bg">
            <a:extLst>
              <a:ext uri="{FF2B5EF4-FFF2-40B4-BE49-F238E27FC236}">
                <a16:creationId xmlns:a16="http://schemas.microsoft.com/office/drawing/2014/main" id="{96050558-9253-4726-BF6C-560EED7CD7B8}"/>
              </a:ext>
            </a:extLst>
          </p:cNvPr>
          <p:cNvSpPr>
            <a:spLocks noGrp="1"/>
          </p:cNvSpPr>
          <p:nvPr/>
        </p:nvSpPr>
        <p:spPr>
          <a:xfrm>
            <a:off x="7096125" y="2343150"/>
            <a:ext cx="4019550" cy="1771650"/>
          </a:xfrm>
          <a:prstGeom prst="rect">
            <a:avLst/>
          </a:prstGeom>
          <a:noFill/>
          <a:ln w="9525">
            <a:solidFill>
              <a:srgbClr val="CBD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ipss-table-header-bg">
            <a:extLst>
              <a:ext uri="{FF2B5EF4-FFF2-40B4-BE49-F238E27FC236}">
                <a16:creationId xmlns:a16="http://schemas.microsoft.com/office/drawing/2014/main" id="{BC54FB73-7724-4817-8CE3-5EFB87E1F532}"/>
              </a:ext>
            </a:extLst>
          </p:cNvPr>
          <p:cNvSpPr>
            <a:spLocks noGrp="1"/>
          </p:cNvSpPr>
          <p:nvPr/>
        </p:nvSpPr>
        <p:spPr>
          <a:xfrm>
            <a:off x="7096125" y="2343150"/>
            <a:ext cx="4019550" cy="34290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ipss-table-hline-0">
            <a:extLst>
              <a:ext uri="{FF2B5EF4-FFF2-40B4-BE49-F238E27FC236}">
                <a16:creationId xmlns:a16="http://schemas.microsoft.com/office/drawing/2014/main" id="{9B43414F-4A31-4182-8BBC-4B022D8132C5}"/>
              </a:ext>
            </a:extLst>
          </p:cNvPr>
          <p:cNvSpPr>
            <a:spLocks noGrp="1"/>
          </p:cNvSpPr>
          <p:nvPr/>
        </p:nvSpPr>
        <p:spPr>
          <a:xfrm>
            <a:off x="7096125" y="2686050"/>
            <a:ext cx="40195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0" name="ipss-table-cell-0-0">
            <a:extLst>
              <a:ext uri="{FF2B5EF4-FFF2-40B4-BE49-F238E27FC236}">
                <a16:creationId xmlns:a16="http://schemas.microsoft.com/office/drawing/2014/main" id="{5204EFB3-D5AA-44B3-B349-70189293E0ED}"/>
              </a:ext>
            </a:extLst>
          </p:cNvPr>
          <p:cNvSpPr>
            <a:spLocks noGrp="1"/>
          </p:cNvSpPr>
          <p:nvPr/>
        </p:nvSpPr>
        <p:spPr>
          <a:xfrm>
            <a:off x="7191375" y="2409825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Endpoint</a:t>
            </a:r>
          </a:p>
        </p:txBody>
      </p:sp>
      <p:sp>
        <p:nvSpPr>
          <p:cNvPr id="11" name="ipss-table-vline-0-1">
            <a:extLst>
              <a:ext uri="{FF2B5EF4-FFF2-40B4-BE49-F238E27FC236}">
                <a16:creationId xmlns:a16="http://schemas.microsoft.com/office/drawing/2014/main" id="{F3166BF2-BBA7-4DE8-988F-4A56B7D5C736}"/>
              </a:ext>
            </a:extLst>
          </p:cNvPr>
          <p:cNvSpPr>
            <a:spLocks noGrp="1"/>
          </p:cNvSpPr>
          <p:nvPr/>
        </p:nvSpPr>
        <p:spPr>
          <a:xfrm>
            <a:off x="8029575" y="2343150"/>
            <a:ext cx="9525" cy="3429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ipss-table-cell-0-1">
            <a:extLst>
              <a:ext uri="{FF2B5EF4-FFF2-40B4-BE49-F238E27FC236}">
                <a16:creationId xmlns:a16="http://schemas.microsoft.com/office/drawing/2014/main" id="{81437484-7E98-42AA-83C1-9CCEB08672E0}"/>
              </a:ext>
            </a:extLst>
          </p:cNvPr>
          <p:cNvSpPr>
            <a:spLocks noGrp="1"/>
          </p:cNvSpPr>
          <p:nvPr/>
        </p:nvSpPr>
        <p:spPr>
          <a:xfrm>
            <a:off x="8124825" y="2409825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IPSS-M</a:t>
            </a:r>
          </a:p>
        </p:txBody>
      </p:sp>
      <p:sp>
        <p:nvSpPr>
          <p:cNvPr id="13" name="ipss-table-vline-0-2">
            <a:extLst>
              <a:ext uri="{FF2B5EF4-FFF2-40B4-BE49-F238E27FC236}">
                <a16:creationId xmlns:a16="http://schemas.microsoft.com/office/drawing/2014/main" id="{74129602-01B0-4B26-8823-B90C9DE12045}"/>
              </a:ext>
            </a:extLst>
          </p:cNvPr>
          <p:cNvSpPr>
            <a:spLocks noGrp="1"/>
          </p:cNvSpPr>
          <p:nvPr/>
        </p:nvSpPr>
        <p:spPr>
          <a:xfrm>
            <a:off x="9058275" y="2343150"/>
            <a:ext cx="9525" cy="3429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ipss-table-cell-0-2">
            <a:extLst>
              <a:ext uri="{FF2B5EF4-FFF2-40B4-BE49-F238E27FC236}">
                <a16:creationId xmlns:a16="http://schemas.microsoft.com/office/drawing/2014/main" id="{816DA3D9-15EE-4D0A-AC8E-C03FCF8C360B}"/>
              </a:ext>
            </a:extLst>
          </p:cNvPr>
          <p:cNvSpPr>
            <a:spLocks noGrp="1"/>
          </p:cNvSpPr>
          <p:nvPr/>
        </p:nvSpPr>
        <p:spPr>
          <a:xfrm>
            <a:off x="9153525" y="2409825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Best ML</a:t>
            </a:r>
          </a:p>
        </p:txBody>
      </p:sp>
      <p:sp>
        <p:nvSpPr>
          <p:cNvPr id="15" name="ipss-table-vline-0-3">
            <a:extLst>
              <a:ext uri="{FF2B5EF4-FFF2-40B4-BE49-F238E27FC236}">
                <a16:creationId xmlns:a16="http://schemas.microsoft.com/office/drawing/2014/main" id="{F980F378-6A66-4D3E-AF0C-85774CAFD86A}"/>
              </a:ext>
            </a:extLst>
          </p:cNvPr>
          <p:cNvSpPr>
            <a:spLocks noGrp="1"/>
          </p:cNvSpPr>
          <p:nvPr/>
        </p:nvSpPr>
        <p:spPr>
          <a:xfrm>
            <a:off x="10086975" y="2343150"/>
            <a:ext cx="9525" cy="34290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ipss-table-cell-0-3">
            <a:extLst>
              <a:ext uri="{FF2B5EF4-FFF2-40B4-BE49-F238E27FC236}">
                <a16:creationId xmlns:a16="http://schemas.microsoft.com/office/drawing/2014/main" id="{D22481C0-B986-4F0E-9735-A658852A7B9B}"/>
              </a:ext>
            </a:extLst>
          </p:cNvPr>
          <p:cNvSpPr>
            <a:spLocks noGrp="1"/>
          </p:cNvSpPr>
          <p:nvPr/>
        </p:nvSpPr>
        <p:spPr>
          <a:xfrm>
            <a:off x="10182225" y="2409825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Gain</a:t>
            </a:r>
          </a:p>
        </p:txBody>
      </p:sp>
      <p:sp>
        <p:nvSpPr>
          <p:cNvPr id="17" name="ipss-table-hline-1">
            <a:extLst>
              <a:ext uri="{FF2B5EF4-FFF2-40B4-BE49-F238E27FC236}">
                <a16:creationId xmlns:a16="http://schemas.microsoft.com/office/drawing/2014/main" id="{474CA93D-C467-436A-88BC-F20E5AFED977}"/>
              </a:ext>
            </a:extLst>
          </p:cNvPr>
          <p:cNvSpPr>
            <a:spLocks noGrp="1"/>
          </p:cNvSpPr>
          <p:nvPr/>
        </p:nvSpPr>
        <p:spPr>
          <a:xfrm>
            <a:off x="7096125" y="3162300"/>
            <a:ext cx="40195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8" name="ipss-table-cell-1-0">
            <a:extLst>
              <a:ext uri="{FF2B5EF4-FFF2-40B4-BE49-F238E27FC236}">
                <a16:creationId xmlns:a16="http://schemas.microsoft.com/office/drawing/2014/main" id="{03BD0EF5-218A-4675-9FCA-6D6036708EEA}"/>
              </a:ext>
            </a:extLst>
          </p:cNvPr>
          <p:cNvSpPr>
            <a:spLocks noGrp="1"/>
          </p:cNvSpPr>
          <p:nvPr/>
        </p:nvSpPr>
        <p:spPr>
          <a:xfrm>
            <a:off x="7191375" y="2752725"/>
            <a:ext cx="76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1">
                <a:solidFill>
                  <a:srgbClr val="B45F2A"/>
                </a:solidFill>
              </a:defRPr>
            </a:pPr>
            <a:r>
              <a:rPr sz="1200" b="1">
                <a:solidFill>
                  <a:srgbClr val="B45F2A"/>
                </a:solidFill>
              </a:rPr>
              <a:t>OS</a:t>
            </a:r>
          </a:p>
        </p:txBody>
      </p:sp>
      <p:sp>
        <p:nvSpPr>
          <p:cNvPr id="19" name="ipss-table-vline-1-1">
            <a:extLst>
              <a:ext uri="{FF2B5EF4-FFF2-40B4-BE49-F238E27FC236}">
                <a16:creationId xmlns:a16="http://schemas.microsoft.com/office/drawing/2014/main" id="{8E259520-3BDF-4146-8D6F-ABB0834D3788}"/>
              </a:ext>
            </a:extLst>
          </p:cNvPr>
          <p:cNvSpPr>
            <a:spLocks noGrp="1"/>
          </p:cNvSpPr>
          <p:nvPr/>
        </p:nvSpPr>
        <p:spPr>
          <a:xfrm>
            <a:off x="8029575" y="2686050"/>
            <a:ext cx="9525" cy="4762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0" name="ipss-table-cell-1-1">
            <a:extLst>
              <a:ext uri="{FF2B5EF4-FFF2-40B4-BE49-F238E27FC236}">
                <a16:creationId xmlns:a16="http://schemas.microsoft.com/office/drawing/2014/main" id="{0152F3DA-F954-4A88-ADF3-5D12FD31D3B3}"/>
              </a:ext>
            </a:extLst>
          </p:cNvPr>
          <p:cNvSpPr>
            <a:spLocks noGrp="1"/>
          </p:cNvSpPr>
          <p:nvPr/>
        </p:nvSpPr>
        <p:spPr>
          <a:xfrm>
            <a:off x="8124825" y="2752725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0.732</a:t>
            </a:r>
          </a:p>
        </p:txBody>
      </p:sp>
      <p:sp>
        <p:nvSpPr>
          <p:cNvPr id="21" name="ipss-table-vline-1-2">
            <a:extLst>
              <a:ext uri="{FF2B5EF4-FFF2-40B4-BE49-F238E27FC236}">
                <a16:creationId xmlns:a16="http://schemas.microsoft.com/office/drawing/2014/main" id="{79ECC804-FAD3-4412-A482-7911BE364A75}"/>
              </a:ext>
            </a:extLst>
          </p:cNvPr>
          <p:cNvSpPr>
            <a:spLocks noGrp="1"/>
          </p:cNvSpPr>
          <p:nvPr/>
        </p:nvSpPr>
        <p:spPr>
          <a:xfrm>
            <a:off x="9058275" y="2686050"/>
            <a:ext cx="9525" cy="4762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2" name="ipss-table-cell-1-2">
            <a:extLst>
              <a:ext uri="{FF2B5EF4-FFF2-40B4-BE49-F238E27FC236}">
                <a16:creationId xmlns:a16="http://schemas.microsoft.com/office/drawing/2014/main" id="{27F33CF2-55B8-4185-B039-AF998CB5F3E5}"/>
              </a:ext>
            </a:extLst>
          </p:cNvPr>
          <p:cNvSpPr>
            <a:spLocks noGrp="1"/>
          </p:cNvSpPr>
          <p:nvPr/>
        </p:nvSpPr>
        <p:spPr>
          <a:xfrm>
            <a:off x="9153525" y="2752725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0.777</a:t>
            </a:r>
          </a:p>
        </p:txBody>
      </p:sp>
      <p:sp>
        <p:nvSpPr>
          <p:cNvPr id="23" name="ipss-table-vline-1-3">
            <a:extLst>
              <a:ext uri="{FF2B5EF4-FFF2-40B4-BE49-F238E27FC236}">
                <a16:creationId xmlns:a16="http://schemas.microsoft.com/office/drawing/2014/main" id="{D93A5F31-F457-40C6-BF37-8C0B238B65B8}"/>
              </a:ext>
            </a:extLst>
          </p:cNvPr>
          <p:cNvSpPr>
            <a:spLocks noGrp="1"/>
          </p:cNvSpPr>
          <p:nvPr/>
        </p:nvSpPr>
        <p:spPr>
          <a:xfrm>
            <a:off x="10086975" y="2686050"/>
            <a:ext cx="9525" cy="4762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4" name="ipss-table-cell-1-3">
            <a:extLst>
              <a:ext uri="{FF2B5EF4-FFF2-40B4-BE49-F238E27FC236}">
                <a16:creationId xmlns:a16="http://schemas.microsoft.com/office/drawing/2014/main" id="{94AB0BA1-34E5-4151-A4F5-55C44C6A112B}"/>
              </a:ext>
            </a:extLst>
          </p:cNvPr>
          <p:cNvSpPr>
            <a:spLocks noGrp="1"/>
          </p:cNvSpPr>
          <p:nvPr/>
        </p:nvSpPr>
        <p:spPr>
          <a:xfrm>
            <a:off x="10182225" y="2752725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+0.045</a:t>
            </a:r>
          </a:p>
        </p:txBody>
      </p:sp>
      <p:sp>
        <p:nvSpPr>
          <p:cNvPr id="25" name="ipss-table-stripe-2">
            <a:extLst>
              <a:ext uri="{FF2B5EF4-FFF2-40B4-BE49-F238E27FC236}">
                <a16:creationId xmlns:a16="http://schemas.microsoft.com/office/drawing/2014/main" id="{D299A141-C8FA-44E9-9AD7-C9F57D34D6D2}"/>
              </a:ext>
            </a:extLst>
          </p:cNvPr>
          <p:cNvSpPr>
            <a:spLocks noGrp="1"/>
          </p:cNvSpPr>
          <p:nvPr/>
        </p:nvSpPr>
        <p:spPr>
          <a:xfrm>
            <a:off x="7096125" y="3162300"/>
            <a:ext cx="4019550" cy="476250"/>
          </a:xfrm>
          <a:prstGeom prst="rect">
            <a:avLst/>
          </a:prstGeom>
          <a:solidFill>
            <a:srgbClr val="F1F6F8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6" name="ipss-table-hline-2">
            <a:extLst>
              <a:ext uri="{FF2B5EF4-FFF2-40B4-BE49-F238E27FC236}">
                <a16:creationId xmlns:a16="http://schemas.microsoft.com/office/drawing/2014/main" id="{577A6199-5A04-4EB4-90F5-0E93B792E349}"/>
              </a:ext>
            </a:extLst>
          </p:cNvPr>
          <p:cNvSpPr>
            <a:spLocks noGrp="1"/>
          </p:cNvSpPr>
          <p:nvPr/>
        </p:nvSpPr>
        <p:spPr>
          <a:xfrm>
            <a:off x="7096125" y="3638550"/>
            <a:ext cx="40195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7" name="ipss-table-cell-2-0">
            <a:extLst>
              <a:ext uri="{FF2B5EF4-FFF2-40B4-BE49-F238E27FC236}">
                <a16:creationId xmlns:a16="http://schemas.microsoft.com/office/drawing/2014/main" id="{4E2EEC3E-9388-43AA-AB6E-1C1653326CCB}"/>
              </a:ext>
            </a:extLst>
          </p:cNvPr>
          <p:cNvSpPr>
            <a:spLocks noGrp="1"/>
          </p:cNvSpPr>
          <p:nvPr/>
        </p:nvSpPr>
        <p:spPr>
          <a:xfrm>
            <a:off x="7191375" y="3228975"/>
            <a:ext cx="76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1">
                <a:solidFill>
                  <a:srgbClr val="B45F2A"/>
                </a:solidFill>
              </a:defRPr>
            </a:pPr>
            <a:r>
              <a:rPr sz="1200" b="1">
                <a:solidFill>
                  <a:srgbClr val="B45F2A"/>
                </a:solidFill>
              </a:rPr>
              <a:t>LFS</a:t>
            </a:r>
          </a:p>
        </p:txBody>
      </p:sp>
      <p:sp>
        <p:nvSpPr>
          <p:cNvPr id="28" name="ipss-table-vline-2-1">
            <a:extLst>
              <a:ext uri="{FF2B5EF4-FFF2-40B4-BE49-F238E27FC236}">
                <a16:creationId xmlns:a16="http://schemas.microsoft.com/office/drawing/2014/main" id="{AB7E0710-46EA-446D-81E1-F73B5EF7B5A0}"/>
              </a:ext>
            </a:extLst>
          </p:cNvPr>
          <p:cNvSpPr>
            <a:spLocks noGrp="1"/>
          </p:cNvSpPr>
          <p:nvPr/>
        </p:nvSpPr>
        <p:spPr>
          <a:xfrm>
            <a:off x="8029575" y="3162300"/>
            <a:ext cx="9525" cy="4762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9" name="ipss-table-cell-2-1">
            <a:extLst>
              <a:ext uri="{FF2B5EF4-FFF2-40B4-BE49-F238E27FC236}">
                <a16:creationId xmlns:a16="http://schemas.microsoft.com/office/drawing/2014/main" id="{D27AC789-D353-450B-8ADE-9EB6859FB369}"/>
              </a:ext>
            </a:extLst>
          </p:cNvPr>
          <p:cNvSpPr>
            <a:spLocks noGrp="1"/>
          </p:cNvSpPr>
          <p:nvPr/>
        </p:nvSpPr>
        <p:spPr>
          <a:xfrm>
            <a:off x="8124825" y="3228975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0.746</a:t>
            </a:r>
          </a:p>
        </p:txBody>
      </p:sp>
      <p:sp>
        <p:nvSpPr>
          <p:cNvPr id="30" name="ipss-table-vline-2-2">
            <a:extLst>
              <a:ext uri="{FF2B5EF4-FFF2-40B4-BE49-F238E27FC236}">
                <a16:creationId xmlns:a16="http://schemas.microsoft.com/office/drawing/2014/main" id="{C3E91282-7D37-4107-A642-6690AAB0157D}"/>
              </a:ext>
            </a:extLst>
          </p:cNvPr>
          <p:cNvSpPr>
            <a:spLocks noGrp="1"/>
          </p:cNvSpPr>
          <p:nvPr/>
        </p:nvSpPr>
        <p:spPr>
          <a:xfrm>
            <a:off x="9058275" y="3162300"/>
            <a:ext cx="9525" cy="4762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1" name="ipss-table-cell-2-2">
            <a:extLst>
              <a:ext uri="{FF2B5EF4-FFF2-40B4-BE49-F238E27FC236}">
                <a16:creationId xmlns:a16="http://schemas.microsoft.com/office/drawing/2014/main" id="{E7D36B18-998C-48AF-839A-4657416A6D60}"/>
              </a:ext>
            </a:extLst>
          </p:cNvPr>
          <p:cNvSpPr>
            <a:spLocks noGrp="1"/>
          </p:cNvSpPr>
          <p:nvPr/>
        </p:nvSpPr>
        <p:spPr>
          <a:xfrm>
            <a:off x="9153525" y="3228975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0.793</a:t>
            </a:r>
          </a:p>
        </p:txBody>
      </p:sp>
      <p:sp>
        <p:nvSpPr>
          <p:cNvPr id="32" name="ipss-table-vline-2-3">
            <a:extLst>
              <a:ext uri="{FF2B5EF4-FFF2-40B4-BE49-F238E27FC236}">
                <a16:creationId xmlns:a16="http://schemas.microsoft.com/office/drawing/2014/main" id="{4A2F5C2E-9439-49FB-AC0D-841118B59E11}"/>
              </a:ext>
            </a:extLst>
          </p:cNvPr>
          <p:cNvSpPr>
            <a:spLocks noGrp="1"/>
          </p:cNvSpPr>
          <p:nvPr/>
        </p:nvSpPr>
        <p:spPr>
          <a:xfrm>
            <a:off x="10086975" y="3162300"/>
            <a:ext cx="9525" cy="4762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3" name="ipss-table-cell-2-3">
            <a:extLst>
              <a:ext uri="{FF2B5EF4-FFF2-40B4-BE49-F238E27FC236}">
                <a16:creationId xmlns:a16="http://schemas.microsoft.com/office/drawing/2014/main" id="{1D5B9538-2078-4971-9C5E-06B0D419E799}"/>
              </a:ext>
            </a:extLst>
          </p:cNvPr>
          <p:cNvSpPr>
            <a:spLocks noGrp="1"/>
          </p:cNvSpPr>
          <p:nvPr/>
        </p:nvSpPr>
        <p:spPr>
          <a:xfrm>
            <a:off x="10182225" y="3228975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+0.047</a:t>
            </a:r>
          </a:p>
        </p:txBody>
      </p:sp>
      <p:sp>
        <p:nvSpPr>
          <p:cNvPr id="34" name="ipss-table-hline-3">
            <a:extLst>
              <a:ext uri="{FF2B5EF4-FFF2-40B4-BE49-F238E27FC236}">
                <a16:creationId xmlns:a16="http://schemas.microsoft.com/office/drawing/2014/main" id="{029E255E-DD7F-48FB-8A92-0FF43629C081}"/>
              </a:ext>
            </a:extLst>
          </p:cNvPr>
          <p:cNvSpPr>
            <a:spLocks noGrp="1"/>
          </p:cNvSpPr>
          <p:nvPr/>
        </p:nvSpPr>
        <p:spPr>
          <a:xfrm>
            <a:off x="7096125" y="4114800"/>
            <a:ext cx="40195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5" name="ipss-table-cell-3-0">
            <a:extLst>
              <a:ext uri="{FF2B5EF4-FFF2-40B4-BE49-F238E27FC236}">
                <a16:creationId xmlns:a16="http://schemas.microsoft.com/office/drawing/2014/main" id="{C6C0CCB1-3E75-4EB5-B71E-95787EB9F3D3}"/>
              </a:ext>
            </a:extLst>
          </p:cNvPr>
          <p:cNvSpPr>
            <a:spLocks noGrp="1"/>
          </p:cNvSpPr>
          <p:nvPr/>
        </p:nvSpPr>
        <p:spPr>
          <a:xfrm>
            <a:off x="7191375" y="3705225"/>
            <a:ext cx="76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1">
                <a:solidFill>
                  <a:srgbClr val="B45F2A"/>
                </a:solidFill>
              </a:defRPr>
            </a:pPr>
            <a:r>
              <a:rPr sz="1200" b="1">
                <a:solidFill>
                  <a:srgbClr val="B45F2A"/>
                </a:solidFill>
              </a:rPr>
              <a:t>AMLt</a:t>
            </a:r>
          </a:p>
        </p:txBody>
      </p:sp>
      <p:sp>
        <p:nvSpPr>
          <p:cNvPr id="36" name="ipss-table-vline-3-1">
            <a:extLst>
              <a:ext uri="{FF2B5EF4-FFF2-40B4-BE49-F238E27FC236}">
                <a16:creationId xmlns:a16="http://schemas.microsoft.com/office/drawing/2014/main" id="{1912A0E6-B019-4454-8B3E-4DCD0EF7EE7D}"/>
              </a:ext>
            </a:extLst>
          </p:cNvPr>
          <p:cNvSpPr>
            <a:spLocks noGrp="1"/>
          </p:cNvSpPr>
          <p:nvPr/>
        </p:nvSpPr>
        <p:spPr>
          <a:xfrm>
            <a:off x="8029575" y="3638550"/>
            <a:ext cx="9525" cy="4762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7" name="ipss-table-cell-3-1">
            <a:extLst>
              <a:ext uri="{FF2B5EF4-FFF2-40B4-BE49-F238E27FC236}">
                <a16:creationId xmlns:a16="http://schemas.microsoft.com/office/drawing/2014/main" id="{4F81CBB3-4D1E-4F0A-A69F-5FB1B236CEC1}"/>
              </a:ext>
            </a:extLst>
          </p:cNvPr>
          <p:cNvSpPr>
            <a:spLocks noGrp="1"/>
          </p:cNvSpPr>
          <p:nvPr/>
        </p:nvSpPr>
        <p:spPr>
          <a:xfrm>
            <a:off x="8124825" y="3705225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0.837</a:t>
            </a:r>
          </a:p>
        </p:txBody>
      </p:sp>
      <p:sp>
        <p:nvSpPr>
          <p:cNvPr id="38" name="ipss-table-vline-3-2">
            <a:extLst>
              <a:ext uri="{FF2B5EF4-FFF2-40B4-BE49-F238E27FC236}">
                <a16:creationId xmlns:a16="http://schemas.microsoft.com/office/drawing/2014/main" id="{1D127A8F-9E99-40C0-8F8A-6F96ABA5FF02}"/>
              </a:ext>
            </a:extLst>
          </p:cNvPr>
          <p:cNvSpPr>
            <a:spLocks noGrp="1"/>
          </p:cNvSpPr>
          <p:nvPr/>
        </p:nvSpPr>
        <p:spPr>
          <a:xfrm>
            <a:off x="9058275" y="3638550"/>
            <a:ext cx="9525" cy="4762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9" name="ipss-table-cell-3-2">
            <a:extLst>
              <a:ext uri="{FF2B5EF4-FFF2-40B4-BE49-F238E27FC236}">
                <a16:creationId xmlns:a16="http://schemas.microsoft.com/office/drawing/2014/main" id="{F6500812-E21B-4769-9F4D-65396D56D987}"/>
              </a:ext>
            </a:extLst>
          </p:cNvPr>
          <p:cNvSpPr>
            <a:spLocks noGrp="1"/>
          </p:cNvSpPr>
          <p:nvPr/>
        </p:nvSpPr>
        <p:spPr>
          <a:xfrm>
            <a:off x="9153525" y="3705225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0.875</a:t>
            </a:r>
          </a:p>
        </p:txBody>
      </p:sp>
      <p:sp>
        <p:nvSpPr>
          <p:cNvPr id="40" name="ipss-table-vline-3-3">
            <a:extLst>
              <a:ext uri="{FF2B5EF4-FFF2-40B4-BE49-F238E27FC236}">
                <a16:creationId xmlns:a16="http://schemas.microsoft.com/office/drawing/2014/main" id="{F318DA3E-D106-43C9-8439-4AA3ACF516A7}"/>
              </a:ext>
            </a:extLst>
          </p:cNvPr>
          <p:cNvSpPr>
            <a:spLocks noGrp="1"/>
          </p:cNvSpPr>
          <p:nvPr/>
        </p:nvSpPr>
        <p:spPr>
          <a:xfrm>
            <a:off x="10086975" y="3638550"/>
            <a:ext cx="9525" cy="4762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1" name="ipss-table-cell-3-3">
            <a:extLst>
              <a:ext uri="{FF2B5EF4-FFF2-40B4-BE49-F238E27FC236}">
                <a16:creationId xmlns:a16="http://schemas.microsoft.com/office/drawing/2014/main" id="{78593973-477D-4E9A-B5D7-30E5C6868A54}"/>
              </a:ext>
            </a:extLst>
          </p:cNvPr>
          <p:cNvSpPr>
            <a:spLocks noGrp="1"/>
          </p:cNvSpPr>
          <p:nvPr/>
        </p:nvSpPr>
        <p:spPr>
          <a:xfrm>
            <a:off x="10182225" y="3705225"/>
            <a:ext cx="85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125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+0.038</a:t>
            </a:r>
          </a:p>
        </p:txBody>
      </p:sp>
      <p:sp>
        <p:nvSpPr>
          <p:cNvPr id="42" name="baseline-findings-dot-0">
            <a:extLst>
              <a:ext uri="{FF2B5EF4-FFF2-40B4-BE49-F238E27FC236}">
                <a16:creationId xmlns:a16="http://schemas.microsoft.com/office/drawing/2014/main" id="{CCBE1355-FAA3-4B99-ACB3-BD1506F52E57}"/>
              </a:ext>
            </a:extLst>
          </p:cNvPr>
          <p:cNvSpPr>
            <a:spLocks noGrp="1"/>
          </p:cNvSpPr>
          <p:nvPr/>
        </p:nvSpPr>
        <p:spPr>
          <a:xfrm>
            <a:off x="7191375" y="4274422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buNone/>
              <a:defRPr sz="1500" b="1">
                <a:solidFill>
                  <a:srgbClr val="B45F2A"/>
                </a:solidFill>
              </a:defRPr>
            </a:pPr>
            <a:r>
              <a:rPr sz="1500" b="1">
                <a:solidFill>
                  <a:srgbClr val="B45F2A"/>
                </a:solidFill>
              </a:rPr>
              <a:t>•</a:t>
            </a:r>
          </a:p>
        </p:txBody>
      </p:sp>
      <p:sp>
        <p:nvSpPr>
          <p:cNvPr id="43" name="baseline-findings-title-0">
            <a:extLst>
              <a:ext uri="{FF2B5EF4-FFF2-40B4-BE49-F238E27FC236}">
                <a16:creationId xmlns:a16="http://schemas.microsoft.com/office/drawing/2014/main" id="{01221E9C-3BFE-4653-9C04-9BFAF5A1E659}"/>
              </a:ext>
            </a:extLst>
          </p:cNvPr>
          <p:cNvSpPr>
            <a:spLocks noGrp="1"/>
          </p:cNvSpPr>
          <p:nvPr/>
        </p:nvSpPr>
        <p:spPr>
          <a:xfrm>
            <a:off x="7419975" y="4274422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350" b="1">
                <a:solidFill>
                  <a:srgbClr val="0B2F3F"/>
                </a:solidFill>
              </a:defRPr>
            </a:pPr>
            <a:r>
              <a:rPr sz="1350" b="1" dirty="0">
                <a:solidFill>
                  <a:srgbClr val="0B2F3F"/>
                </a:solidFill>
              </a:rPr>
              <a:t>Across-endpoint improvement</a:t>
            </a:r>
          </a:p>
        </p:txBody>
      </p:sp>
      <p:sp>
        <p:nvSpPr>
          <p:cNvPr id="44" name="baseline-findings-body-0">
            <a:extLst>
              <a:ext uri="{FF2B5EF4-FFF2-40B4-BE49-F238E27FC236}">
                <a16:creationId xmlns:a16="http://schemas.microsoft.com/office/drawing/2014/main" id="{CD21B70B-B8A7-48C7-8783-D444EE317C24}"/>
              </a:ext>
            </a:extLst>
          </p:cNvPr>
          <p:cNvSpPr>
            <a:spLocks noGrp="1"/>
          </p:cNvSpPr>
          <p:nvPr/>
        </p:nvSpPr>
        <p:spPr>
          <a:xfrm>
            <a:off x="7419975" y="4503022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238">
                <a:solidFill>
                  <a:srgbClr val="314B59"/>
                </a:solidFill>
              </a:defRPr>
            </a:pPr>
            <a:r>
              <a:rPr sz="1238">
                <a:solidFill>
                  <a:srgbClr val="314B59"/>
                </a:solidFill>
              </a:rPr>
              <a:t>Best ML exceeds IPSS-M for OS, LFS, and AMLt.</a:t>
            </a:r>
          </a:p>
        </p:txBody>
      </p:sp>
      <p:sp>
        <p:nvSpPr>
          <p:cNvPr id="45" name="baseline-findings-dot-1">
            <a:extLst>
              <a:ext uri="{FF2B5EF4-FFF2-40B4-BE49-F238E27FC236}">
                <a16:creationId xmlns:a16="http://schemas.microsoft.com/office/drawing/2014/main" id="{DE81A635-406F-4EA5-B11D-677EB0D77592}"/>
              </a:ext>
            </a:extLst>
          </p:cNvPr>
          <p:cNvSpPr>
            <a:spLocks noGrp="1"/>
          </p:cNvSpPr>
          <p:nvPr/>
        </p:nvSpPr>
        <p:spPr>
          <a:xfrm>
            <a:off x="7191375" y="5093572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buNone/>
              <a:defRPr sz="1500" b="1">
                <a:solidFill>
                  <a:srgbClr val="0B4D63"/>
                </a:solidFill>
              </a:defRPr>
            </a:pPr>
            <a:r>
              <a:rPr sz="1500" b="1">
                <a:solidFill>
                  <a:srgbClr val="0B4D63"/>
                </a:solidFill>
              </a:rPr>
              <a:t>•</a:t>
            </a:r>
          </a:p>
        </p:txBody>
      </p:sp>
      <p:sp>
        <p:nvSpPr>
          <p:cNvPr id="46" name="baseline-findings-title-1">
            <a:extLst>
              <a:ext uri="{FF2B5EF4-FFF2-40B4-BE49-F238E27FC236}">
                <a16:creationId xmlns:a16="http://schemas.microsoft.com/office/drawing/2014/main" id="{4A37559C-5E1E-4E90-AD1E-FFB34B78B161}"/>
              </a:ext>
            </a:extLst>
          </p:cNvPr>
          <p:cNvSpPr>
            <a:spLocks noGrp="1"/>
          </p:cNvSpPr>
          <p:nvPr/>
        </p:nvSpPr>
        <p:spPr>
          <a:xfrm>
            <a:off x="7419975" y="5093572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350" b="1">
                <a:solidFill>
                  <a:srgbClr val="0B2F3F"/>
                </a:solidFill>
              </a:defRPr>
            </a:pPr>
            <a:r>
              <a:rPr sz="1350" b="1">
                <a:solidFill>
                  <a:srgbClr val="0B2F3F"/>
                </a:solidFill>
              </a:rPr>
              <a:t>Clinical interpretation</a:t>
            </a:r>
          </a:p>
        </p:txBody>
      </p:sp>
      <p:sp>
        <p:nvSpPr>
          <p:cNvPr id="47" name="baseline-findings-body-1">
            <a:extLst>
              <a:ext uri="{FF2B5EF4-FFF2-40B4-BE49-F238E27FC236}">
                <a16:creationId xmlns:a16="http://schemas.microsoft.com/office/drawing/2014/main" id="{0A9C83DA-C4FE-4970-B288-BFC7FA422437}"/>
              </a:ext>
            </a:extLst>
          </p:cNvPr>
          <p:cNvSpPr>
            <a:spLocks noGrp="1"/>
          </p:cNvSpPr>
          <p:nvPr/>
        </p:nvSpPr>
        <p:spPr>
          <a:xfrm>
            <a:off x="7419975" y="5322172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238">
                <a:solidFill>
                  <a:srgbClr val="314B59"/>
                </a:solidFill>
              </a:defRPr>
            </a:pPr>
            <a:r>
              <a:rPr sz="1238">
                <a:solidFill>
                  <a:srgbClr val="314B59"/>
                </a:solidFill>
              </a:rPr>
              <a:t>The improvement is in discrimination: better ordering of patients by risk.</a:t>
            </a:r>
          </a:p>
        </p:txBody>
      </p:sp>
      <p:sp>
        <p:nvSpPr>
          <p:cNvPr id="48" name="takeaway-band">
            <a:extLst>
              <a:ext uri="{FF2B5EF4-FFF2-40B4-BE49-F238E27FC236}">
                <a16:creationId xmlns:a16="http://schemas.microsoft.com/office/drawing/2014/main" id="{8549E888-BAD8-4871-8DA8-8933DE4086A5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820400" cy="55245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9" name="takeaway-label">
            <a:extLst>
              <a:ext uri="{FF2B5EF4-FFF2-40B4-BE49-F238E27FC236}">
                <a16:creationId xmlns:a16="http://schemas.microsoft.com/office/drawing/2014/main" id="{7790E10D-A0D5-437E-9DC2-9F2ECAB0DE5E}"/>
              </a:ext>
            </a:extLst>
          </p:cNvPr>
          <p:cNvSpPr>
            <a:spLocks noGrp="1"/>
          </p:cNvSpPr>
          <p:nvPr/>
        </p:nvSpPr>
        <p:spPr>
          <a:xfrm>
            <a:off x="952500" y="5953125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050" b="1">
                <a:solidFill>
                  <a:srgbClr val="C7E8F2"/>
                </a:solidFill>
              </a:defRPr>
            </a:pPr>
            <a:r>
              <a:rPr sz="1050" b="1">
                <a:solidFill>
                  <a:srgbClr val="C7E8F2"/>
                </a:solidFill>
              </a:rPr>
              <a:t>RQ3 answer</a:t>
            </a:r>
          </a:p>
        </p:txBody>
      </p:sp>
      <p:sp>
        <p:nvSpPr>
          <p:cNvPr id="50" name="takeaway-text">
            <a:extLst>
              <a:ext uri="{FF2B5EF4-FFF2-40B4-BE49-F238E27FC236}">
                <a16:creationId xmlns:a16="http://schemas.microsoft.com/office/drawing/2014/main" id="{1E395020-C785-4E91-8449-9D3840DBC0F4}"/>
              </a:ext>
            </a:extLst>
          </p:cNvPr>
          <p:cNvSpPr>
            <a:spLocks noGrp="1"/>
          </p:cNvSpPr>
          <p:nvPr/>
        </p:nvSpPr>
        <p:spPr>
          <a:xfrm>
            <a:off x="952500" y="6143625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The best ML models achieve higher C-index than IPSS-M on all endpoints.</a:t>
            </a:r>
          </a:p>
        </p:txBody>
      </p:sp>
      <p:sp>
        <p:nvSpPr>
          <p:cNvPr id="51" name="footer">
            <a:extLst>
              <a:ext uri="{FF2B5EF4-FFF2-40B4-BE49-F238E27FC236}">
                <a16:creationId xmlns:a16="http://schemas.microsoft.com/office/drawing/2014/main" id="{61C94D1F-64D7-405D-81AB-98CA1FC87A02}"/>
              </a:ext>
            </a:extLst>
          </p:cNvPr>
          <p:cNvSpPr>
            <a:spLocks noGrp="1"/>
          </p:cNvSpPr>
          <p:nvPr/>
        </p:nvSpPr>
        <p:spPr>
          <a:xfrm>
            <a:off x="8858250" y="65722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r">
              <a:buNone/>
              <a:defRPr sz="750">
                <a:solidFill>
                  <a:srgbClr val="7A8D97"/>
                </a:solidFill>
              </a:defRPr>
            </a:pPr>
            <a:r>
              <a:rPr sz="750">
                <a:solidFill>
                  <a:srgbClr val="7A8D97"/>
                </a:solidFill>
              </a:rPr>
              <a:t>Machine Learning-Based Survival Prediction of Outcomes in MDS</a:t>
            </a:r>
          </a:p>
        </p:txBody>
      </p:sp>
      <p:sp>
        <p:nvSpPr>
          <p:cNvPr id="53" name="source-line-14">
            <a:extLst>
              <a:ext uri="{FF2B5EF4-FFF2-40B4-BE49-F238E27FC236}">
                <a16:creationId xmlns:a16="http://schemas.microsoft.com/office/drawing/2014/main" id="{41864F6F-37E6-4F58-BF64-9911DF29F59C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42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defRPr sz="788">
                <a:solidFill>
                  <a:srgbClr val="7A8D97"/>
                </a:solidFill>
              </a:defRPr>
            </a:pPr>
            <a:r>
              <a:rPr sz="788">
                <a:solidFill>
                  <a:srgbClr val="7A8D97"/>
                </a:solidFill>
              </a:rPr>
              <a:t>Sources: [2], [7]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362BA67-288A-B84A-8297-CFC71A19B9A9}"/>
              </a:ext>
            </a:extLst>
          </p:cNvPr>
          <p:cNvSpPr txBox="1"/>
          <p:nvPr/>
        </p:nvSpPr>
        <p:spPr>
          <a:xfrm rot="16200000">
            <a:off x="361951" y="3471989"/>
            <a:ext cx="6477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2F4653"/>
                </a:solidFill>
              </a:rPr>
              <a:t>C-index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46737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left-accent-bar">
            <a:extLst>
              <a:ext uri="{FF2B5EF4-FFF2-40B4-BE49-F238E27FC236}">
                <a16:creationId xmlns:a16="http://schemas.microsoft.com/office/drawing/2014/main" id="{B6D94CF0-E3F0-4C18-99AE-D9DAE13757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op-rule">
            <a:extLst>
              <a:ext uri="{FF2B5EF4-FFF2-40B4-BE49-F238E27FC236}">
                <a16:creationId xmlns:a16="http://schemas.microsoft.com/office/drawing/2014/main" id="{C8CC24E0-D32D-4DC7-AE66-E534A32F00CD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19050"/>
          </a:xfrm>
          <a:prstGeom prst="rect">
            <a:avLst/>
          </a:prstGeom>
          <a:solidFill>
            <a:srgbClr val="DDE8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F261A8B6-E344-4557-9A98-BE7720C39DB6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200" b="1">
                <a:solidFill>
                  <a:srgbClr val="0B4D63"/>
                </a:solidFill>
              </a:defRPr>
            </a:pPr>
            <a:r>
              <a:rPr sz="1200" b="1">
                <a:solidFill>
                  <a:srgbClr val="0B4D63"/>
                </a:solidFill>
              </a:rPr>
              <a:t>CONCLUSION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A8007EFC-FC65-4598-859C-06441AE48961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2925" b="1">
                <a:solidFill>
                  <a:srgbClr val="0B2F3F"/>
                </a:solidFill>
              </a:defRPr>
            </a:pPr>
            <a:r>
              <a:rPr sz="2925" b="1">
                <a:solidFill>
                  <a:srgbClr val="0B2F3F"/>
                </a:solidFill>
              </a:rPr>
              <a:t>Main Findings and Next Steps</a:t>
            </a:r>
          </a:p>
        </p:txBody>
      </p:sp>
      <p:sp>
        <p:nvSpPr>
          <p:cNvPr id="5" name="setup-line">
            <a:extLst>
              <a:ext uri="{FF2B5EF4-FFF2-40B4-BE49-F238E27FC236}">
                <a16:creationId xmlns:a16="http://schemas.microsoft.com/office/drawing/2014/main" id="{12396BD3-C670-4D42-9DBF-EB9951AD6C8D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144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/>
          <a:lstStyle/>
          <a:p>
            <a:pPr algn="l">
              <a:buNone/>
              <a:defRPr sz="1650">
                <a:solidFill>
                  <a:srgbClr val="2F4653"/>
                </a:solidFill>
              </a:defRPr>
            </a:pPr>
            <a:r>
              <a:rPr sz="1650">
                <a:solidFill>
                  <a:srgbClr val="2F4653"/>
                </a:solidFill>
              </a:rPr>
              <a:t>ML-based survival prediction can improve individualized outcome prediction in MDS.</a:t>
            </a:r>
          </a:p>
        </p:txBody>
      </p:sp>
      <p:sp>
        <p:nvSpPr>
          <p:cNvPr id="6" name="conclusion-table-bg">
            <a:extLst>
              <a:ext uri="{FF2B5EF4-FFF2-40B4-BE49-F238E27FC236}">
                <a16:creationId xmlns:a16="http://schemas.microsoft.com/office/drawing/2014/main" id="{3C11EB7D-F818-4432-9036-505A583B3B31}"/>
              </a:ext>
            </a:extLst>
          </p:cNvPr>
          <p:cNvSpPr>
            <a:spLocks noGrp="1"/>
          </p:cNvSpPr>
          <p:nvPr/>
        </p:nvSpPr>
        <p:spPr>
          <a:xfrm>
            <a:off x="781050" y="2266950"/>
            <a:ext cx="10191750" cy="2362200"/>
          </a:xfrm>
          <a:prstGeom prst="rect">
            <a:avLst/>
          </a:prstGeom>
          <a:noFill/>
          <a:ln w="9525">
            <a:solidFill>
              <a:srgbClr val="CBDCE3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7" name="conclusion-table-header-bg">
            <a:extLst>
              <a:ext uri="{FF2B5EF4-FFF2-40B4-BE49-F238E27FC236}">
                <a16:creationId xmlns:a16="http://schemas.microsoft.com/office/drawing/2014/main" id="{FBD4AEF4-DA9B-43EF-B847-0BC9DE873360}"/>
              </a:ext>
            </a:extLst>
          </p:cNvPr>
          <p:cNvSpPr>
            <a:spLocks noGrp="1"/>
          </p:cNvSpPr>
          <p:nvPr/>
        </p:nvSpPr>
        <p:spPr>
          <a:xfrm>
            <a:off x="781050" y="2266950"/>
            <a:ext cx="10191750" cy="36195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8" name="conclusion-table-hline-0">
            <a:extLst>
              <a:ext uri="{FF2B5EF4-FFF2-40B4-BE49-F238E27FC236}">
                <a16:creationId xmlns:a16="http://schemas.microsoft.com/office/drawing/2014/main" id="{913156BD-A338-48C0-AC49-E428B4C12610}"/>
              </a:ext>
            </a:extLst>
          </p:cNvPr>
          <p:cNvSpPr>
            <a:spLocks noGrp="1"/>
          </p:cNvSpPr>
          <p:nvPr/>
        </p:nvSpPr>
        <p:spPr>
          <a:xfrm>
            <a:off x="781050" y="2628900"/>
            <a:ext cx="101917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9" name="conclusion-table-cell-0-0">
            <a:extLst>
              <a:ext uri="{FF2B5EF4-FFF2-40B4-BE49-F238E27FC236}">
                <a16:creationId xmlns:a16="http://schemas.microsoft.com/office/drawing/2014/main" id="{1DF408F3-FAD1-4397-A69E-ACEC82E7E3E7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2686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Finding</a:t>
            </a:r>
          </a:p>
        </p:txBody>
      </p:sp>
      <p:sp>
        <p:nvSpPr>
          <p:cNvPr id="10" name="conclusion-table-vline-0-1">
            <a:extLst>
              <a:ext uri="{FF2B5EF4-FFF2-40B4-BE49-F238E27FC236}">
                <a16:creationId xmlns:a16="http://schemas.microsoft.com/office/drawing/2014/main" id="{8A6AAF4F-B71F-4D49-A4D1-B9946329D608}"/>
              </a:ext>
            </a:extLst>
          </p:cNvPr>
          <p:cNvSpPr>
            <a:spLocks noGrp="1"/>
          </p:cNvSpPr>
          <p:nvPr/>
        </p:nvSpPr>
        <p:spPr>
          <a:xfrm>
            <a:off x="3638550" y="2266950"/>
            <a:ext cx="9525" cy="3619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1" name="conclusion-table-cell-0-1">
            <a:extLst>
              <a:ext uri="{FF2B5EF4-FFF2-40B4-BE49-F238E27FC236}">
                <a16:creationId xmlns:a16="http://schemas.microsoft.com/office/drawing/2014/main" id="{3C57ED6D-369A-4629-A2AC-3EE11F277A56}"/>
              </a:ext>
            </a:extLst>
          </p:cNvPr>
          <p:cNvSpPr>
            <a:spLocks noGrp="1"/>
          </p:cNvSpPr>
          <p:nvPr/>
        </p:nvSpPr>
        <p:spPr>
          <a:xfrm>
            <a:off x="3733800" y="2333625"/>
            <a:ext cx="34956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Evidence from this study</a:t>
            </a:r>
          </a:p>
        </p:txBody>
      </p:sp>
      <p:sp>
        <p:nvSpPr>
          <p:cNvPr id="12" name="conclusion-table-vline-0-2">
            <a:extLst>
              <a:ext uri="{FF2B5EF4-FFF2-40B4-BE49-F238E27FC236}">
                <a16:creationId xmlns:a16="http://schemas.microsoft.com/office/drawing/2014/main" id="{C83DF453-43BF-4592-8509-3E3AD17BF379}"/>
              </a:ext>
            </a:extLst>
          </p:cNvPr>
          <p:cNvSpPr>
            <a:spLocks noGrp="1"/>
          </p:cNvSpPr>
          <p:nvPr/>
        </p:nvSpPr>
        <p:spPr>
          <a:xfrm>
            <a:off x="7305675" y="2266950"/>
            <a:ext cx="9525" cy="3619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3" name="conclusion-table-cell-0-2">
            <a:extLst>
              <a:ext uri="{FF2B5EF4-FFF2-40B4-BE49-F238E27FC236}">
                <a16:creationId xmlns:a16="http://schemas.microsoft.com/office/drawing/2014/main" id="{5B8C1805-9A5C-48B7-B399-58EBB3A5BE08}"/>
              </a:ext>
            </a:extLst>
          </p:cNvPr>
          <p:cNvSpPr>
            <a:spLocks noGrp="1"/>
          </p:cNvSpPr>
          <p:nvPr/>
        </p:nvSpPr>
        <p:spPr>
          <a:xfrm>
            <a:off x="7400925" y="2333625"/>
            <a:ext cx="34956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Implication</a:t>
            </a:r>
          </a:p>
        </p:txBody>
      </p:sp>
      <p:sp>
        <p:nvSpPr>
          <p:cNvPr id="14" name="conclusion-table-hline-1">
            <a:extLst>
              <a:ext uri="{FF2B5EF4-FFF2-40B4-BE49-F238E27FC236}">
                <a16:creationId xmlns:a16="http://schemas.microsoft.com/office/drawing/2014/main" id="{C355AB14-908C-4B40-BB41-3C6784D4D972}"/>
              </a:ext>
            </a:extLst>
          </p:cNvPr>
          <p:cNvSpPr>
            <a:spLocks noGrp="1"/>
          </p:cNvSpPr>
          <p:nvPr/>
        </p:nvSpPr>
        <p:spPr>
          <a:xfrm>
            <a:off x="781050" y="3295650"/>
            <a:ext cx="101917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5" name="conclusion-table-cell-1-0">
            <a:extLst>
              <a:ext uri="{FF2B5EF4-FFF2-40B4-BE49-F238E27FC236}">
                <a16:creationId xmlns:a16="http://schemas.microsoft.com/office/drawing/2014/main" id="{AFC8A247-4EC0-4ACD-B42D-AA411415EF09}"/>
              </a:ext>
            </a:extLst>
          </p:cNvPr>
          <p:cNvSpPr>
            <a:spLocks noGrp="1"/>
          </p:cNvSpPr>
          <p:nvPr/>
        </p:nvSpPr>
        <p:spPr>
          <a:xfrm>
            <a:off x="876300" y="2695575"/>
            <a:ext cx="2686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0B2F3F"/>
                </a:solidFill>
              </a:defRPr>
            </a:pPr>
            <a:r>
              <a:rPr sz="1200" b="1" dirty="0">
                <a:solidFill>
                  <a:srgbClr val="0B2F3F"/>
                </a:solidFill>
              </a:rPr>
              <a:t>Molecular genetics matters</a:t>
            </a:r>
          </a:p>
        </p:txBody>
      </p:sp>
      <p:sp>
        <p:nvSpPr>
          <p:cNvPr id="16" name="conclusion-table-vline-1-1">
            <a:extLst>
              <a:ext uri="{FF2B5EF4-FFF2-40B4-BE49-F238E27FC236}">
                <a16:creationId xmlns:a16="http://schemas.microsoft.com/office/drawing/2014/main" id="{EB6DC9B2-8144-4452-BFEC-B9E21D1BB235}"/>
              </a:ext>
            </a:extLst>
          </p:cNvPr>
          <p:cNvSpPr>
            <a:spLocks noGrp="1"/>
          </p:cNvSpPr>
          <p:nvPr/>
        </p:nvSpPr>
        <p:spPr>
          <a:xfrm>
            <a:off x="3638550" y="2628900"/>
            <a:ext cx="9525" cy="6667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7" name="conclusion-table-cell-1-1">
            <a:extLst>
              <a:ext uri="{FF2B5EF4-FFF2-40B4-BE49-F238E27FC236}">
                <a16:creationId xmlns:a16="http://schemas.microsoft.com/office/drawing/2014/main" id="{656CCD78-0285-412A-B9A1-2F7F741C7140}"/>
              </a:ext>
            </a:extLst>
          </p:cNvPr>
          <p:cNvSpPr>
            <a:spLocks noGrp="1"/>
          </p:cNvSpPr>
          <p:nvPr/>
        </p:nvSpPr>
        <p:spPr>
          <a:xfrm>
            <a:off x="3733800" y="2695575"/>
            <a:ext cx="34956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Best endpoint-specific C-indices all use molecular genetic features</a:t>
            </a:r>
          </a:p>
        </p:txBody>
      </p:sp>
      <p:sp>
        <p:nvSpPr>
          <p:cNvPr id="18" name="conclusion-table-vline-1-2">
            <a:extLst>
              <a:ext uri="{FF2B5EF4-FFF2-40B4-BE49-F238E27FC236}">
                <a16:creationId xmlns:a16="http://schemas.microsoft.com/office/drawing/2014/main" id="{4817C2FE-DB74-40BE-A9A7-3E660614CD85}"/>
              </a:ext>
            </a:extLst>
          </p:cNvPr>
          <p:cNvSpPr>
            <a:spLocks noGrp="1"/>
          </p:cNvSpPr>
          <p:nvPr/>
        </p:nvSpPr>
        <p:spPr>
          <a:xfrm>
            <a:off x="7305675" y="2628900"/>
            <a:ext cx="9525" cy="6667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9" name="conclusion-table-cell-1-2">
            <a:extLst>
              <a:ext uri="{FF2B5EF4-FFF2-40B4-BE49-F238E27FC236}">
                <a16:creationId xmlns:a16="http://schemas.microsoft.com/office/drawing/2014/main" id="{1A160D37-D6C6-4259-88DD-6E69B0E312EC}"/>
              </a:ext>
            </a:extLst>
          </p:cNvPr>
          <p:cNvSpPr>
            <a:spLocks noGrp="1"/>
          </p:cNvSpPr>
          <p:nvPr/>
        </p:nvSpPr>
        <p:spPr>
          <a:xfrm>
            <a:off x="7400925" y="2695575"/>
            <a:ext cx="34956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1" dirty="0">
                <a:solidFill>
                  <a:srgbClr val="314B59"/>
                </a:solidFill>
              </a:rPr>
              <a:t>Genomic information should be central in MDS risk prediction</a:t>
            </a:r>
          </a:p>
        </p:txBody>
      </p:sp>
      <p:sp>
        <p:nvSpPr>
          <p:cNvPr id="20" name="conclusion-table-stripe-2">
            <a:extLst>
              <a:ext uri="{FF2B5EF4-FFF2-40B4-BE49-F238E27FC236}">
                <a16:creationId xmlns:a16="http://schemas.microsoft.com/office/drawing/2014/main" id="{89F8D4EA-D3F5-49EB-83C4-615CBED54C2F}"/>
              </a:ext>
            </a:extLst>
          </p:cNvPr>
          <p:cNvSpPr>
            <a:spLocks noGrp="1"/>
          </p:cNvSpPr>
          <p:nvPr/>
        </p:nvSpPr>
        <p:spPr>
          <a:xfrm>
            <a:off x="781050" y="3295650"/>
            <a:ext cx="10191750" cy="666750"/>
          </a:xfrm>
          <a:prstGeom prst="rect">
            <a:avLst/>
          </a:prstGeom>
          <a:solidFill>
            <a:srgbClr val="F1F6F8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1" name="conclusion-table-hline-2">
            <a:extLst>
              <a:ext uri="{FF2B5EF4-FFF2-40B4-BE49-F238E27FC236}">
                <a16:creationId xmlns:a16="http://schemas.microsoft.com/office/drawing/2014/main" id="{93818862-38C4-4670-AB05-1DAE77E0AC27}"/>
              </a:ext>
            </a:extLst>
          </p:cNvPr>
          <p:cNvSpPr>
            <a:spLocks noGrp="1"/>
          </p:cNvSpPr>
          <p:nvPr/>
        </p:nvSpPr>
        <p:spPr>
          <a:xfrm>
            <a:off x="781050" y="3962400"/>
            <a:ext cx="101917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2" name="conclusion-table-cell-2-0">
            <a:extLst>
              <a:ext uri="{FF2B5EF4-FFF2-40B4-BE49-F238E27FC236}">
                <a16:creationId xmlns:a16="http://schemas.microsoft.com/office/drawing/2014/main" id="{D248E547-F83D-4616-9F9B-DAC0297E36EB}"/>
              </a:ext>
            </a:extLst>
          </p:cNvPr>
          <p:cNvSpPr>
            <a:spLocks noGrp="1"/>
          </p:cNvSpPr>
          <p:nvPr/>
        </p:nvSpPr>
        <p:spPr>
          <a:xfrm>
            <a:off x="876300" y="3362325"/>
            <a:ext cx="2686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0B2F3F"/>
                </a:solidFill>
              </a:defRPr>
            </a:pPr>
            <a:r>
              <a:rPr sz="1200" b="1">
                <a:solidFill>
                  <a:srgbClr val="0B2F3F"/>
                </a:solidFill>
              </a:rPr>
              <a:t>Deep survival models lead</a:t>
            </a:r>
          </a:p>
        </p:txBody>
      </p:sp>
      <p:sp>
        <p:nvSpPr>
          <p:cNvPr id="23" name="conclusion-table-vline-2-1">
            <a:extLst>
              <a:ext uri="{FF2B5EF4-FFF2-40B4-BE49-F238E27FC236}">
                <a16:creationId xmlns:a16="http://schemas.microsoft.com/office/drawing/2014/main" id="{45DB781F-0007-4379-9FC6-794A65263E57}"/>
              </a:ext>
            </a:extLst>
          </p:cNvPr>
          <p:cNvSpPr>
            <a:spLocks noGrp="1"/>
          </p:cNvSpPr>
          <p:nvPr/>
        </p:nvSpPr>
        <p:spPr>
          <a:xfrm>
            <a:off x="3638550" y="3295650"/>
            <a:ext cx="9525" cy="6667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4" name="conclusion-table-cell-2-1">
            <a:extLst>
              <a:ext uri="{FF2B5EF4-FFF2-40B4-BE49-F238E27FC236}">
                <a16:creationId xmlns:a16="http://schemas.microsoft.com/office/drawing/2014/main" id="{AAF3D296-DEB2-4582-BDFD-10A9C1A40A47}"/>
              </a:ext>
            </a:extLst>
          </p:cNvPr>
          <p:cNvSpPr>
            <a:spLocks noGrp="1"/>
          </p:cNvSpPr>
          <p:nvPr/>
        </p:nvSpPr>
        <p:spPr>
          <a:xfrm>
            <a:off x="3733800" y="3362325"/>
            <a:ext cx="34956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DeepSurv and N-MTLR produce the strongest results across endpoints</a:t>
            </a:r>
          </a:p>
        </p:txBody>
      </p:sp>
      <p:sp>
        <p:nvSpPr>
          <p:cNvPr id="25" name="conclusion-table-vline-2-2">
            <a:extLst>
              <a:ext uri="{FF2B5EF4-FFF2-40B4-BE49-F238E27FC236}">
                <a16:creationId xmlns:a16="http://schemas.microsoft.com/office/drawing/2014/main" id="{ECCCAE83-D4C2-4988-A366-309808D8BFB9}"/>
              </a:ext>
            </a:extLst>
          </p:cNvPr>
          <p:cNvSpPr>
            <a:spLocks noGrp="1"/>
          </p:cNvSpPr>
          <p:nvPr/>
        </p:nvSpPr>
        <p:spPr>
          <a:xfrm>
            <a:off x="7305675" y="3295650"/>
            <a:ext cx="9525" cy="6667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6" name="conclusion-table-cell-2-2">
            <a:extLst>
              <a:ext uri="{FF2B5EF4-FFF2-40B4-BE49-F238E27FC236}">
                <a16:creationId xmlns:a16="http://schemas.microsoft.com/office/drawing/2014/main" id="{B1691CA1-D68C-423A-8D55-A64B21D541D0}"/>
              </a:ext>
            </a:extLst>
          </p:cNvPr>
          <p:cNvSpPr>
            <a:spLocks noGrp="1"/>
          </p:cNvSpPr>
          <p:nvPr/>
        </p:nvSpPr>
        <p:spPr>
          <a:xfrm>
            <a:off x="7400925" y="3362325"/>
            <a:ext cx="34956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1" dirty="0">
                <a:solidFill>
                  <a:srgbClr val="314B59"/>
                </a:solidFill>
              </a:rPr>
              <a:t>Nonlinear models can improve risk discrimination</a:t>
            </a:r>
          </a:p>
        </p:txBody>
      </p:sp>
      <p:sp>
        <p:nvSpPr>
          <p:cNvPr id="27" name="conclusion-table-hline-3">
            <a:extLst>
              <a:ext uri="{FF2B5EF4-FFF2-40B4-BE49-F238E27FC236}">
                <a16:creationId xmlns:a16="http://schemas.microsoft.com/office/drawing/2014/main" id="{6732D7BC-81C7-4BD6-A0F3-571FF38EBCCA}"/>
              </a:ext>
            </a:extLst>
          </p:cNvPr>
          <p:cNvSpPr>
            <a:spLocks noGrp="1"/>
          </p:cNvSpPr>
          <p:nvPr/>
        </p:nvSpPr>
        <p:spPr>
          <a:xfrm>
            <a:off x="781050" y="4629150"/>
            <a:ext cx="10191750" cy="9525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8" name="conclusion-table-cell-3-0">
            <a:extLst>
              <a:ext uri="{FF2B5EF4-FFF2-40B4-BE49-F238E27FC236}">
                <a16:creationId xmlns:a16="http://schemas.microsoft.com/office/drawing/2014/main" id="{1FC9DAFF-341B-4213-BB0D-5E90D04652C4}"/>
              </a:ext>
            </a:extLst>
          </p:cNvPr>
          <p:cNvSpPr>
            <a:spLocks noGrp="1"/>
          </p:cNvSpPr>
          <p:nvPr/>
        </p:nvSpPr>
        <p:spPr>
          <a:xfrm>
            <a:off x="876300" y="4029075"/>
            <a:ext cx="2686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1">
                <a:solidFill>
                  <a:srgbClr val="0B2F3F"/>
                </a:solidFill>
              </a:defRPr>
            </a:pPr>
            <a:r>
              <a:rPr sz="1200" b="1">
                <a:solidFill>
                  <a:srgbClr val="0B2F3F"/>
                </a:solidFill>
              </a:rPr>
              <a:t>Best ML beats IPSS-M</a:t>
            </a:r>
          </a:p>
        </p:txBody>
      </p:sp>
      <p:sp>
        <p:nvSpPr>
          <p:cNvPr id="29" name="conclusion-table-vline-3-1">
            <a:extLst>
              <a:ext uri="{FF2B5EF4-FFF2-40B4-BE49-F238E27FC236}">
                <a16:creationId xmlns:a16="http://schemas.microsoft.com/office/drawing/2014/main" id="{E80E461A-0DE6-49AD-89D9-B50DE0013643}"/>
              </a:ext>
            </a:extLst>
          </p:cNvPr>
          <p:cNvSpPr>
            <a:spLocks noGrp="1"/>
          </p:cNvSpPr>
          <p:nvPr/>
        </p:nvSpPr>
        <p:spPr>
          <a:xfrm>
            <a:off x="3638550" y="3962400"/>
            <a:ext cx="9525" cy="6667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0" name="conclusion-table-cell-3-1">
            <a:extLst>
              <a:ext uri="{FF2B5EF4-FFF2-40B4-BE49-F238E27FC236}">
                <a16:creationId xmlns:a16="http://schemas.microsoft.com/office/drawing/2014/main" id="{4B783273-DF7D-4141-90B1-9345FDBCD0FE}"/>
              </a:ext>
            </a:extLst>
          </p:cNvPr>
          <p:cNvSpPr>
            <a:spLocks noGrp="1"/>
          </p:cNvSpPr>
          <p:nvPr/>
        </p:nvSpPr>
        <p:spPr>
          <a:xfrm>
            <a:off x="3733800" y="4029075"/>
            <a:ext cx="34956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0">
                <a:solidFill>
                  <a:srgbClr val="314B59"/>
                </a:solidFill>
              </a:rPr>
              <a:t>C-index gains of 0.038-0.047 over IPSS-M</a:t>
            </a:r>
          </a:p>
        </p:txBody>
      </p:sp>
      <p:sp>
        <p:nvSpPr>
          <p:cNvPr id="31" name="conclusion-table-vline-3-2">
            <a:extLst>
              <a:ext uri="{FF2B5EF4-FFF2-40B4-BE49-F238E27FC236}">
                <a16:creationId xmlns:a16="http://schemas.microsoft.com/office/drawing/2014/main" id="{82E470F1-9DFF-4A8D-961E-A283AD55A2D0}"/>
              </a:ext>
            </a:extLst>
          </p:cNvPr>
          <p:cNvSpPr>
            <a:spLocks noGrp="1"/>
          </p:cNvSpPr>
          <p:nvPr/>
        </p:nvSpPr>
        <p:spPr>
          <a:xfrm>
            <a:off x="7305675" y="3962400"/>
            <a:ext cx="9525" cy="666750"/>
          </a:xfrm>
          <a:prstGeom prst="rect">
            <a:avLst/>
          </a:prstGeom>
          <a:solidFill>
            <a:srgbClr val="CBDCE3"/>
          </a:solidFill>
          <a:ln w="0">
            <a:noFill/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2" name="conclusion-table-cell-3-2">
            <a:extLst>
              <a:ext uri="{FF2B5EF4-FFF2-40B4-BE49-F238E27FC236}">
                <a16:creationId xmlns:a16="http://schemas.microsoft.com/office/drawing/2014/main" id="{328DCBCE-7E5C-4B99-952E-B39F2106C574}"/>
              </a:ext>
            </a:extLst>
          </p:cNvPr>
          <p:cNvSpPr>
            <a:spLocks noGrp="1"/>
          </p:cNvSpPr>
          <p:nvPr/>
        </p:nvSpPr>
        <p:spPr>
          <a:xfrm>
            <a:off x="7400925" y="4029075"/>
            <a:ext cx="34956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050" b="0">
                <a:solidFill>
                  <a:srgbClr val="314B59"/>
                </a:solidFill>
              </a:defRPr>
            </a:pPr>
            <a:r>
              <a:rPr sz="1200" b="1" dirty="0">
                <a:solidFill>
                  <a:srgbClr val="314B59"/>
                </a:solidFill>
              </a:rPr>
              <a:t>ML may enhance individualized prognostic tools</a:t>
            </a:r>
          </a:p>
        </p:txBody>
      </p:sp>
      <p:sp>
        <p:nvSpPr>
          <p:cNvPr id="33" name="section-rule-Limitations and future work">
            <a:extLst>
              <a:ext uri="{FF2B5EF4-FFF2-40B4-BE49-F238E27FC236}">
                <a16:creationId xmlns:a16="http://schemas.microsoft.com/office/drawing/2014/main" id="{B343929C-91ED-4B6F-951E-13EA6DD8B286}"/>
              </a:ext>
            </a:extLst>
          </p:cNvPr>
          <p:cNvSpPr>
            <a:spLocks noGrp="1"/>
          </p:cNvSpPr>
          <p:nvPr/>
        </p:nvSpPr>
        <p:spPr>
          <a:xfrm>
            <a:off x="876300" y="4819650"/>
            <a:ext cx="4286250" cy="20955"/>
          </a:xfrm>
          <a:prstGeom prst="rect">
            <a:avLst/>
          </a:prstGeom>
          <a:solidFill>
            <a:srgbClr val="B45F2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ection-title-Limitations and future work">
            <a:extLst>
              <a:ext uri="{FF2B5EF4-FFF2-40B4-BE49-F238E27FC236}">
                <a16:creationId xmlns:a16="http://schemas.microsoft.com/office/drawing/2014/main" id="{5489038C-0AE4-4046-9BA8-620D8767CA67}"/>
              </a:ext>
            </a:extLst>
          </p:cNvPr>
          <p:cNvSpPr>
            <a:spLocks noGrp="1"/>
          </p:cNvSpPr>
          <p:nvPr/>
        </p:nvSpPr>
        <p:spPr>
          <a:xfrm>
            <a:off x="876300" y="4914900"/>
            <a:ext cx="428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125" b="1">
                <a:solidFill>
                  <a:srgbClr val="B45F2A"/>
                </a:solidFill>
              </a:defRPr>
            </a:pPr>
            <a:r>
              <a:rPr sz="1125" b="1">
                <a:solidFill>
                  <a:srgbClr val="B45F2A"/>
                </a:solidFill>
              </a:rPr>
              <a:t>LIMITATIONS AND FUTURE WORK</a:t>
            </a:r>
          </a:p>
        </p:txBody>
      </p:sp>
      <p:sp>
        <p:nvSpPr>
          <p:cNvPr id="35" name="future-work-text">
            <a:extLst>
              <a:ext uri="{FF2B5EF4-FFF2-40B4-BE49-F238E27FC236}">
                <a16:creationId xmlns:a16="http://schemas.microsoft.com/office/drawing/2014/main" id="{D042111E-0A62-45B5-BB8E-9AF8C890D49F}"/>
              </a:ext>
            </a:extLst>
          </p:cNvPr>
          <p:cNvSpPr>
            <a:spLocks noGrp="1"/>
          </p:cNvSpPr>
          <p:nvPr/>
        </p:nvSpPr>
        <p:spPr>
          <a:xfrm>
            <a:off x="876300" y="5238750"/>
            <a:ext cx="876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buNone/>
              <a:defRPr sz="1350">
                <a:solidFill>
                  <a:srgbClr val="314B59"/>
                </a:solidFill>
              </a:defRPr>
            </a:pPr>
            <a:r>
              <a:rPr sz="1350" b="1" dirty="0">
                <a:solidFill>
                  <a:srgbClr val="314B59"/>
                </a:solidFill>
              </a:rPr>
              <a:t>C-index measures discrimination, not calibration. Before clinical deployment, models need calibration analysis, external validation, and workflow integration.</a:t>
            </a:r>
          </a:p>
        </p:txBody>
      </p:sp>
      <p:sp>
        <p:nvSpPr>
          <p:cNvPr id="36" name="takeaway-band">
            <a:extLst>
              <a:ext uri="{FF2B5EF4-FFF2-40B4-BE49-F238E27FC236}">
                <a16:creationId xmlns:a16="http://schemas.microsoft.com/office/drawing/2014/main" id="{974D22D1-9ECA-4357-A584-DECFC4EFB2A1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820400" cy="55245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7" name="takeaway-label">
            <a:extLst>
              <a:ext uri="{FF2B5EF4-FFF2-40B4-BE49-F238E27FC236}">
                <a16:creationId xmlns:a16="http://schemas.microsoft.com/office/drawing/2014/main" id="{E43FDB28-5D99-4C95-B391-09EBB2117F33}"/>
              </a:ext>
            </a:extLst>
          </p:cNvPr>
          <p:cNvSpPr>
            <a:spLocks noGrp="1"/>
          </p:cNvSpPr>
          <p:nvPr/>
        </p:nvSpPr>
        <p:spPr>
          <a:xfrm>
            <a:off x="952500" y="5953125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050" b="1">
                <a:solidFill>
                  <a:srgbClr val="C7E8F2"/>
                </a:solidFill>
              </a:defRPr>
            </a:pPr>
            <a:r>
              <a:rPr sz="1050" b="1">
                <a:solidFill>
                  <a:srgbClr val="C7E8F2"/>
                </a:solidFill>
              </a:rPr>
              <a:t>Closing message</a:t>
            </a:r>
          </a:p>
        </p:txBody>
      </p:sp>
      <p:sp>
        <p:nvSpPr>
          <p:cNvPr id="38" name="takeaway-text">
            <a:extLst>
              <a:ext uri="{FF2B5EF4-FFF2-40B4-BE49-F238E27FC236}">
                <a16:creationId xmlns:a16="http://schemas.microsoft.com/office/drawing/2014/main" id="{9AD5A943-7FE5-4863-A8D0-F0B95E9D2C76}"/>
              </a:ext>
            </a:extLst>
          </p:cNvPr>
          <p:cNvSpPr>
            <a:spLocks noGrp="1"/>
          </p:cNvSpPr>
          <p:nvPr/>
        </p:nvSpPr>
        <p:spPr>
          <a:xfrm>
            <a:off x="952500" y="6143625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Survival ML provides a promising path toward patient-specific MDS prognosis.</a:t>
            </a:r>
          </a:p>
        </p:txBody>
      </p:sp>
      <p:sp>
        <p:nvSpPr>
          <p:cNvPr id="39" name="footer">
            <a:extLst>
              <a:ext uri="{FF2B5EF4-FFF2-40B4-BE49-F238E27FC236}">
                <a16:creationId xmlns:a16="http://schemas.microsoft.com/office/drawing/2014/main" id="{E63DF864-B5FE-4C78-9F18-78BAB349D9F1}"/>
              </a:ext>
            </a:extLst>
          </p:cNvPr>
          <p:cNvSpPr>
            <a:spLocks noGrp="1"/>
          </p:cNvSpPr>
          <p:nvPr/>
        </p:nvSpPr>
        <p:spPr>
          <a:xfrm>
            <a:off x="8858250" y="65722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r">
              <a:buNone/>
              <a:defRPr sz="750">
                <a:solidFill>
                  <a:srgbClr val="7A8D97"/>
                </a:solidFill>
              </a:defRPr>
            </a:pPr>
            <a:r>
              <a:rPr sz="750">
                <a:solidFill>
                  <a:srgbClr val="7A8D97"/>
                </a:solidFill>
              </a:rPr>
              <a:t>Machine Learning-Based Survival Prediction of Outcomes in MDS</a:t>
            </a:r>
          </a:p>
        </p:txBody>
      </p:sp>
      <p:sp>
        <p:nvSpPr>
          <p:cNvPr id="40" name="source-line-15">
            <a:extLst>
              <a:ext uri="{FF2B5EF4-FFF2-40B4-BE49-F238E27FC236}">
                <a16:creationId xmlns:a16="http://schemas.microsoft.com/office/drawing/2014/main" id="{422B1A13-C4AC-42E3-AD89-DF7CC1C1CCBA}"/>
              </a:ext>
            </a:extLst>
          </p:cNvPr>
          <p:cNvSpPr>
            <a:spLocks noGrp="1"/>
          </p:cNvSpPr>
          <p:nvPr/>
        </p:nvSpPr>
        <p:spPr>
          <a:xfrm>
            <a:off x="685800" y="6553200"/>
            <a:ext cx="742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defRPr sz="788">
                <a:solidFill>
                  <a:srgbClr val="7A8D97"/>
                </a:solidFill>
              </a:defRPr>
            </a:pPr>
            <a:r>
              <a:rPr sz="788">
                <a:solidFill>
                  <a:srgbClr val="7A8D97"/>
                </a:solidFill>
              </a:rPr>
              <a:t>Sources: [5], [7], [11]</a:t>
            </a:r>
          </a:p>
        </p:txBody>
      </p:sp>
    </p:spTree>
    <p:extLst>
      <p:ext uri="{BB962C8B-B14F-4D97-AF65-F5344CB8AC3E}">
        <p14:creationId xmlns:p14="http://schemas.microsoft.com/office/powerpoint/2010/main" val="946737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left-accent-bar">
            <a:extLst>
              <a:ext uri="{FF2B5EF4-FFF2-40B4-BE49-F238E27FC236}">
                <a16:creationId xmlns:a16="http://schemas.microsoft.com/office/drawing/2014/main" id="{5EAC11A9-74D7-4F15-B976-F7F418F489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op-rule">
            <a:extLst>
              <a:ext uri="{FF2B5EF4-FFF2-40B4-BE49-F238E27FC236}">
                <a16:creationId xmlns:a16="http://schemas.microsoft.com/office/drawing/2014/main" id="{8556EADD-3074-49B5-AE45-49A5AC39EF45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19050"/>
          </a:xfrm>
          <a:prstGeom prst="rect">
            <a:avLst/>
          </a:prstGeom>
          <a:solidFill>
            <a:srgbClr val="DDE8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4AE0C17E-8421-4E73-8CCF-5BB7964A8F09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defRPr sz="1200" b="1">
                <a:solidFill>
                  <a:srgbClr val="0B4D63"/>
                </a:solidFill>
              </a:defRPr>
            </a:pPr>
            <a:r>
              <a:rPr sz="1200" b="1">
                <a:solidFill>
                  <a:srgbClr val="0B4D63"/>
                </a:solidFill>
              </a:rPr>
              <a:t>REFERENCES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4CC56B04-88C6-49F7-A4CA-699104CD6AC8}"/>
              </a:ext>
            </a:extLst>
          </p:cNvPr>
          <p:cNvSpPr>
            <a:spLocks noGrp="1"/>
          </p:cNvSpPr>
          <p:nvPr/>
        </p:nvSpPr>
        <p:spPr>
          <a:xfrm>
            <a:off x="685800" y="95250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defRPr sz="2925" b="1">
                <a:solidFill>
                  <a:srgbClr val="0B2F3F"/>
                </a:solidFill>
              </a:defRPr>
            </a:pPr>
            <a:r>
              <a:rPr sz="2925" b="1">
                <a:solidFill>
                  <a:srgbClr val="0B2F3F"/>
                </a:solidFill>
              </a:rPr>
              <a:t>References</a:t>
            </a:r>
          </a:p>
        </p:txBody>
      </p:sp>
      <p:sp>
        <p:nvSpPr>
          <p:cNvPr id="7" name="left-col-rule">
            <a:extLst>
              <a:ext uri="{FF2B5EF4-FFF2-40B4-BE49-F238E27FC236}">
                <a16:creationId xmlns:a16="http://schemas.microsoft.com/office/drawing/2014/main" id="{4E4644DF-2B9E-41B4-8D80-9C4B7E3F66A4}"/>
              </a:ext>
            </a:extLst>
          </p:cNvPr>
          <p:cNvSpPr>
            <a:spLocks noGrp="1"/>
          </p:cNvSpPr>
          <p:nvPr/>
        </p:nvSpPr>
        <p:spPr>
          <a:xfrm>
            <a:off x="933450" y="1809751"/>
            <a:ext cx="4743450" cy="20955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ight-col-rule">
            <a:extLst>
              <a:ext uri="{FF2B5EF4-FFF2-40B4-BE49-F238E27FC236}">
                <a16:creationId xmlns:a16="http://schemas.microsoft.com/office/drawing/2014/main" id="{E4895124-6EBF-4D3D-A3B4-F84D7E390BF4}"/>
              </a:ext>
            </a:extLst>
          </p:cNvPr>
          <p:cNvSpPr>
            <a:spLocks noGrp="1"/>
          </p:cNvSpPr>
          <p:nvPr/>
        </p:nvSpPr>
        <p:spPr>
          <a:xfrm>
            <a:off x="6362700" y="1809751"/>
            <a:ext cx="4743450" cy="20955"/>
          </a:xfrm>
          <a:prstGeom prst="rect">
            <a:avLst/>
          </a:prstGeom>
          <a:solidFill>
            <a:srgbClr val="B45F2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f-1">
            <a:extLst>
              <a:ext uri="{FF2B5EF4-FFF2-40B4-BE49-F238E27FC236}">
                <a16:creationId xmlns:a16="http://schemas.microsoft.com/office/drawing/2014/main" id="{6D86384E-87E6-4225-8766-361750520D0D}"/>
              </a:ext>
            </a:extLst>
          </p:cNvPr>
          <p:cNvSpPr>
            <a:spLocks noGrp="1"/>
          </p:cNvSpPr>
          <p:nvPr/>
        </p:nvSpPr>
        <p:spPr>
          <a:xfrm>
            <a:off x="933450" y="2000251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defRPr sz="705">
                <a:solidFill>
                  <a:srgbClr val="314B59"/>
                </a:solidFill>
              </a:defRPr>
            </a:pPr>
            <a:r>
              <a:rPr sz="1000" dirty="0">
                <a:solidFill>
                  <a:srgbClr val="314B59"/>
                </a:solidFill>
              </a:rPr>
              <a:t>[1] </a:t>
            </a:r>
            <a:r>
              <a:rPr sz="1000" dirty="0" err="1">
                <a:solidFill>
                  <a:srgbClr val="314B59"/>
                </a:solidFill>
              </a:rPr>
              <a:t>Awada</a:t>
            </a:r>
            <a:r>
              <a:rPr sz="1000" dirty="0">
                <a:solidFill>
                  <a:srgbClr val="314B59"/>
                </a:solidFill>
              </a:rPr>
              <a:t>, H., et al.: Personalized risk schemes and machine learning to empower genomic prognostication models in myelodysplastic syndromes. Int. J. Mol. Sci. 23(5), 2802 (2022).</a:t>
            </a:r>
          </a:p>
        </p:txBody>
      </p:sp>
      <p:sp>
        <p:nvSpPr>
          <p:cNvPr id="10" name="ref-2">
            <a:extLst>
              <a:ext uri="{FF2B5EF4-FFF2-40B4-BE49-F238E27FC236}">
                <a16:creationId xmlns:a16="http://schemas.microsoft.com/office/drawing/2014/main" id="{07330517-671A-40E5-98B9-64C07DFFCB84}"/>
              </a:ext>
            </a:extLst>
          </p:cNvPr>
          <p:cNvSpPr>
            <a:spLocks noGrp="1"/>
          </p:cNvSpPr>
          <p:nvPr/>
        </p:nvSpPr>
        <p:spPr>
          <a:xfrm>
            <a:off x="933450" y="2466976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defRPr sz="705">
                <a:solidFill>
                  <a:srgbClr val="314B59"/>
                </a:solidFill>
              </a:defRPr>
            </a:pPr>
            <a:r>
              <a:rPr sz="1000">
                <a:solidFill>
                  <a:srgbClr val="314B59"/>
                </a:solidFill>
              </a:rPr>
              <a:t>[2] Bernard, E., et al.: Molecular international prognostic scoring system for myelodysplastic syndromes. NEJM Evid. 1(7), EVIDoa2200008 (2022).</a:t>
            </a:r>
          </a:p>
        </p:txBody>
      </p:sp>
      <p:sp>
        <p:nvSpPr>
          <p:cNvPr id="11" name="ref-3">
            <a:extLst>
              <a:ext uri="{FF2B5EF4-FFF2-40B4-BE49-F238E27FC236}">
                <a16:creationId xmlns:a16="http://schemas.microsoft.com/office/drawing/2014/main" id="{5A94D00C-C8C5-4385-AF9C-024D3BB0CAD5}"/>
              </a:ext>
            </a:extLst>
          </p:cNvPr>
          <p:cNvSpPr>
            <a:spLocks noGrp="1"/>
          </p:cNvSpPr>
          <p:nvPr/>
        </p:nvSpPr>
        <p:spPr>
          <a:xfrm>
            <a:off x="933450" y="2933701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defRPr sz="705">
                <a:solidFill>
                  <a:srgbClr val="314B59"/>
                </a:solidFill>
              </a:defRPr>
            </a:pPr>
            <a:r>
              <a:rPr sz="1000" dirty="0">
                <a:solidFill>
                  <a:srgbClr val="314B59"/>
                </a:solidFill>
              </a:rPr>
              <a:t>[3] </a:t>
            </a:r>
            <a:r>
              <a:rPr sz="1000" dirty="0" err="1">
                <a:solidFill>
                  <a:srgbClr val="314B59"/>
                </a:solidFill>
              </a:rPr>
              <a:t>Fotso</a:t>
            </a:r>
            <a:r>
              <a:rPr sz="1000" dirty="0">
                <a:solidFill>
                  <a:srgbClr val="314B59"/>
                </a:solidFill>
              </a:rPr>
              <a:t>, S.: Deep neural networks for survival analysis based on a multi-task framework. </a:t>
            </a:r>
            <a:r>
              <a:rPr sz="1000" dirty="0" err="1">
                <a:solidFill>
                  <a:srgbClr val="314B59"/>
                </a:solidFill>
              </a:rPr>
              <a:t>arXiv</a:t>
            </a:r>
            <a:r>
              <a:rPr sz="1000" dirty="0">
                <a:solidFill>
                  <a:srgbClr val="314B59"/>
                </a:solidFill>
              </a:rPr>
              <a:t> preprint arXiv:1801.05512 (2018).</a:t>
            </a:r>
          </a:p>
        </p:txBody>
      </p:sp>
      <p:sp>
        <p:nvSpPr>
          <p:cNvPr id="12" name="ref-4">
            <a:extLst>
              <a:ext uri="{FF2B5EF4-FFF2-40B4-BE49-F238E27FC236}">
                <a16:creationId xmlns:a16="http://schemas.microsoft.com/office/drawing/2014/main" id="{FC46B7DB-AB26-48E1-857D-0B9BEF962E6F}"/>
              </a:ext>
            </a:extLst>
          </p:cNvPr>
          <p:cNvSpPr>
            <a:spLocks noGrp="1"/>
          </p:cNvSpPr>
          <p:nvPr/>
        </p:nvSpPr>
        <p:spPr>
          <a:xfrm>
            <a:off x="933450" y="3400426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defRPr sz="705">
                <a:solidFill>
                  <a:srgbClr val="314B59"/>
                </a:solidFill>
              </a:defRPr>
            </a:pPr>
            <a:r>
              <a:rPr sz="1000">
                <a:solidFill>
                  <a:srgbClr val="314B59"/>
                </a:solidFill>
              </a:rPr>
              <a:t>[4] Fotso, S., et al.: PySurvival: Open source package for survival analysis modeling (2019). https://www.pysurvival.io/</a:t>
            </a:r>
          </a:p>
        </p:txBody>
      </p:sp>
      <p:sp>
        <p:nvSpPr>
          <p:cNvPr id="13" name="ref-5">
            <a:extLst>
              <a:ext uri="{FF2B5EF4-FFF2-40B4-BE49-F238E27FC236}">
                <a16:creationId xmlns:a16="http://schemas.microsoft.com/office/drawing/2014/main" id="{514E7322-9C3E-429A-B84C-CF80EA0070A4}"/>
              </a:ext>
            </a:extLst>
          </p:cNvPr>
          <p:cNvSpPr>
            <a:spLocks noGrp="1"/>
          </p:cNvSpPr>
          <p:nvPr/>
        </p:nvSpPr>
        <p:spPr>
          <a:xfrm>
            <a:off x="933450" y="3867151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defRPr sz="705">
                <a:solidFill>
                  <a:srgbClr val="314B59"/>
                </a:solidFill>
              </a:defRPr>
            </a:pPr>
            <a:r>
              <a:rPr sz="1000">
                <a:solidFill>
                  <a:srgbClr val="314B59"/>
                </a:solidFill>
              </a:rPr>
              <a:t>[5] Graf, E., et al.: Assessment and comparison of prognostic classification schemes for survival data. Stat. Med. 18(17-18), 2529-2545 (1999).</a:t>
            </a:r>
          </a:p>
        </p:txBody>
      </p:sp>
      <p:sp>
        <p:nvSpPr>
          <p:cNvPr id="14" name="ref-6">
            <a:extLst>
              <a:ext uri="{FF2B5EF4-FFF2-40B4-BE49-F238E27FC236}">
                <a16:creationId xmlns:a16="http://schemas.microsoft.com/office/drawing/2014/main" id="{C530A31D-3A0F-4375-87FD-69C157D912DE}"/>
              </a:ext>
            </a:extLst>
          </p:cNvPr>
          <p:cNvSpPr>
            <a:spLocks noGrp="1"/>
          </p:cNvSpPr>
          <p:nvPr/>
        </p:nvSpPr>
        <p:spPr>
          <a:xfrm>
            <a:off x="933450" y="4333876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defRPr sz="705">
                <a:solidFill>
                  <a:srgbClr val="314B59"/>
                </a:solidFill>
              </a:defRPr>
            </a:pPr>
            <a:r>
              <a:rPr sz="1000">
                <a:solidFill>
                  <a:srgbClr val="314B59"/>
                </a:solidFill>
              </a:rPr>
              <a:t>[6] Greenberg, P.L., et al.: Revised international prognostic scoring system for myelodysplastic syndromes. Blood 120(12), 2454-2465 (2012).</a:t>
            </a:r>
          </a:p>
        </p:txBody>
      </p:sp>
      <p:sp>
        <p:nvSpPr>
          <p:cNvPr id="15" name="ref-7">
            <a:extLst>
              <a:ext uri="{FF2B5EF4-FFF2-40B4-BE49-F238E27FC236}">
                <a16:creationId xmlns:a16="http://schemas.microsoft.com/office/drawing/2014/main" id="{BFC0582F-35E7-4617-8830-79A679AB3095}"/>
              </a:ext>
            </a:extLst>
          </p:cNvPr>
          <p:cNvSpPr>
            <a:spLocks noGrp="1"/>
          </p:cNvSpPr>
          <p:nvPr/>
        </p:nvSpPr>
        <p:spPr>
          <a:xfrm>
            <a:off x="933450" y="4800601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defRPr sz="705">
                <a:solidFill>
                  <a:srgbClr val="314B59"/>
                </a:solidFill>
              </a:defRPr>
            </a:pPr>
            <a:r>
              <a:rPr sz="1000">
                <a:solidFill>
                  <a:srgbClr val="314B59"/>
                </a:solidFill>
              </a:rPr>
              <a:t>[7] Harrell, F.E., et al.: Evaluating the yield of medical tests. JAMA 247(18), 2543-2546 (1982).</a:t>
            </a:r>
          </a:p>
        </p:txBody>
      </p:sp>
      <p:sp>
        <p:nvSpPr>
          <p:cNvPr id="16" name="ref-8">
            <a:extLst>
              <a:ext uri="{FF2B5EF4-FFF2-40B4-BE49-F238E27FC236}">
                <a16:creationId xmlns:a16="http://schemas.microsoft.com/office/drawing/2014/main" id="{ABCAC3B5-AC20-454E-956A-B574B9715C26}"/>
              </a:ext>
            </a:extLst>
          </p:cNvPr>
          <p:cNvSpPr>
            <a:spLocks noGrp="1"/>
          </p:cNvSpPr>
          <p:nvPr/>
        </p:nvSpPr>
        <p:spPr>
          <a:xfrm>
            <a:off x="933450" y="5267326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defRPr sz="705">
                <a:solidFill>
                  <a:srgbClr val="314B59"/>
                </a:solidFill>
              </a:defRPr>
            </a:pPr>
            <a:r>
              <a:rPr sz="1000">
                <a:solidFill>
                  <a:srgbClr val="314B59"/>
                </a:solidFill>
              </a:rPr>
              <a:t>[8] Katzman, J.L., et al.: DeepSurv: personalized treatment recommender system using a Cox proportional hazards deep neural network. BMC Med. Res. Methodol. 18, 24 (2018).</a:t>
            </a:r>
          </a:p>
        </p:txBody>
      </p:sp>
      <p:sp>
        <p:nvSpPr>
          <p:cNvPr id="17" name="ref-9">
            <a:extLst>
              <a:ext uri="{FF2B5EF4-FFF2-40B4-BE49-F238E27FC236}">
                <a16:creationId xmlns:a16="http://schemas.microsoft.com/office/drawing/2014/main" id="{1C738E03-6F6F-4C85-BA76-55FE077496AA}"/>
              </a:ext>
            </a:extLst>
          </p:cNvPr>
          <p:cNvSpPr>
            <a:spLocks noGrp="1"/>
          </p:cNvSpPr>
          <p:nvPr/>
        </p:nvSpPr>
        <p:spPr>
          <a:xfrm>
            <a:off x="6362700" y="2000251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defRPr sz="705">
                <a:solidFill>
                  <a:srgbClr val="314B59"/>
                </a:solidFill>
              </a:defRPr>
            </a:pPr>
            <a:r>
              <a:rPr sz="1000">
                <a:solidFill>
                  <a:srgbClr val="314B59"/>
                </a:solidFill>
              </a:rPr>
              <a:t>[9] Kvamme, H., et al.: HAVAKV/PYCOX: Survival analysis with PyTorch (2024). https://github.com/havakv/pycox</a:t>
            </a:r>
          </a:p>
        </p:txBody>
      </p:sp>
      <p:sp>
        <p:nvSpPr>
          <p:cNvPr id="18" name="ref-10">
            <a:extLst>
              <a:ext uri="{FF2B5EF4-FFF2-40B4-BE49-F238E27FC236}">
                <a16:creationId xmlns:a16="http://schemas.microsoft.com/office/drawing/2014/main" id="{1AF41409-5610-46AB-8355-34B66F626301}"/>
              </a:ext>
            </a:extLst>
          </p:cNvPr>
          <p:cNvSpPr>
            <a:spLocks noGrp="1"/>
          </p:cNvSpPr>
          <p:nvPr/>
        </p:nvSpPr>
        <p:spPr>
          <a:xfrm>
            <a:off x="6362700" y="2466976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defRPr sz="705">
                <a:solidFill>
                  <a:srgbClr val="314B59"/>
                </a:solidFill>
              </a:defRPr>
            </a:pPr>
            <a:r>
              <a:rPr sz="1000">
                <a:solidFill>
                  <a:srgbClr val="314B59"/>
                </a:solidFill>
              </a:rPr>
              <a:t>[10] Kvamme, H., Borgan, Ø.: Continuous and discrete-time survival prediction with neural networks. Lifetime Data Anal. 27(4), 710-736 (2021).</a:t>
            </a:r>
          </a:p>
        </p:txBody>
      </p:sp>
      <p:sp>
        <p:nvSpPr>
          <p:cNvPr id="19" name="ref-11">
            <a:extLst>
              <a:ext uri="{FF2B5EF4-FFF2-40B4-BE49-F238E27FC236}">
                <a16:creationId xmlns:a16="http://schemas.microsoft.com/office/drawing/2014/main" id="{BFB97BF8-FD61-45B8-ABED-C05C40C70B79}"/>
              </a:ext>
            </a:extLst>
          </p:cNvPr>
          <p:cNvSpPr>
            <a:spLocks noGrp="1"/>
          </p:cNvSpPr>
          <p:nvPr/>
        </p:nvSpPr>
        <p:spPr>
          <a:xfrm>
            <a:off x="6362700" y="2933701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defRPr sz="705">
                <a:solidFill>
                  <a:srgbClr val="314B59"/>
                </a:solidFill>
              </a:defRPr>
            </a:pPr>
            <a:r>
              <a:rPr sz="1000">
                <a:solidFill>
                  <a:srgbClr val="314B59"/>
                </a:solidFill>
              </a:rPr>
              <a:t>[11] Mosquera Orgueira, A., et al.: Machine learning improves risk stratification in myelodysplastic neoplasms: an analysis of the Spanish group of myelodysplastic syndromes. Hemasphere 7(10), e961 (2023).</a:t>
            </a:r>
          </a:p>
        </p:txBody>
      </p:sp>
      <p:sp>
        <p:nvSpPr>
          <p:cNvPr id="20" name="ref-12">
            <a:extLst>
              <a:ext uri="{FF2B5EF4-FFF2-40B4-BE49-F238E27FC236}">
                <a16:creationId xmlns:a16="http://schemas.microsoft.com/office/drawing/2014/main" id="{53FC9D90-FA7B-47CA-B68C-1536B85C05B4}"/>
              </a:ext>
            </a:extLst>
          </p:cNvPr>
          <p:cNvSpPr>
            <a:spLocks noGrp="1"/>
          </p:cNvSpPr>
          <p:nvPr/>
        </p:nvSpPr>
        <p:spPr>
          <a:xfrm>
            <a:off x="6362700" y="3400426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defRPr sz="705">
                <a:solidFill>
                  <a:srgbClr val="314B59"/>
                </a:solidFill>
              </a:defRPr>
            </a:pPr>
            <a:r>
              <a:rPr sz="1000">
                <a:solidFill>
                  <a:srgbClr val="314B59"/>
                </a:solidFill>
              </a:rPr>
              <a:t>[12] Pölsterl, S.: scikit-survival: a library for time-to-event analysis built on top of scikit-learn. J. Mach. Learn. Res. 21(212), 1-6 (2020).</a:t>
            </a:r>
          </a:p>
        </p:txBody>
      </p:sp>
      <p:sp>
        <p:nvSpPr>
          <p:cNvPr id="21" name="ref-13">
            <a:extLst>
              <a:ext uri="{FF2B5EF4-FFF2-40B4-BE49-F238E27FC236}">
                <a16:creationId xmlns:a16="http://schemas.microsoft.com/office/drawing/2014/main" id="{59F2FBAA-02CE-41F7-94C5-C1FE7FCDFD34}"/>
              </a:ext>
            </a:extLst>
          </p:cNvPr>
          <p:cNvSpPr>
            <a:spLocks noGrp="1"/>
          </p:cNvSpPr>
          <p:nvPr/>
        </p:nvSpPr>
        <p:spPr>
          <a:xfrm>
            <a:off x="6362700" y="3867151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defRPr sz="705">
                <a:solidFill>
                  <a:srgbClr val="314B59"/>
                </a:solidFill>
              </a:defRPr>
            </a:pPr>
            <a:r>
              <a:rPr sz="1000">
                <a:solidFill>
                  <a:srgbClr val="314B59"/>
                </a:solidFill>
              </a:rPr>
              <a:t>[13] Qi, S., et al.: SurvivalEVAL: a comprehensive open-source Python package for evaluating individual survival distributions. In: Proceedings AAAI Symposium Series, vol. 2, pp. 453-457 (2024).</a:t>
            </a:r>
          </a:p>
        </p:txBody>
      </p:sp>
      <p:sp>
        <p:nvSpPr>
          <p:cNvPr id="22" name="ref-14">
            <a:extLst>
              <a:ext uri="{FF2B5EF4-FFF2-40B4-BE49-F238E27FC236}">
                <a16:creationId xmlns:a16="http://schemas.microsoft.com/office/drawing/2014/main" id="{897EC605-1E19-4A6D-8685-23033F9E2AA9}"/>
              </a:ext>
            </a:extLst>
          </p:cNvPr>
          <p:cNvSpPr>
            <a:spLocks noGrp="1"/>
          </p:cNvSpPr>
          <p:nvPr/>
        </p:nvSpPr>
        <p:spPr>
          <a:xfrm>
            <a:off x="6362700" y="4333876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defRPr sz="705">
                <a:solidFill>
                  <a:srgbClr val="314B59"/>
                </a:solidFill>
              </a:defRPr>
            </a:pPr>
            <a:r>
              <a:rPr sz="1000">
                <a:solidFill>
                  <a:srgbClr val="314B59"/>
                </a:solidFill>
              </a:rPr>
              <a:t>[14] Simon, N., et al.: Regularization paths for Cox's proportional hazards model via coordinate descent. J. Stat. Softw. 39(5), 1-13 (2011).</a:t>
            </a:r>
          </a:p>
        </p:txBody>
      </p:sp>
      <p:sp>
        <p:nvSpPr>
          <p:cNvPr id="23" name="ref-15">
            <a:extLst>
              <a:ext uri="{FF2B5EF4-FFF2-40B4-BE49-F238E27FC236}">
                <a16:creationId xmlns:a16="http://schemas.microsoft.com/office/drawing/2014/main" id="{F1B8E528-0E9E-4EBE-BBCC-5ED30A0DF7E3}"/>
              </a:ext>
            </a:extLst>
          </p:cNvPr>
          <p:cNvSpPr>
            <a:spLocks noGrp="1"/>
          </p:cNvSpPr>
          <p:nvPr/>
        </p:nvSpPr>
        <p:spPr>
          <a:xfrm>
            <a:off x="6362700" y="4800601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defRPr sz="705">
                <a:solidFill>
                  <a:srgbClr val="314B59"/>
                </a:solidFill>
              </a:defRPr>
            </a:pPr>
            <a:r>
              <a:rPr sz="1000">
                <a:solidFill>
                  <a:srgbClr val="314B59"/>
                </a:solidFill>
              </a:rPr>
              <a:t>[15] The MDS Foundation: What is MDS? (2026). https://www.mds-foundation.org/mds-and-treatments/what-is-mds/</a:t>
            </a:r>
          </a:p>
        </p:txBody>
      </p:sp>
      <p:sp>
        <p:nvSpPr>
          <p:cNvPr id="24" name="ref-16">
            <a:extLst>
              <a:ext uri="{FF2B5EF4-FFF2-40B4-BE49-F238E27FC236}">
                <a16:creationId xmlns:a16="http://schemas.microsoft.com/office/drawing/2014/main" id="{B49D0370-1114-43D3-BAD4-2B9A8B7B73D4}"/>
              </a:ext>
            </a:extLst>
          </p:cNvPr>
          <p:cNvSpPr>
            <a:spLocks noGrp="1"/>
          </p:cNvSpPr>
          <p:nvPr/>
        </p:nvSpPr>
        <p:spPr>
          <a:xfrm>
            <a:off x="6362700" y="5267326"/>
            <a:ext cx="4933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algn="l">
              <a:defRPr sz="705">
                <a:solidFill>
                  <a:srgbClr val="314B59"/>
                </a:solidFill>
              </a:defRPr>
            </a:pPr>
            <a:r>
              <a:rPr sz="1000">
                <a:solidFill>
                  <a:srgbClr val="314B59"/>
                </a:solidFill>
              </a:rPr>
              <a:t>[16] Yu, C.N., et al.: Learning patient-specific cancer survival distributions as a sequence of dependent regressors. In: Advances in Neural Information Processing Systems (NeurIPS), vol. 24 (2011).</a:t>
            </a:r>
          </a:p>
        </p:txBody>
      </p:sp>
      <p:sp>
        <p:nvSpPr>
          <p:cNvPr id="25" name="footer">
            <a:extLst>
              <a:ext uri="{FF2B5EF4-FFF2-40B4-BE49-F238E27FC236}">
                <a16:creationId xmlns:a16="http://schemas.microsoft.com/office/drawing/2014/main" id="{39D19FC0-0363-4CF9-821D-1580A292C589}"/>
              </a:ext>
            </a:extLst>
          </p:cNvPr>
          <p:cNvSpPr>
            <a:spLocks noGrp="1"/>
          </p:cNvSpPr>
          <p:nvPr/>
        </p:nvSpPr>
        <p:spPr>
          <a:xfrm>
            <a:off x="8858250" y="65722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r">
              <a:defRPr sz="750">
                <a:solidFill>
                  <a:srgbClr val="7A8D97"/>
                </a:solidFill>
              </a:defRPr>
            </a:pPr>
            <a:r>
              <a:rPr sz="750">
                <a:solidFill>
                  <a:srgbClr val="7A8D97"/>
                </a:solidFill>
              </a:rPr>
              <a:t>Machine Learning-Based Survival Prediction of Outcomes in MDS</a:t>
            </a:r>
          </a:p>
        </p:txBody>
      </p:sp>
    </p:spTree>
    <p:extLst>
      <p:ext uri="{BB962C8B-B14F-4D97-AF65-F5344CB8AC3E}">
        <p14:creationId xmlns:p14="http://schemas.microsoft.com/office/powerpoint/2010/main" val="946737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eft-accent-bar">
            <a:extLst>
              <a:ext uri="{FF2B5EF4-FFF2-40B4-BE49-F238E27FC236}">
                <a16:creationId xmlns:a16="http://schemas.microsoft.com/office/drawing/2014/main" id="{FD7B742E-DF29-4A9F-B281-647F87FC92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op-rule">
            <a:extLst>
              <a:ext uri="{FF2B5EF4-FFF2-40B4-BE49-F238E27FC236}">
                <a16:creationId xmlns:a16="http://schemas.microsoft.com/office/drawing/2014/main" id="{B589DF6E-4925-41B6-9F6A-1FE592A2D57A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19050"/>
          </a:xfrm>
          <a:prstGeom prst="rect">
            <a:avLst/>
          </a:prstGeom>
          <a:solidFill>
            <a:srgbClr val="DDE8E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736A7CF1-E212-4B04-B599-955B0912E908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200" b="1">
                <a:solidFill>
                  <a:srgbClr val="0B4D63"/>
                </a:solidFill>
              </a:defRPr>
            </a:pPr>
            <a:r>
              <a:rPr sz="1200" b="1">
                <a:solidFill>
                  <a:srgbClr val="0B4D63"/>
                </a:solidFill>
              </a:rPr>
              <a:t>Q&amp;A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D6140DA7-F313-401A-9390-8588B4ABB3AB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6667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4500" b="1">
                <a:solidFill>
                  <a:srgbClr val="0B2F3F"/>
                </a:solidFill>
              </a:defRPr>
            </a:pPr>
            <a:r>
              <a:rPr sz="4500" b="1">
                <a:solidFill>
                  <a:srgbClr val="0B2F3F"/>
                </a:solidFill>
              </a:rPr>
              <a:t>Thank You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39E235CA-CACA-435C-B5E7-72F0F36AEF1A}"/>
              </a:ext>
            </a:extLst>
          </p:cNvPr>
          <p:cNvSpPr>
            <a:spLocks noGrp="1"/>
          </p:cNvSpPr>
          <p:nvPr/>
        </p:nvSpPr>
        <p:spPr>
          <a:xfrm>
            <a:off x="723900" y="2362200"/>
            <a:ext cx="819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725">
                <a:solidFill>
                  <a:srgbClr val="2F4653"/>
                </a:solidFill>
              </a:defRPr>
            </a:pPr>
            <a:r>
              <a:rPr sz="1725">
                <a:solidFill>
                  <a:srgbClr val="2F4653"/>
                </a:solidFill>
              </a:rPr>
              <a:t>Machine Learning-Based Survival Prediction of Outcomes in MDS</a:t>
            </a:r>
          </a:p>
        </p:txBody>
      </p:sp>
      <p:sp>
        <p:nvSpPr>
          <p:cNvPr id="6" name="simple-divider">
            <a:extLst>
              <a:ext uri="{FF2B5EF4-FFF2-40B4-BE49-F238E27FC236}">
                <a16:creationId xmlns:a16="http://schemas.microsoft.com/office/drawing/2014/main" id="{C9CB30F0-A1DC-46FD-9FF6-166D5B4B7D51}"/>
              </a:ext>
            </a:extLst>
          </p:cNvPr>
          <p:cNvSpPr>
            <a:spLocks noGrp="1"/>
          </p:cNvSpPr>
          <p:nvPr/>
        </p:nvSpPr>
        <p:spPr>
          <a:xfrm>
            <a:off x="723900" y="3067050"/>
            <a:ext cx="6477000" cy="2286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questions-big">
            <a:extLst>
              <a:ext uri="{FF2B5EF4-FFF2-40B4-BE49-F238E27FC236}">
                <a16:creationId xmlns:a16="http://schemas.microsoft.com/office/drawing/2014/main" id="{BD0526A2-5D25-446B-A0CB-40EED940B02C}"/>
              </a:ext>
            </a:extLst>
          </p:cNvPr>
          <p:cNvSpPr>
            <a:spLocks noGrp="1"/>
          </p:cNvSpPr>
          <p:nvPr/>
        </p:nvSpPr>
        <p:spPr>
          <a:xfrm>
            <a:off x="723900" y="3467100"/>
            <a:ext cx="533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3450" b="1">
                <a:solidFill>
                  <a:srgbClr val="B45F2A"/>
                </a:solidFill>
              </a:defRPr>
            </a:pPr>
            <a:r>
              <a:rPr sz="3450" b="1">
                <a:solidFill>
                  <a:srgbClr val="B45F2A"/>
                </a:solidFill>
              </a:rPr>
              <a:t>Questions?</a:t>
            </a:r>
          </a:p>
        </p:txBody>
      </p:sp>
      <p:sp>
        <p:nvSpPr>
          <p:cNvPr id="8" name="questions-band">
            <a:extLst>
              <a:ext uri="{FF2B5EF4-FFF2-40B4-BE49-F238E27FC236}">
                <a16:creationId xmlns:a16="http://schemas.microsoft.com/office/drawing/2014/main" id="{8499EEA6-4EC4-45A6-9B46-30AA8DCEB97A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10820400" cy="800100"/>
          </a:xfrm>
          <a:prstGeom prst="rect">
            <a:avLst/>
          </a:prstGeom>
          <a:solidFill>
            <a:srgbClr val="0B4D63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9" name="contact-name">
            <a:extLst>
              <a:ext uri="{FF2B5EF4-FFF2-40B4-BE49-F238E27FC236}">
                <a16:creationId xmlns:a16="http://schemas.microsoft.com/office/drawing/2014/main" id="{8B2332CF-6BF9-43A0-926D-5289CE72DF08}"/>
              </a:ext>
            </a:extLst>
          </p:cNvPr>
          <p:cNvSpPr>
            <a:spLocks noGrp="1"/>
          </p:cNvSpPr>
          <p:nvPr/>
        </p:nvSpPr>
        <p:spPr>
          <a:xfrm>
            <a:off x="952500" y="57054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 dirty="0" err="1">
                <a:solidFill>
                  <a:srgbClr val="FFFFFF"/>
                </a:solidFill>
              </a:rPr>
              <a:t>Ziming</a:t>
            </a:r>
            <a:r>
              <a:rPr sz="1800" b="1" dirty="0">
                <a:solidFill>
                  <a:srgbClr val="FFFFFF"/>
                </a:solidFill>
              </a:rPr>
              <a:t> Cui</a:t>
            </a:r>
            <a:r>
              <a:rPr lang="en-US" sz="1800" b="1" dirty="0">
                <a:solidFill>
                  <a:srgbClr val="FFFFFF"/>
                </a:solidFill>
              </a:rPr>
              <a:t>                              Email: </a:t>
            </a:r>
            <a:r>
              <a:rPr lang="en-US" sz="1800" b="1" dirty="0" err="1">
                <a:solidFill>
                  <a:srgbClr val="FFFFFF"/>
                </a:solidFill>
              </a:rPr>
              <a:t>ziming.cui@case.edu</a:t>
            </a:r>
            <a:endParaRPr sz="1800" b="1" dirty="0">
              <a:solidFill>
                <a:srgbClr val="FFFFFF"/>
              </a:solidFill>
            </a:endParaRPr>
          </a:p>
        </p:txBody>
      </p:sp>
      <p:sp>
        <p:nvSpPr>
          <p:cNvPr id="10" name="contact-affiliation">
            <a:extLst>
              <a:ext uri="{FF2B5EF4-FFF2-40B4-BE49-F238E27FC236}">
                <a16:creationId xmlns:a16="http://schemas.microsoft.com/office/drawing/2014/main" id="{49E9BAE0-4C67-47BD-8B43-3EE7558B40CB}"/>
              </a:ext>
            </a:extLst>
          </p:cNvPr>
          <p:cNvSpPr>
            <a:spLocks noGrp="1"/>
          </p:cNvSpPr>
          <p:nvPr/>
        </p:nvSpPr>
        <p:spPr>
          <a:xfrm>
            <a:off x="5883987" y="5712534"/>
            <a:ext cx="51963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r">
              <a:buNone/>
              <a:defRPr sz="1350" b="1">
                <a:solidFill>
                  <a:srgbClr val="C7E8F2"/>
                </a:solidFill>
              </a:defRPr>
            </a:pPr>
            <a:r>
              <a:rPr b="1" dirty="0">
                <a:solidFill>
                  <a:srgbClr val="C7E8F2"/>
                </a:solidFill>
              </a:rPr>
              <a:t>Case Western Reserve University</a:t>
            </a:r>
          </a:p>
        </p:txBody>
      </p:sp>
      <p:sp>
        <p:nvSpPr>
          <p:cNvPr id="11" name="footer">
            <a:extLst>
              <a:ext uri="{FF2B5EF4-FFF2-40B4-BE49-F238E27FC236}">
                <a16:creationId xmlns:a16="http://schemas.microsoft.com/office/drawing/2014/main" id="{1C0538AE-EA73-4C65-879E-57D9C17D8B6F}"/>
              </a:ext>
            </a:extLst>
          </p:cNvPr>
          <p:cNvSpPr>
            <a:spLocks noGrp="1"/>
          </p:cNvSpPr>
          <p:nvPr/>
        </p:nvSpPr>
        <p:spPr>
          <a:xfrm>
            <a:off x="8858250" y="657225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ctr"/>
          <a:lstStyle/>
          <a:p>
            <a:pPr algn="r">
              <a:buNone/>
              <a:defRPr sz="750">
                <a:solidFill>
                  <a:srgbClr val="7A8D97"/>
                </a:solidFill>
              </a:defRPr>
            </a:pPr>
            <a:r>
              <a:rPr sz="750">
                <a:solidFill>
                  <a:srgbClr val="7A8D97"/>
                </a:solidFill>
              </a:rPr>
              <a:t>Machine Learning-Based Survival Prediction of Outcomes in MDS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2D62B8D-B376-B506-FB0E-5BB97B830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5467350"/>
            <a:ext cx="4152900" cy="80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737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3755</Words>
  <Application>Microsoft Macintosh PowerPoint</Application>
  <DocSecurity>0</DocSecurity>
  <PresentationFormat>Widescreen</PresentationFormat>
  <Paragraphs>492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1_Office Theme</vt:lpstr>
      <vt:lpstr>Machine Learning-Based Survival Prediction of Outcomes in Myelodysplastic Syndromes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Ziming Cui</cp:lastModifiedBy>
  <cp:revision>20</cp:revision>
  <dcterms:created xsi:type="dcterms:W3CDTF">2026-06-23T07:53:39Z</dcterms:created>
  <dcterms:modified xsi:type="dcterms:W3CDTF">2026-07-09T14:57:21Z</dcterms:modified>
</cp:coreProperties>
</file>